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4">
  <p:sldMasterIdLst>
    <p:sldMasterId id="2147483660" r:id="rId1"/>
    <p:sldMasterId id="2147483672" r:id="rId2"/>
  </p:sldMasterIdLst>
  <p:notesMasterIdLst>
    <p:notesMasterId r:id="rId73"/>
  </p:notesMasterIdLst>
  <p:handoutMasterIdLst>
    <p:handoutMasterId r:id="rId74"/>
  </p:handoutMasterIdLst>
  <p:sldIdLst>
    <p:sldId id="398" r:id="rId3"/>
    <p:sldId id="3468" r:id="rId4"/>
    <p:sldId id="3462" r:id="rId5"/>
    <p:sldId id="3463" r:id="rId6"/>
    <p:sldId id="3464" r:id="rId7"/>
    <p:sldId id="3465" r:id="rId8"/>
    <p:sldId id="3466" r:id="rId9"/>
    <p:sldId id="3485" r:id="rId10"/>
    <p:sldId id="3411" r:id="rId11"/>
    <p:sldId id="3413" r:id="rId12"/>
    <p:sldId id="3339" r:id="rId13"/>
    <p:sldId id="3397" r:id="rId14"/>
    <p:sldId id="3391" r:id="rId15"/>
    <p:sldId id="3392" r:id="rId16"/>
    <p:sldId id="258" r:id="rId17"/>
    <p:sldId id="3341" r:id="rId18"/>
    <p:sldId id="3362" r:id="rId19"/>
    <p:sldId id="3393" r:id="rId20"/>
    <p:sldId id="3350" r:id="rId21"/>
    <p:sldId id="3359" r:id="rId22"/>
    <p:sldId id="3361" r:id="rId23"/>
    <p:sldId id="3364" r:id="rId24"/>
    <p:sldId id="3365" r:id="rId25"/>
    <p:sldId id="3366" r:id="rId26"/>
    <p:sldId id="3395" r:id="rId27"/>
    <p:sldId id="3367" r:id="rId28"/>
    <p:sldId id="3369" r:id="rId29"/>
    <p:sldId id="3370" r:id="rId30"/>
    <p:sldId id="3380" r:id="rId31"/>
    <p:sldId id="3371" r:id="rId32"/>
    <p:sldId id="3375" r:id="rId33"/>
    <p:sldId id="3376" r:id="rId34"/>
    <p:sldId id="3377" r:id="rId35"/>
    <p:sldId id="3484" r:id="rId36"/>
    <p:sldId id="3379" r:id="rId37"/>
    <p:sldId id="3414" r:id="rId38"/>
    <p:sldId id="3416" r:id="rId39"/>
    <p:sldId id="3471" r:id="rId40"/>
    <p:sldId id="3472" r:id="rId41"/>
    <p:sldId id="3473" r:id="rId42"/>
    <p:sldId id="3474" r:id="rId43"/>
    <p:sldId id="3476" r:id="rId44"/>
    <p:sldId id="3421" r:id="rId45"/>
    <p:sldId id="3477" r:id="rId46"/>
    <p:sldId id="3478" r:id="rId47"/>
    <p:sldId id="3479" r:id="rId48"/>
    <p:sldId id="3422" r:id="rId49"/>
    <p:sldId id="3480" r:id="rId50"/>
    <p:sldId id="3481" r:id="rId51"/>
    <p:sldId id="3482" r:id="rId52"/>
    <p:sldId id="3483" r:id="rId53"/>
    <p:sldId id="3390" r:id="rId54"/>
    <p:sldId id="3486" r:id="rId55"/>
    <p:sldId id="3429" r:id="rId56"/>
    <p:sldId id="3435" r:id="rId57"/>
    <p:sldId id="3430" r:id="rId58"/>
    <p:sldId id="3488" r:id="rId59"/>
    <p:sldId id="3431" r:id="rId60"/>
    <p:sldId id="3487" r:id="rId61"/>
    <p:sldId id="3432" r:id="rId62"/>
    <p:sldId id="3433" r:id="rId63"/>
    <p:sldId id="3489" r:id="rId64"/>
    <p:sldId id="3490" r:id="rId65"/>
    <p:sldId id="3491" r:id="rId66"/>
    <p:sldId id="3437" r:id="rId67"/>
    <p:sldId id="3440" r:id="rId68"/>
    <p:sldId id="3459" r:id="rId69"/>
    <p:sldId id="3460" r:id="rId70"/>
    <p:sldId id="3469" r:id="rId71"/>
    <p:sldId id="3360" r:id="rId72"/>
  </p:sldIdLst>
  <p:sldSz cx="18288000" cy="10287000"/>
  <p:notesSz cx="6735763" cy="9866313"/>
  <p:embeddedFontLst>
    <p:embeddedFont>
      <p:font typeface="Arial Bold" panose="020B0704020202020204" pitchFamily="34" charset="0"/>
      <p:bold r:id="rId75"/>
    </p:embeddedFont>
    <p:embeddedFont>
      <p:font typeface="Calibri" panose="020F0502020204030204" pitchFamily="34" charset="0"/>
      <p:regular r:id="rId76"/>
      <p:bold r:id="rId77"/>
      <p:italic r:id="rId78"/>
      <p:boldItalic r:id="rId79"/>
    </p:embeddedFont>
    <p:embeddedFont>
      <p:font typeface="Wingdings 2" panose="05020102010507070707" pitchFamily="18" charset="2"/>
      <p:regular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622" autoAdjust="0"/>
  </p:normalViewPr>
  <p:slideViewPr>
    <p:cSldViewPr>
      <p:cViewPr varScale="1">
        <p:scale>
          <a:sx n="44" d="100"/>
          <a:sy n="44" d="100"/>
        </p:scale>
        <p:origin x="798" y="3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6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3.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6.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1.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2.fntdata"/><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5029"/>
          </a:xfrm>
          <a:prstGeom prst="rect">
            <a:avLst/>
          </a:prstGeom>
        </p:spPr>
        <p:txBody>
          <a:bodyPr vert="horz" lIns="90846" tIns="45423" rIns="90846" bIns="45423" rtlCol="0"/>
          <a:lstStyle>
            <a:lvl1pPr algn="l">
              <a:defRPr sz="1200"/>
            </a:lvl1pPr>
          </a:lstStyle>
          <a:p>
            <a:endParaRPr lang="vi-VN"/>
          </a:p>
        </p:txBody>
      </p:sp>
      <p:sp>
        <p:nvSpPr>
          <p:cNvPr id="3" name="Date Placeholder 2"/>
          <p:cNvSpPr>
            <a:spLocks noGrp="1"/>
          </p:cNvSpPr>
          <p:nvPr>
            <p:ph type="dt" sz="quarter" idx="1"/>
          </p:nvPr>
        </p:nvSpPr>
        <p:spPr>
          <a:xfrm>
            <a:off x="3815373" y="0"/>
            <a:ext cx="2918831" cy="495029"/>
          </a:xfrm>
          <a:prstGeom prst="rect">
            <a:avLst/>
          </a:prstGeom>
        </p:spPr>
        <p:txBody>
          <a:bodyPr vert="horz" lIns="90846" tIns="45423" rIns="90846" bIns="45423" rtlCol="0"/>
          <a:lstStyle>
            <a:lvl1pPr algn="r">
              <a:defRPr sz="1200"/>
            </a:lvl1pPr>
          </a:lstStyle>
          <a:p>
            <a:fld id="{71BC751A-BFBE-4AAB-8758-C1169AB8B738}" type="datetimeFigureOut">
              <a:rPr lang="vi-VN" smtClean="0"/>
              <a:t>10/09/2026</a:t>
            </a:fld>
            <a:endParaRPr lang="vi-VN"/>
          </a:p>
        </p:txBody>
      </p:sp>
      <p:sp>
        <p:nvSpPr>
          <p:cNvPr id="4" name="Footer Placeholder 3"/>
          <p:cNvSpPr>
            <a:spLocks noGrp="1"/>
          </p:cNvSpPr>
          <p:nvPr>
            <p:ph type="ftr" sz="quarter" idx="2"/>
          </p:nvPr>
        </p:nvSpPr>
        <p:spPr>
          <a:xfrm>
            <a:off x="0" y="9371286"/>
            <a:ext cx="2918831" cy="495028"/>
          </a:xfrm>
          <a:prstGeom prst="rect">
            <a:avLst/>
          </a:prstGeom>
        </p:spPr>
        <p:txBody>
          <a:bodyPr vert="horz" lIns="90846" tIns="45423" rIns="90846" bIns="45423" rtlCol="0" anchor="b"/>
          <a:lstStyle>
            <a:lvl1pPr algn="l">
              <a:defRPr sz="1200"/>
            </a:lvl1pPr>
          </a:lstStyle>
          <a:p>
            <a:endParaRPr lang="vi-VN"/>
          </a:p>
        </p:txBody>
      </p:sp>
      <p:sp>
        <p:nvSpPr>
          <p:cNvPr id="5" name="Slide Number Placeholder 4"/>
          <p:cNvSpPr>
            <a:spLocks noGrp="1"/>
          </p:cNvSpPr>
          <p:nvPr>
            <p:ph type="sldNum" sz="quarter" idx="3"/>
          </p:nvPr>
        </p:nvSpPr>
        <p:spPr>
          <a:xfrm>
            <a:off x="3815373" y="9371286"/>
            <a:ext cx="2918831" cy="495028"/>
          </a:xfrm>
          <a:prstGeom prst="rect">
            <a:avLst/>
          </a:prstGeom>
        </p:spPr>
        <p:txBody>
          <a:bodyPr vert="horz" lIns="90846" tIns="45423" rIns="90846" bIns="45423" rtlCol="0" anchor="b"/>
          <a:lstStyle>
            <a:lvl1pPr algn="r">
              <a:defRPr sz="1200"/>
            </a:lvl1pPr>
          </a:lstStyle>
          <a:p>
            <a:fld id="{A59A22CB-516E-479A-81C5-E30695B88D62}" type="slidenum">
              <a:rPr lang="vi-VN" smtClean="0"/>
              <a:t>‹#›</a:t>
            </a:fld>
            <a:endParaRPr lang="vi-VN"/>
          </a:p>
        </p:txBody>
      </p:sp>
    </p:spTree>
    <p:extLst>
      <p:ext uri="{BB962C8B-B14F-4D97-AF65-F5344CB8AC3E}">
        <p14:creationId xmlns:p14="http://schemas.microsoft.com/office/powerpoint/2010/main" val="31603782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5029"/>
          </a:xfrm>
          <a:prstGeom prst="rect">
            <a:avLst/>
          </a:prstGeom>
        </p:spPr>
        <p:txBody>
          <a:bodyPr vert="horz" lIns="90846" tIns="45423" rIns="90846" bIns="45423" rtlCol="0"/>
          <a:lstStyle>
            <a:lvl1pPr algn="l">
              <a:defRPr sz="1200"/>
            </a:lvl1pPr>
          </a:lstStyle>
          <a:p>
            <a:endParaRPr lang="en-US"/>
          </a:p>
        </p:txBody>
      </p:sp>
      <p:sp>
        <p:nvSpPr>
          <p:cNvPr id="3" name="Date Placeholder 2"/>
          <p:cNvSpPr>
            <a:spLocks noGrp="1"/>
          </p:cNvSpPr>
          <p:nvPr>
            <p:ph type="dt" idx="1"/>
          </p:nvPr>
        </p:nvSpPr>
        <p:spPr>
          <a:xfrm>
            <a:off x="3815373" y="0"/>
            <a:ext cx="2918831" cy="495029"/>
          </a:xfrm>
          <a:prstGeom prst="rect">
            <a:avLst/>
          </a:prstGeom>
        </p:spPr>
        <p:txBody>
          <a:bodyPr vert="horz" lIns="90846" tIns="45423" rIns="90846" bIns="45423" rtlCol="0"/>
          <a:lstStyle>
            <a:lvl1pPr algn="r">
              <a:defRPr sz="1200"/>
            </a:lvl1pPr>
          </a:lstStyle>
          <a:p>
            <a:fld id="{B52B66E1-58CC-4839-B5A2-6E8D80A66483}" type="datetimeFigureOut">
              <a:rPr lang="en-US" smtClean="0"/>
              <a:t>10/09/2026</a:t>
            </a:fld>
            <a:endParaRPr lang="en-US"/>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0846" tIns="45423" rIns="90846" bIns="45423" rtlCol="0" anchor="ctr"/>
          <a:lstStyle/>
          <a:p>
            <a:endParaRPr lang="en-US"/>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0846" tIns="45423" rIns="90846" bIns="454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1286"/>
            <a:ext cx="2918831" cy="495028"/>
          </a:xfrm>
          <a:prstGeom prst="rect">
            <a:avLst/>
          </a:prstGeom>
        </p:spPr>
        <p:txBody>
          <a:bodyPr vert="horz" lIns="90846" tIns="45423" rIns="90846" bIns="45423" rtlCol="0" anchor="b"/>
          <a:lstStyle>
            <a:lvl1pPr algn="l">
              <a:defRPr sz="1200"/>
            </a:lvl1pPr>
          </a:lstStyle>
          <a:p>
            <a:endParaRPr lang="en-US"/>
          </a:p>
        </p:txBody>
      </p:sp>
      <p:sp>
        <p:nvSpPr>
          <p:cNvPr id="7" name="Slide Number Placeholder 6"/>
          <p:cNvSpPr>
            <a:spLocks noGrp="1"/>
          </p:cNvSpPr>
          <p:nvPr>
            <p:ph type="sldNum" sz="quarter" idx="5"/>
          </p:nvPr>
        </p:nvSpPr>
        <p:spPr>
          <a:xfrm>
            <a:off x="3815373" y="9371286"/>
            <a:ext cx="2918831" cy="495028"/>
          </a:xfrm>
          <a:prstGeom prst="rect">
            <a:avLst/>
          </a:prstGeom>
        </p:spPr>
        <p:txBody>
          <a:bodyPr vert="horz" lIns="90846" tIns="45423" rIns="90846" bIns="45423" rtlCol="0" anchor="b"/>
          <a:lstStyle>
            <a:lvl1pPr algn="r">
              <a:defRPr sz="1200"/>
            </a:lvl1pPr>
          </a:lstStyle>
          <a:p>
            <a:fld id="{BF8C5092-CCFD-4959-90F0-5D6AC6D0F658}" type="slidenum">
              <a:rPr lang="en-US" smtClean="0"/>
              <a:t>‹#›</a:t>
            </a:fld>
            <a:endParaRPr lang="en-US"/>
          </a:p>
        </p:txBody>
      </p:sp>
    </p:spTree>
    <p:extLst>
      <p:ext uri="{BB962C8B-B14F-4D97-AF65-F5344CB8AC3E}">
        <p14:creationId xmlns:p14="http://schemas.microsoft.com/office/powerpoint/2010/main" val="365587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6"/>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3DEEC679-0D17-794C-DA46-6CDB3BD12A35}"/>
              </a:ext>
            </a:extLst>
          </p:cNvPr>
          <p:cNvSpPr>
            <a:spLocks noGrp="1"/>
          </p:cNvSpPr>
          <p:nvPr>
            <p:ph type="dt" sz="half" idx="10"/>
          </p:nvPr>
        </p:nvSpPr>
        <p:spPr/>
        <p:txBody>
          <a:bodyPr/>
          <a:lstStyle>
            <a:lvl1pPr>
              <a:defRPr/>
            </a:lvl1pPr>
          </a:lstStyle>
          <a:p>
            <a:pPr>
              <a:defRPr/>
            </a:pPr>
            <a:fld id="{FE56B21F-D88D-4ED5-B256-83D7A9C15F76}" type="datetimeFigureOut">
              <a:rPr lang="en-US"/>
              <a:pPr>
                <a:defRPr/>
              </a:pPr>
              <a:t>10/09/2026</a:t>
            </a:fld>
            <a:endParaRPr lang="en-US"/>
          </a:p>
        </p:txBody>
      </p:sp>
      <p:sp>
        <p:nvSpPr>
          <p:cNvPr id="5" name="Footer Placeholder 4">
            <a:extLst>
              <a:ext uri="{FF2B5EF4-FFF2-40B4-BE49-F238E27FC236}">
                <a16:creationId xmlns:a16="http://schemas.microsoft.com/office/drawing/2014/main" id="{8487CCE7-EC9E-FA89-C23C-B2EB99BEDCF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B63EC22-46B4-F682-A436-59ACD6959855}"/>
              </a:ext>
            </a:extLst>
          </p:cNvPr>
          <p:cNvSpPr>
            <a:spLocks noGrp="1"/>
          </p:cNvSpPr>
          <p:nvPr>
            <p:ph type="sldNum" sz="quarter" idx="12"/>
          </p:nvPr>
        </p:nvSpPr>
        <p:spPr/>
        <p:txBody>
          <a:bodyPr/>
          <a:lstStyle>
            <a:lvl1pPr>
              <a:defRPr/>
            </a:lvl1pPr>
          </a:lstStyle>
          <a:p>
            <a:pPr>
              <a:defRPr/>
            </a:pPr>
            <a:fld id="{AC662652-AD8F-4363-9E7C-E286F283296E}" type="slidenum">
              <a:rPr lang="en-US"/>
              <a:pPr>
                <a:defRPr/>
              </a:pPr>
              <a:t>‹#›</a:t>
            </a:fld>
            <a:endParaRPr lang="en-US"/>
          </a:p>
        </p:txBody>
      </p:sp>
    </p:spTree>
    <p:extLst>
      <p:ext uri="{BB962C8B-B14F-4D97-AF65-F5344CB8AC3E}">
        <p14:creationId xmlns:p14="http://schemas.microsoft.com/office/powerpoint/2010/main" val="784057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634336-2918-B18B-9B93-10021C56C0C1}"/>
              </a:ext>
            </a:extLst>
          </p:cNvPr>
          <p:cNvSpPr>
            <a:spLocks noGrp="1"/>
          </p:cNvSpPr>
          <p:nvPr>
            <p:ph type="dt" sz="half" idx="10"/>
          </p:nvPr>
        </p:nvSpPr>
        <p:spPr/>
        <p:txBody>
          <a:bodyPr/>
          <a:lstStyle>
            <a:lvl1pPr>
              <a:defRPr/>
            </a:lvl1pPr>
          </a:lstStyle>
          <a:p>
            <a:pPr>
              <a:defRPr/>
            </a:pPr>
            <a:fld id="{B0FA35C7-0C08-4648-8851-268D81448980}" type="datetimeFigureOut">
              <a:rPr lang="en-US"/>
              <a:pPr>
                <a:defRPr/>
              </a:pPr>
              <a:t>10/09/2026</a:t>
            </a:fld>
            <a:endParaRPr lang="en-US"/>
          </a:p>
        </p:txBody>
      </p:sp>
      <p:sp>
        <p:nvSpPr>
          <p:cNvPr id="5" name="Footer Placeholder 4">
            <a:extLst>
              <a:ext uri="{FF2B5EF4-FFF2-40B4-BE49-F238E27FC236}">
                <a16:creationId xmlns:a16="http://schemas.microsoft.com/office/drawing/2014/main" id="{F3B42E45-4D5E-4C24-50C6-F01422C11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F0961F5-7A46-2A6E-07C3-A58D3B07AFAC}"/>
              </a:ext>
            </a:extLst>
          </p:cNvPr>
          <p:cNvSpPr>
            <a:spLocks noGrp="1"/>
          </p:cNvSpPr>
          <p:nvPr>
            <p:ph type="sldNum" sz="quarter" idx="12"/>
          </p:nvPr>
        </p:nvSpPr>
        <p:spPr/>
        <p:txBody>
          <a:bodyPr/>
          <a:lstStyle>
            <a:lvl1pPr>
              <a:defRPr/>
            </a:lvl1pPr>
          </a:lstStyle>
          <a:p>
            <a:pPr>
              <a:defRPr/>
            </a:pPr>
            <a:fld id="{11B89489-7455-4099-A589-C317D09FA468}" type="slidenum">
              <a:rPr lang="en-US"/>
              <a:pPr>
                <a:defRPr/>
              </a:pPr>
              <a:t>‹#›</a:t>
            </a:fld>
            <a:endParaRPr lang="en-US"/>
          </a:p>
        </p:txBody>
      </p:sp>
    </p:spTree>
    <p:extLst>
      <p:ext uri="{BB962C8B-B14F-4D97-AF65-F5344CB8AC3E}">
        <p14:creationId xmlns:p14="http://schemas.microsoft.com/office/powerpoint/2010/main" val="2393458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4406900"/>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4" y="2906714"/>
            <a:ext cx="7772400" cy="15001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2B5E9B-7510-D353-97E0-C51F5437A300}"/>
              </a:ext>
            </a:extLst>
          </p:cNvPr>
          <p:cNvSpPr>
            <a:spLocks noGrp="1"/>
          </p:cNvSpPr>
          <p:nvPr>
            <p:ph type="dt" sz="half" idx="10"/>
          </p:nvPr>
        </p:nvSpPr>
        <p:spPr/>
        <p:txBody>
          <a:bodyPr/>
          <a:lstStyle>
            <a:lvl1pPr>
              <a:defRPr/>
            </a:lvl1pPr>
          </a:lstStyle>
          <a:p>
            <a:pPr>
              <a:defRPr/>
            </a:pPr>
            <a:fld id="{148E0D60-2511-4FD5-8DED-1EC16EFDA11E}" type="datetimeFigureOut">
              <a:rPr lang="en-US"/>
              <a:pPr>
                <a:defRPr/>
              </a:pPr>
              <a:t>10/09/2026</a:t>
            </a:fld>
            <a:endParaRPr lang="en-US"/>
          </a:p>
        </p:txBody>
      </p:sp>
      <p:sp>
        <p:nvSpPr>
          <p:cNvPr id="5" name="Footer Placeholder 4">
            <a:extLst>
              <a:ext uri="{FF2B5EF4-FFF2-40B4-BE49-F238E27FC236}">
                <a16:creationId xmlns:a16="http://schemas.microsoft.com/office/drawing/2014/main" id="{7AF2D838-2A48-2F77-FB2B-9A2DDE51C23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213CD9C-CAA7-ADD1-3BBC-D12B979BB406}"/>
              </a:ext>
            </a:extLst>
          </p:cNvPr>
          <p:cNvSpPr>
            <a:spLocks noGrp="1"/>
          </p:cNvSpPr>
          <p:nvPr>
            <p:ph type="sldNum" sz="quarter" idx="12"/>
          </p:nvPr>
        </p:nvSpPr>
        <p:spPr/>
        <p:txBody>
          <a:bodyPr/>
          <a:lstStyle>
            <a:lvl1pPr>
              <a:defRPr/>
            </a:lvl1pPr>
          </a:lstStyle>
          <a:p>
            <a:pPr>
              <a:defRPr/>
            </a:pPr>
            <a:fld id="{7DEEEFB8-CA2D-4BE3-B7B0-D6BA8AB67B2D}" type="slidenum">
              <a:rPr lang="en-US"/>
              <a:pPr>
                <a:defRPr/>
              </a:pPr>
              <a:t>‹#›</a:t>
            </a:fld>
            <a:endParaRPr lang="en-US"/>
          </a:p>
        </p:txBody>
      </p:sp>
    </p:spTree>
    <p:extLst>
      <p:ext uri="{BB962C8B-B14F-4D97-AF65-F5344CB8AC3E}">
        <p14:creationId xmlns:p14="http://schemas.microsoft.com/office/powerpoint/2010/main" val="1906887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790A4E2-82E7-ACFE-59B4-04401C439A89}"/>
              </a:ext>
            </a:extLst>
          </p:cNvPr>
          <p:cNvSpPr>
            <a:spLocks noGrp="1"/>
          </p:cNvSpPr>
          <p:nvPr>
            <p:ph type="dt" sz="half" idx="10"/>
          </p:nvPr>
        </p:nvSpPr>
        <p:spPr/>
        <p:txBody>
          <a:bodyPr/>
          <a:lstStyle>
            <a:lvl1pPr>
              <a:defRPr/>
            </a:lvl1pPr>
          </a:lstStyle>
          <a:p>
            <a:pPr>
              <a:defRPr/>
            </a:pPr>
            <a:fld id="{27D37E9F-120E-4B0B-93E9-C6B842A807F2}" type="datetimeFigureOut">
              <a:rPr lang="en-US"/>
              <a:pPr>
                <a:defRPr/>
              </a:pPr>
              <a:t>10/09/2026</a:t>
            </a:fld>
            <a:endParaRPr lang="en-US"/>
          </a:p>
        </p:txBody>
      </p:sp>
      <p:sp>
        <p:nvSpPr>
          <p:cNvPr id="6" name="Footer Placeholder 4">
            <a:extLst>
              <a:ext uri="{FF2B5EF4-FFF2-40B4-BE49-F238E27FC236}">
                <a16:creationId xmlns:a16="http://schemas.microsoft.com/office/drawing/2014/main" id="{1B506273-93D6-4EDE-19CB-8DDBA3D1024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B481701-6461-0584-AEB1-E4EF63E66FBF}"/>
              </a:ext>
            </a:extLst>
          </p:cNvPr>
          <p:cNvSpPr>
            <a:spLocks noGrp="1"/>
          </p:cNvSpPr>
          <p:nvPr>
            <p:ph type="sldNum" sz="quarter" idx="12"/>
          </p:nvPr>
        </p:nvSpPr>
        <p:spPr/>
        <p:txBody>
          <a:bodyPr/>
          <a:lstStyle>
            <a:lvl1pPr>
              <a:defRPr/>
            </a:lvl1pPr>
          </a:lstStyle>
          <a:p>
            <a:pPr>
              <a:defRPr/>
            </a:pPr>
            <a:fld id="{2EE3B1DD-20A5-4E75-9F26-797E9BD191DE}" type="slidenum">
              <a:rPr lang="en-US"/>
              <a:pPr>
                <a:defRPr/>
              </a:pPr>
              <a:t>‹#›</a:t>
            </a:fld>
            <a:endParaRPr lang="en-US"/>
          </a:p>
        </p:txBody>
      </p:sp>
    </p:spTree>
    <p:extLst>
      <p:ext uri="{BB962C8B-B14F-4D97-AF65-F5344CB8AC3E}">
        <p14:creationId xmlns:p14="http://schemas.microsoft.com/office/powerpoint/2010/main" val="2478623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6"/>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6"/>
            <a:ext cx="404177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39A58061-A0D0-522A-FE2F-6A40A750EC21}"/>
              </a:ext>
            </a:extLst>
          </p:cNvPr>
          <p:cNvSpPr>
            <a:spLocks noGrp="1"/>
          </p:cNvSpPr>
          <p:nvPr>
            <p:ph type="dt" sz="half" idx="10"/>
          </p:nvPr>
        </p:nvSpPr>
        <p:spPr/>
        <p:txBody>
          <a:bodyPr/>
          <a:lstStyle>
            <a:lvl1pPr>
              <a:defRPr/>
            </a:lvl1pPr>
          </a:lstStyle>
          <a:p>
            <a:pPr>
              <a:defRPr/>
            </a:pPr>
            <a:fld id="{1573CFE1-C232-4D31-85ED-F07E2E33D782}" type="datetimeFigureOut">
              <a:rPr lang="en-US"/>
              <a:pPr>
                <a:defRPr/>
              </a:pPr>
              <a:t>10/09/2026</a:t>
            </a:fld>
            <a:endParaRPr lang="en-US"/>
          </a:p>
        </p:txBody>
      </p:sp>
      <p:sp>
        <p:nvSpPr>
          <p:cNvPr id="8" name="Footer Placeholder 4">
            <a:extLst>
              <a:ext uri="{FF2B5EF4-FFF2-40B4-BE49-F238E27FC236}">
                <a16:creationId xmlns:a16="http://schemas.microsoft.com/office/drawing/2014/main" id="{EE50E73F-51F3-61C7-63EF-76D4F5951F7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95D56D5-C5D5-0C5A-C3CF-970D81D47924}"/>
              </a:ext>
            </a:extLst>
          </p:cNvPr>
          <p:cNvSpPr>
            <a:spLocks noGrp="1"/>
          </p:cNvSpPr>
          <p:nvPr>
            <p:ph type="sldNum" sz="quarter" idx="12"/>
          </p:nvPr>
        </p:nvSpPr>
        <p:spPr/>
        <p:txBody>
          <a:bodyPr/>
          <a:lstStyle>
            <a:lvl1pPr>
              <a:defRPr/>
            </a:lvl1pPr>
          </a:lstStyle>
          <a:p>
            <a:pPr>
              <a:defRPr/>
            </a:pPr>
            <a:fld id="{76AAC5A9-AB45-4AA7-A22F-5226D1E4661E}" type="slidenum">
              <a:rPr lang="en-US"/>
              <a:pPr>
                <a:defRPr/>
              </a:pPr>
              <a:t>‹#›</a:t>
            </a:fld>
            <a:endParaRPr lang="en-US"/>
          </a:p>
        </p:txBody>
      </p:sp>
    </p:spTree>
    <p:extLst>
      <p:ext uri="{BB962C8B-B14F-4D97-AF65-F5344CB8AC3E}">
        <p14:creationId xmlns:p14="http://schemas.microsoft.com/office/powerpoint/2010/main" val="218652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9CA325A-8F6C-2D07-F1D0-0BC8BCE12E32}"/>
              </a:ext>
            </a:extLst>
          </p:cNvPr>
          <p:cNvSpPr>
            <a:spLocks noGrp="1"/>
          </p:cNvSpPr>
          <p:nvPr>
            <p:ph type="dt" sz="half" idx="10"/>
          </p:nvPr>
        </p:nvSpPr>
        <p:spPr/>
        <p:txBody>
          <a:bodyPr/>
          <a:lstStyle>
            <a:lvl1pPr>
              <a:defRPr/>
            </a:lvl1pPr>
          </a:lstStyle>
          <a:p>
            <a:pPr>
              <a:defRPr/>
            </a:pPr>
            <a:fld id="{BE77A3ED-523F-4D08-8B42-38FB8277E46C}" type="datetimeFigureOut">
              <a:rPr lang="en-US"/>
              <a:pPr>
                <a:defRPr/>
              </a:pPr>
              <a:t>10/09/2026</a:t>
            </a:fld>
            <a:endParaRPr lang="en-US"/>
          </a:p>
        </p:txBody>
      </p:sp>
      <p:sp>
        <p:nvSpPr>
          <p:cNvPr id="4" name="Footer Placeholder 4">
            <a:extLst>
              <a:ext uri="{FF2B5EF4-FFF2-40B4-BE49-F238E27FC236}">
                <a16:creationId xmlns:a16="http://schemas.microsoft.com/office/drawing/2014/main" id="{76879167-5FB6-1833-4D00-DA1A102AF78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303FAACA-034B-C338-F2CE-1F0814814E46}"/>
              </a:ext>
            </a:extLst>
          </p:cNvPr>
          <p:cNvSpPr>
            <a:spLocks noGrp="1"/>
          </p:cNvSpPr>
          <p:nvPr>
            <p:ph type="sldNum" sz="quarter" idx="12"/>
          </p:nvPr>
        </p:nvSpPr>
        <p:spPr/>
        <p:txBody>
          <a:bodyPr/>
          <a:lstStyle>
            <a:lvl1pPr>
              <a:defRPr/>
            </a:lvl1pPr>
          </a:lstStyle>
          <a:p>
            <a:pPr>
              <a:defRPr/>
            </a:pPr>
            <a:fld id="{C869969F-8D09-4CEE-B113-FEFB5E907740}" type="slidenum">
              <a:rPr lang="en-US"/>
              <a:pPr>
                <a:defRPr/>
              </a:pPr>
              <a:t>‹#›</a:t>
            </a:fld>
            <a:endParaRPr lang="en-US"/>
          </a:p>
        </p:txBody>
      </p:sp>
    </p:spTree>
    <p:extLst>
      <p:ext uri="{BB962C8B-B14F-4D97-AF65-F5344CB8AC3E}">
        <p14:creationId xmlns:p14="http://schemas.microsoft.com/office/powerpoint/2010/main" val="414630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D96A1DA-D8F5-2130-C64C-45912F52A08D}"/>
              </a:ext>
            </a:extLst>
          </p:cNvPr>
          <p:cNvSpPr>
            <a:spLocks noGrp="1"/>
          </p:cNvSpPr>
          <p:nvPr>
            <p:ph type="dt" sz="half" idx="10"/>
          </p:nvPr>
        </p:nvSpPr>
        <p:spPr/>
        <p:txBody>
          <a:bodyPr/>
          <a:lstStyle>
            <a:lvl1pPr>
              <a:defRPr/>
            </a:lvl1pPr>
          </a:lstStyle>
          <a:p>
            <a:pPr>
              <a:defRPr/>
            </a:pPr>
            <a:fld id="{CF77B2F2-D18A-4778-B428-E3CFC2FA56D3}" type="datetimeFigureOut">
              <a:rPr lang="en-US"/>
              <a:pPr>
                <a:defRPr/>
              </a:pPr>
              <a:t>10/09/2026</a:t>
            </a:fld>
            <a:endParaRPr lang="en-US"/>
          </a:p>
        </p:txBody>
      </p:sp>
      <p:sp>
        <p:nvSpPr>
          <p:cNvPr id="3" name="Footer Placeholder 4">
            <a:extLst>
              <a:ext uri="{FF2B5EF4-FFF2-40B4-BE49-F238E27FC236}">
                <a16:creationId xmlns:a16="http://schemas.microsoft.com/office/drawing/2014/main" id="{4A7570FE-09EF-1FD9-8EC6-F06553E9DD8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69A3064-BCE0-4DEE-123D-650CBB017325}"/>
              </a:ext>
            </a:extLst>
          </p:cNvPr>
          <p:cNvSpPr>
            <a:spLocks noGrp="1"/>
          </p:cNvSpPr>
          <p:nvPr>
            <p:ph type="sldNum" sz="quarter" idx="12"/>
          </p:nvPr>
        </p:nvSpPr>
        <p:spPr/>
        <p:txBody>
          <a:bodyPr/>
          <a:lstStyle>
            <a:lvl1pPr>
              <a:defRPr/>
            </a:lvl1pPr>
          </a:lstStyle>
          <a:p>
            <a:pPr>
              <a:defRPr/>
            </a:pPr>
            <a:fld id="{DE3530EB-82CC-4A1B-AE87-DD9636F6255B}" type="slidenum">
              <a:rPr lang="en-US"/>
              <a:pPr>
                <a:defRPr/>
              </a:pPr>
              <a:t>‹#›</a:t>
            </a:fld>
            <a:endParaRPr lang="en-US"/>
          </a:p>
        </p:txBody>
      </p:sp>
    </p:spTree>
    <p:extLst>
      <p:ext uri="{BB962C8B-B14F-4D97-AF65-F5344CB8AC3E}">
        <p14:creationId xmlns:p14="http://schemas.microsoft.com/office/powerpoint/2010/main" val="4259414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1"/>
            <a:ext cx="300831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1"/>
            <a:ext cx="5111750" cy="585311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4" cy="46910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51A482D-5EA1-6C8C-B337-26CEC5A26AC3}"/>
              </a:ext>
            </a:extLst>
          </p:cNvPr>
          <p:cNvSpPr>
            <a:spLocks noGrp="1"/>
          </p:cNvSpPr>
          <p:nvPr>
            <p:ph type="dt" sz="half" idx="10"/>
          </p:nvPr>
        </p:nvSpPr>
        <p:spPr/>
        <p:txBody>
          <a:bodyPr/>
          <a:lstStyle>
            <a:lvl1pPr>
              <a:defRPr/>
            </a:lvl1pPr>
          </a:lstStyle>
          <a:p>
            <a:pPr>
              <a:defRPr/>
            </a:pPr>
            <a:fld id="{BA8B10B7-CE5B-4DDA-831B-1DE64821A79E}" type="datetimeFigureOut">
              <a:rPr lang="en-US"/>
              <a:pPr>
                <a:defRPr/>
              </a:pPr>
              <a:t>10/09/2026</a:t>
            </a:fld>
            <a:endParaRPr lang="en-US"/>
          </a:p>
        </p:txBody>
      </p:sp>
      <p:sp>
        <p:nvSpPr>
          <p:cNvPr id="6" name="Footer Placeholder 4">
            <a:extLst>
              <a:ext uri="{FF2B5EF4-FFF2-40B4-BE49-F238E27FC236}">
                <a16:creationId xmlns:a16="http://schemas.microsoft.com/office/drawing/2014/main" id="{06916D92-0392-AEB1-71B3-3BD33A93F65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5EA459E-28F1-C53F-06B8-6963A0B4914D}"/>
              </a:ext>
            </a:extLst>
          </p:cNvPr>
          <p:cNvSpPr>
            <a:spLocks noGrp="1"/>
          </p:cNvSpPr>
          <p:nvPr>
            <p:ph type="sldNum" sz="quarter" idx="12"/>
          </p:nvPr>
        </p:nvSpPr>
        <p:spPr/>
        <p:txBody>
          <a:bodyPr/>
          <a:lstStyle>
            <a:lvl1pPr>
              <a:defRPr/>
            </a:lvl1pPr>
          </a:lstStyle>
          <a:p>
            <a:pPr>
              <a:defRPr/>
            </a:pPr>
            <a:fld id="{F4D61FCF-C82F-418D-BA67-B33FC21A8D41}" type="slidenum">
              <a:rPr lang="en-US"/>
              <a:pPr>
                <a:defRPr/>
              </a:pPr>
              <a:t>‹#›</a:t>
            </a:fld>
            <a:endParaRPr lang="en-US"/>
          </a:p>
        </p:txBody>
      </p:sp>
    </p:spTree>
    <p:extLst>
      <p:ext uri="{BB962C8B-B14F-4D97-AF65-F5344CB8AC3E}">
        <p14:creationId xmlns:p14="http://schemas.microsoft.com/office/powerpoint/2010/main" val="391849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4E11672-2C6A-EA40-1D9B-F67FBE495CAB}"/>
              </a:ext>
            </a:extLst>
          </p:cNvPr>
          <p:cNvSpPr>
            <a:spLocks noGrp="1"/>
          </p:cNvSpPr>
          <p:nvPr>
            <p:ph type="dt" sz="half" idx="10"/>
          </p:nvPr>
        </p:nvSpPr>
        <p:spPr/>
        <p:txBody>
          <a:bodyPr/>
          <a:lstStyle>
            <a:lvl1pPr>
              <a:defRPr/>
            </a:lvl1pPr>
          </a:lstStyle>
          <a:p>
            <a:pPr>
              <a:defRPr/>
            </a:pPr>
            <a:fld id="{A19F531E-BBDF-4576-A634-301B45DFD091}" type="datetimeFigureOut">
              <a:rPr lang="en-US"/>
              <a:pPr>
                <a:defRPr/>
              </a:pPr>
              <a:t>10/09/2026</a:t>
            </a:fld>
            <a:endParaRPr lang="en-US"/>
          </a:p>
        </p:txBody>
      </p:sp>
      <p:sp>
        <p:nvSpPr>
          <p:cNvPr id="6" name="Footer Placeholder 4">
            <a:extLst>
              <a:ext uri="{FF2B5EF4-FFF2-40B4-BE49-F238E27FC236}">
                <a16:creationId xmlns:a16="http://schemas.microsoft.com/office/drawing/2014/main" id="{204422F3-5986-9D4F-F60F-CDA8FED9A91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530E001-40A7-D3C1-51F8-3BF4E6347AA2}"/>
              </a:ext>
            </a:extLst>
          </p:cNvPr>
          <p:cNvSpPr>
            <a:spLocks noGrp="1"/>
          </p:cNvSpPr>
          <p:nvPr>
            <p:ph type="sldNum" sz="quarter" idx="12"/>
          </p:nvPr>
        </p:nvSpPr>
        <p:spPr/>
        <p:txBody>
          <a:bodyPr/>
          <a:lstStyle>
            <a:lvl1pPr>
              <a:defRPr/>
            </a:lvl1pPr>
          </a:lstStyle>
          <a:p>
            <a:pPr>
              <a:defRPr/>
            </a:pPr>
            <a:fld id="{40A0F74C-1EF2-47DC-B089-27AD48E84951}" type="slidenum">
              <a:rPr lang="en-US"/>
              <a:pPr>
                <a:defRPr/>
              </a:pPr>
              <a:t>‹#›</a:t>
            </a:fld>
            <a:endParaRPr lang="en-US"/>
          </a:p>
        </p:txBody>
      </p:sp>
    </p:spTree>
    <p:extLst>
      <p:ext uri="{BB962C8B-B14F-4D97-AF65-F5344CB8AC3E}">
        <p14:creationId xmlns:p14="http://schemas.microsoft.com/office/powerpoint/2010/main" val="1577144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816F6-540F-0FF0-7434-8AA9437B12EC}"/>
              </a:ext>
            </a:extLst>
          </p:cNvPr>
          <p:cNvSpPr>
            <a:spLocks noGrp="1"/>
          </p:cNvSpPr>
          <p:nvPr>
            <p:ph type="dt" sz="half" idx="10"/>
          </p:nvPr>
        </p:nvSpPr>
        <p:spPr/>
        <p:txBody>
          <a:bodyPr/>
          <a:lstStyle>
            <a:lvl1pPr>
              <a:defRPr/>
            </a:lvl1pPr>
          </a:lstStyle>
          <a:p>
            <a:pPr>
              <a:defRPr/>
            </a:pPr>
            <a:fld id="{E983CA70-9C28-4404-95A1-7EC188EA4949}" type="datetimeFigureOut">
              <a:rPr lang="en-US"/>
              <a:pPr>
                <a:defRPr/>
              </a:pPr>
              <a:t>10/09/2026</a:t>
            </a:fld>
            <a:endParaRPr lang="en-US"/>
          </a:p>
        </p:txBody>
      </p:sp>
      <p:sp>
        <p:nvSpPr>
          <p:cNvPr id="5" name="Footer Placeholder 4">
            <a:extLst>
              <a:ext uri="{FF2B5EF4-FFF2-40B4-BE49-F238E27FC236}">
                <a16:creationId xmlns:a16="http://schemas.microsoft.com/office/drawing/2014/main" id="{569A649C-0BC3-C5DC-4F42-BB492BFE803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1DC50CC-9B20-FD08-AFF5-258BDA64E016}"/>
              </a:ext>
            </a:extLst>
          </p:cNvPr>
          <p:cNvSpPr>
            <a:spLocks noGrp="1"/>
          </p:cNvSpPr>
          <p:nvPr>
            <p:ph type="sldNum" sz="quarter" idx="12"/>
          </p:nvPr>
        </p:nvSpPr>
        <p:spPr/>
        <p:txBody>
          <a:bodyPr/>
          <a:lstStyle>
            <a:lvl1pPr>
              <a:defRPr/>
            </a:lvl1pPr>
          </a:lstStyle>
          <a:p>
            <a:pPr>
              <a:defRPr/>
            </a:pPr>
            <a:fld id="{EE9773CB-9352-48FD-81D8-5E8C09ECC4F3}" type="slidenum">
              <a:rPr lang="en-US"/>
              <a:pPr>
                <a:defRPr/>
              </a:pPr>
              <a:t>‹#›</a:t>
            </a:fld>
            <a:endParaRPr lang="en-US"/>
          </a:p>
        </p:txBody>
      </p:sp>
    </p:spTree>
    <p:extLst>
      <p:ext uri="{BB962C8B-B14F-4D97-AF65-F5344CB8AC3E}">
        <p14:creationId xmlns:p14="http://schemas.microsoft.com/office/powerpoint/2010/main" val="1691264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4C985F-AAF0-3482-4E17-A7B52859B437}"/>
              </a:ext>
            </a:extLst>
          </p:cNvPr>
          <p:cNvSpPr>
            <a:spLocks noGrp="1"/>
          </p:cNvSpPr>
          <p:nvPr>
            <p:ph type="dt" sz="half" idx="10"/>
          </p:nvPr>
        </p:nvSpPr>
        <p:spPr/>
        <p:txBody>
          <a:bodyPr/>
          <a:lstStyle>
            <a:lvl1pPr>
              <a:defRPr/>
            </a:lvl1pPr>
          </a:lstStyle>
          <a:p>
            <a:pPr>
              <a:defRPr/>
            </a:pPr>
            <a:fld id="{F2F6F378-B2D4-4DD5-9CE4-DFC5597324C8}" type="datetimeFigureOut">
              <a:rPr lang="en-US"/>
              <a:pPr>
                <a:defRPr/>
              </a:pPr>
              <a:t>10/09/2026</a:t>
            </a:fld>
            <a:endParaRPr lang="en-US"/>
          </a:p>
        </p:txBody>
      </p:sp>
      <p:sp>
        <p:nvSpPr>
          <p:cNvPr id="5" name="Footer Placeholder 4">
            <a:extLst>
              <a:ext uri="{FF2B5EF4-FFF2-40B4-BE49-F238E27FC236}">
                <a16:creationId xmlns:a16="http://schemas.microsoft.com/office/drawing/2014/main" id="{DF03C4C7-9F1F-CDDC-FC11-C5A7D0CF3DA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864640B-36CF-023E-0F88-303E6A02D729}"/>
              </a:ext>
            </a:extLst>
          </p:cNvPr>
          <p:cNvSpPr>
            <a:spLocks noGrp="1"/>
          </p:cNvSpPr>
          <p:nvPr>
            <p:ph type="sldNum" sz="quarter" idx="12"/>
          </p:nvPr>
        </p:nvSpPr>
        <p:spPr/>
        <p:txBody>
          <a:bodyPr/>
          <a:lstStyle>
            <a:lvl1pPr>
              <a:defRPr/>
            </a:lvl1pPr>
          </a:lstStyle>
          <a:p>
            <a:pPr>
              <a:defRPr/>
            </a:pPr>
            <a:fld id="{E833E609-5857-438B-BE9E-9949C6374012}" type="slidenum">
              <a:rPr lang="en-US"/>
              <a:pPr>
                <a:defRPr/>
              </a:pPr>
              <a:t>‹#›</a:t>
            </a:fld>
            <a:endParaRPr lang="en-US"/>
          </a:p>
        </p:txBody>
      </p:sp>
    </p:spTree>
    <p:extLst>
      <p:ext uri="{BB962C8B-B14F-4D97-AF65-F5344CB8AC3E}">
        <p14:creationId xmlns:p14="http://schemas.microsoft.com/office/powerpoint/2010/main" val="457704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195639"/>
            <a:ext cx="15544800" cy="2205038"/>
          </a:xfrm>
        </p:spPr>
        <p:txBody>
          <a:bodyPr/>
          <a:lstStyle/>
          <a:p>
            <a:r>
              <a:rPr lang="en-US"/>
              <a:t>Click to edit Master title style</a:t>
            </a:r>
          </a:p>
        </p:txBody>
      </p:sp>
      <p:sp>
        <p:nvSpPr>
          <p:cNvPr id="3" name="Subtitle 2"/>
          <p:cNvSpPr>
            <a:spLocks noGrp="1"/>
          </p:cNvSpPr>
          <p:nvPr>
            <p:ph type="subTitle" idx="1"/>
          </p:nvPr>
        </p:nvSpPr>
        <p:spPr>
          <a:xfrm>
            <a:off x="2743200" y="5829300"/>
            <a:ext cx="12801600" cy="2628900"/>
          </a:xfrm>
        </p:spPr>
        <p:txBody>
          <a:bodyPr/>
          <a:lstStyle>
            <a:lvl1pPr marL="0" indent="0" algn="ctr">
              <a:buNone/>
              <a:defRPr/>
            </a:lvl1pPr>
            <a:lvl2pPr marL="685800" indent="0" algn="ctr">
              <a:buNone/>
              <a:defRPr/>
            </a:lvl2pPr>
            <a:lvl3pPr marL="1371600" indent="0" algn="ctr">
              <a:buNone/>
              <a:defRPr/>
            </a:lvl3pPr>
            <a:lvl4pPr marL="2057400" indent="0" algn="ctr">
              <a:buNone/>
              <a:defRPr/>
            </a:lvl4pPr>
            <a:lvl5pPr marL="2743200" indent="0" algn="ctr">
              <a:buNone/>
              <a:defRPr/>
            </a:lvl5pPr>
            <a:lvl6pPr marL="3429000" indent="0" algn="ctr">
              <a:buNone/>
              <a:defRPr/>
            </a:lvl6pPr>
            <a:lvl7pPr marL="4114800" indent="0" algn="ctr">
              <a:buNone/>
              <a:defRPr/>
            </a:lvl7pPr>
            <a:lvl8pPr marL="4800600" indent="0" algn="ctr">
              <a:buNone/>
              <a:defRPr/>
            </a:lvl8pPr>
            <a:lvl9pPr marL="5486400" indent="0" algn="ctr">
              <a:buNone/>
              <a:defRPr/>
            </a:lvl9pPr>
          </a:lstStyle>
          <a:p>
            <a:r>
              <a:rPr lang="en-US"/>
              <a:t>Click to edit Master subtitle style</a:t>
            </a:r>
          </a:p>
        </p:txBody>
      </p:sp>
      <p:sp>
        <p:nvSpPr>
          <p:cNvPr id="4" name="Rectangle 7">
            <a:extLst>
              <a:ext uri="{FF2B5EF4-FFF2-40B4-BE49-F238E27FC236}">
                <a16:creationId xmlns:a16="http://schemas.microsoft.com/office/drawing/2014/main" id="{CB6A2518-F6CF-AE9B-5563-E7FE6EDF53AF}"/>
              </a:ext>
            </a:extLst>
          </p:cNvPr>
          <p:cNvSpPr>
            <a:spLocks noGrp="1" noChangeArrowheads="1"/>
          </p:cNvSpPr>
          <p:nvPr>
            <p:ph type="sldNum" idx="10"/>
          </p:nvPr>
        </p:nvSpPr>
        <p:spPr>
          <a:ln/>
        </p:spPr>
        <p:txBody>
          <a:bodyPr/>
          <a:lstStyle>
            <a:lvl1pPr>
              <a:defRPr/>
            </a:lvl1pPr>
          </a:lstStyle>
          <a:p>
            <a:pPr>
              <a:defRPr/>
            </a:pPr>
            <a:fld id="{1A07CF90-F157-4686-A46B-8108398633F2}" type="slidenum">
              <a:rPr lang="en-US" altLang="en-US"/>
              <a:pPr>
                <a:defRPr/>
              </a:pPr>
              <a:t>‹#›</a:t>
            </a:fld>
            <a:endParaRPr lang="en-US" altLang="en-US"/>
          </a:p>
        </p:txBody>
      </p:sp>
    </p:spTree>
    <p:extLst>
      <p:ext uri="{BB962C8B-B14F-4D97-AF65-F5344CB8AC3E}">
        <p14:creationId xmlns:p14="http://schemas.microsoft.com/office/powerpoint/2010/main" val="2710900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0BB7A3F0-F19A-1EE1-D0FF-A0D32E815762}"/>
              </a:ext>
            </a:extLst>
          </p:cNvPr>
          <p:cNvSpPr>
            <a:spLocks noGrp="1" noChangeArrowheads="1"/>
          </p:cNvSpPr>
          <p:nvPr>
            <p:ph type="sldNum" idx="10"/>
          </p:nvPr>
        </p:nvSpPr>
        <p:spPr>
          <a:ln/>
        </p:spPr>
        <p:txBody>
          <a:bodyPr/>
          <a:lstStyle>
            <a:lvl1pPr>
              <a:defRPr/>
            </a:lvl1pPr>
          </a:lstStyle>
          <a:p>
            <a:pPr>
              <a:defRPr/>
            </a:pPr>
            <a:fld id="{D5FA00ED-83C1-4B9A-B391-08C5BC670EB4}" type="slidenum">
              <a:rPr lang="en-US" altLang="en-US"/>
              <a:pPr>
                <a:defRPr/>
              </a:pPr>
              <a:t>‹#›</a:t>
            </a:fld>
            <a:endParaRPr lang="en-US" altLang="en-US"/>
          </a:p>
        </p:txBody>
      </p:sp>
    </p:spTree>
    <p:extLst>
      <p:ext uri="{BB962C8B-B14F-4D97-AF65-F5344CB8AC3E}">
        <p14:creationId xmlns:p14="http://schemas.microsoft.com/office/powerpoint/2010/main" val="852905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6610352"/>
            <a:ext cx="15544800" cy="2043112"/>
          </a:xfrm>
        </p:spPr>
        <p:txBody>
          <a:bodyPr anchor="t"/>
          <a:lstStyle>
            <a:lvl1pPr algn="l">
              <a:defRPr sz="6000" b="1" cap="all"/>
            </a:lvl1pPr>
          </a:lstStyle>
          <a:p>
            <a:r>
              <a:rPr lang="en-US"/>
              <a:t>Click to edit Master title style</a:t>
            </a:r>
          </a:p>
        </p:txBody>
      </p:sp>
      <p:sp>
        <p:nvSpPr>
          <p:cNvPr id="3" name="Text Placeholder 2"/>
          <p:cNvSpPr>
            <a:spLocks noGrp="1"/>
          </p:cNvSpPr>
          <p:nvPr>
            <p:ph type="body" idx="1"/>
          </p:nvPr>
        </p:nvSpPr>
        <p:spPr>
          <a:xfrm>
            <a:off x="1444626" y="4360070"/>
            <a:ext cx="15544800" cy="2250280"/>
          </a:xfrm>
        </p:spPr>
        <p:txBody>
          <a:bodyPr anchor="b"/>
          <a:lstStyle>
            <a:lvl1pPr marL="0" indent="0">
              <a:buNone/>
              <a:defRPr sz="3000"/>
            </a:lvl1pPr>
            <a:lvl2pPr marL="685800" indent="0">
              <a:buNone/>
              <a:defRPr sz="2700"/>
            </a:lvl2pPr>
            <a:lvl3pPr marL="1371600" indent="0">
              <a:buNone/>
              <a:defRPr sz="2400"/>
            </a:lvl3pPr>
            <a:lvl4pPr marL="2057400" indent="0">
              <a:buNone/>
              <a:defRPr sz="2100"/>
            </a:lvl4pPr>
            <a:lvl5pPr marL="2743200" indent="0">
              <a:buNone/>
              <a:defRPr sz="2100"/>
            </a:lvl5pPr>
            <a:lvl6pPr marL="3429000" indent="0">
              <a:buNone/>
              <a:defRPr sz="2100"/>
            </a:lvl6pPr>
            <a:lvl7pPr marL="4114800" indent="0">
              <a:buNone/>
              <a:defRPr sz="2100"/>
            </a:lvl7pPr>
            <a:lvl8pPr marL="4800600" indent="0">
              <a:buNone/>
              <a:defRPr sz="2100"/>
            </a:lvl8pPr>
            <a:lvl9pPr marL="5486400" indent="0">
              <a:buNone/>
              <a:defRPr sz="2100"/>
            </a:lvl9pPr>
          </a:lstStyle>
          <a:p>
            <a:pPr lvl="0"/>
            <a:r>
              <a:rPr lang="en-US"/>
              <a:t>Click to edit Master text styles</a:t>
            </a:r>
          </a:p>
        </p:txBody>
      </p:sp>
      <p:sp>
        <p:nvSpPr>
          <p:cNvPr id="4" name="Rectangle 7">
            <a:extLst>
              <a:ext uri="{FF2B5EF4-FFF2-40B4-BE49-F238E27FC236}">
                <a16:creationId xmlns:a16="http://schemas.microsoft.com/office/drawing/2014/main" id="{E1038705-4C53-D068-EFE1-4D279FCFAD9C}"/>
              </a:ext>
            </a:extLst>
          </p:cNvPr>
          <p:cNvSpPr>
            <a:spLocks noGrp="1" noChangeArrowheads="1"/>
          </p:cNvSpPr>
          <p:nvPr>
            <p:ph type="sldNum" idx="10"/>
          </p:nvPr>
        </p:nvSpPr>
        <p:spPr>
          <a:ln/>
        </p:spPr>
        <p:txBody>
          <a:bodyPr/>
          <a:lstStyle>
            <a:lvl1pPr>
              <a:defRPr/>
            </a:lvl1pPr>
          </a:lstStyle>
          <a:p>
            <a:pPr>
              <a:defRPr/>
            </a:pPr>
            <a:fld id="{C67234FE-ECB4-45FA-8C9B-4FEC81B766D1}" type="slidenum">
              <a:rPr lang="en-US" altLang="en-US"/>
              <a:pPr>
                <a:defRPr/>
              </a:pPr>
              <a:t>‹#›</a:t>
            </a:fld>
            <a:endParaRPr lang="en-US" altLang="en-US"/>
          </a:p>
        </p:txBody>
      </p:sp>
    </p:spTree>
    <p:extLst>
      <p:ext uri="{BB962C8B-B14F-4D97-AF65-F5344CB8AC3E}">
        <p14:creationId xmlns:p14="http://schemas.microsoft.com/office/powerpoint/2010/main" val="17899532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3" y="1828800"/>
            <a:ext cx="8074026" cy="7655720"/>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3226" y="1828800"/>
            <a:ext cx="8077200" cy="7655720"/>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a:extLst>
              <a:ext uri="{FF2B5EF4-FFF2-40B4-BE49-F238E27FC236}">
                <a16:creationId xmlns:a16="http://schemas.microsoft.com/office/drawing/2014/main" id="{D11B161B-5E7E-6912-072E-36FBBB0691BA}"/>
              </a:ext>
            </a:extLst>
          </p:cNvPr>
          <p:cNvSpPr>
            <a:spLocks noGrp="1" noChangeArrowheads="1"/>
          </p:cNvSpPr>
          <p:nvPr>
            <p:ph type="sldNum" idx="10"/>
          </p:nvPr>
        </p:nvSpPr>
        <p:spPr>
          <a:ln/>
        </p:spPr>
        <p:txBody>
          <a:bodyPr/>
          <a:lstStyle>
            <a:lvl1pPr>
              <a:defRPr/>
            </a:lvl1pPr>
          </a:lstStyle>
          <a:p>
            <a:pPr>
              <a:defRPr/>
            </a:pPr>
            <a:fld id="{0175EE29-2CC0-4607-9F7F-5535F78AE19F}" type="slidenum">
              <a:rPr lang="en-US" altLang="en-US"/>
              <a:pPr>
                <a:defRPr/>
              </a:pPr>
              <a:t>‹#›</a:t>
            </a:fld>
            <a:endParaRPr lang="en-US" altLang="en-US"/>
          </a:p>
        </p:txBody>
      </p:sp>
    </p:spTree>
    <p:extLst>
      <p:ext uri="{BB962C8B-B14F-4D97-AF65-F5344CB8AC3E}">
        <p14:creationId xmlns:p14="http://schemas.microsoft.com/office/powerpoint/2010/main" val="2794203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8"/>
            <a:ext cx="16459200" cy="1714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2302670"/>
            <a:ext cx="8080376" cy="959644"/>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914400" y="3262312"/>
            <a:ext cx="8080376"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3" y="2302670"/>
            <a:ext cx="8083550" cy="959644"/>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90053" y="3262312"/>
            <a:ext cx="8083550"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7">
            <a:extLst>
              <a:ext uri="{FF2B5EF4-FFF2-40B4-BE49-F238E27FC236}">
                <a16:creationId xmlns:a16="http://schemas.microsoft.com/office/drawing/2014/main" id="{F30601E9-1820-4AFC-10B3-E4E6E2270F64}"/>
              </a:ext>
            </a:extLst>
          </p:cNvPr>
          <p:cNvSpPr>
            <a:spLocks noGrp="1" noChangeArrowheads="1"/>
          </p:cNvSpPr>
          <p:nvPr>
            <p:ph type="sldNum" idx="10"/>
          </p:nvPr>
        </p:nvSpPr>
        <p:spPr>
          <a:ln/>
        </p:spPr>
        <p:txBody>
          <a:bodyPr/>
          <a:lstStyle>
            <a:lvl1pPr>
              <a:defRPr/>
            </a:lvl1pPr>
          </a:lstStyle>
          <a:p>
            <a:pPr>
              <a:defRPr/>
            </a:pPr>
            <a:fld id="{8EE81E80-88AF-43AD-96EE-C6E37F89E2F8}" type="slidenum">
              <a:rPr lang="en-US" altLang="en-US"/>
              <a:pPr>
                <a:defRPr/>
              </a:pPr>
              <a:t>‹#›</a:t>
            </a:fld>
            <a:endParaRPr lang="en-US" altLang="en-US"/>
          </a:p>
        </p:txBody>
      </p:sp>
    </p:spTree>
    <p:extLst>
      <p:ext uri="{BB962C8B-B14F-4D97-AF65-F5344CB8AC3E}">
        <p14:creationId xmlns:p14="http://schemas.microsoft.com/office/powerpoint/2010/main" val="60167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7">
            <a:extLst>
              <a:ext uri="{FF2B5EF4-FFF2-40B4-BE49-F238E27FC236}">
                <a16:creationId xmlns:a16="http://schemas.microsoft.com/office/drawing/2014/main" id="{13D95BE4-71B8-73B5-86EF-DBA4906B55B9}"/>
              </a:ext>
            </a:extLst>
          </p:cNvPr>
          <p:cNvSpPr>
            <a:spLocks noGrp="1" noChangeArrowheads="1"/>
          </p:cNvSpPr>
          <p:nvPr>
            <p:ph type="sldNum" idx="10"/>
          </p:nvPr>
        </p:nvSpPr>
        <p:spPr>
          <a:ln/>
        </p:spPr>
        <p:txBody>
          <a:bodyPr/>
          <a:lstStyle>
            <a:lvl1pPr>
              <a:defRPr/>
            </a:lvl1pPr>
          </a:lstStyle>
          <a:p>
            <a:pPr>
              <a:defRPr/>
            </a:pPr>
            <a:fld id="{6B223FD1-E44E-49C0-980D-EB989A05F910}" type="slidenum">
              <a:rPr lang="en-US" altLang="en-US"/>
              <a:pPr>
                <a:defRPr/>
              </a:pPr>
              <a:t>‹#›</a:t>
            </a:fld>
            <a:endParaRPr lang="en-US" altLang="en-US"/>
          </a:p>
        </p:txBody>
      </p:sp>
    </p:spTree>
    <p:extLst>
      <p:ext uri="{BB962C8B-B14F-4D97-AF65-F5344CB8AC3E}">
        <p14:creationId xmlns:p14="http://schemas.microsoft.com/office/powerpoint/2010/main" val="19472560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EACFDFF-5899-C0F3-BBEF-B3E4D76E44CE}"/>
              </a:ext>
            </a:extLst>
          </p:cNvPr>
          <p:cNvSpPr>
            <a:spLocks noGrp="1" noChangeArrowheads="1"/>
          </p:cNvSpPr>
          <p:nvPr>
            <p:ph type="sldNum" idx="10"/>
          </p:nvPr>
        </p:nvSpPr>
        <p:spPr>
          <a:ln/>
        </p:spPr>
        <p:txBody>
          <a:bodyPr/>
          <a:lstStyle>
            <a:lvl1pPr>
              <a:defRPr/>
            </a:lvl1pPr>
          </a:lstStyle>
          <a:p>
            <a:pPr>
              <a:defRPr/>
            </a:pPr>
            <a:fld id="{DAD88AD1-689D-48F0-95AA-06C3FBEA1607}" type="slidenum">
              <a:rPr lang="en-US" altLang="en-US"/>
              <a:pPr>
                <a:defRPr/>
              </a:pPr>
              <a:t>‹#›</a:t>
            </a:fld>
            <a:endParaRPr lang="en-US" altLang="en-US"/>
          </a:p>
        </p:txBody>
      </p:sp>
    </p:spTree>
    <p:extLst>
      <p:ext uri="{BB962C8B-B14F-4D97-AF65-F5344CB8AC3E}">
        <p14:creationId xmlns:p14="http://schemas.microsoft.com/office/powerpoint/2010/main" val="11629432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3" y="409574"/>
            <a:ext cx="6016626" cy="1743076"/>
          </a:xfrm>
        </p:spPr>
        <p:txBody>
          <a:bodyPr anchor="b"/>
          <a:lstStyle>
            <a:lvl1pPr algn="l">
              <a:defRPr sz="3000" b="1"/>
            </a:lvl1pPr>
          </a:lstStyle>
          <a:p>
            <a:r>
              <a:rPr lang="en-US"/>
              <a:t>Click to edit Master title style</a:t>
            </a:r>
          </a:p>
        </p:txBody>
      </p:sp>
      <p:sp>
        <p:nvSpPr>
          <p:cNvPr id="3" name="Content Placeholder 2"/>
          <p:cNvSpPr>
            <a:spLocks noGrp="1"/>
          </p:cNvSpPr>
          <p:nvPr>
            <p:ph idx="1"/>
          </p:nvPr>
        </p:nvSpPr>
        <p:spPr>
          <a:xfrm>
            <a:off x="7150100" y="409577"/>
            <a:ext cx="10223500" cy="877967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3" y="2152653"/>
            <a:ext cx="6016626" cy="7036594"/>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Rectangle 7">
            <a:extLst>
              <a:ext uri="{FF2B5EF4-FFF2-40B4-BE49-F238E27FC236}">
                <a16:creationId xmlns:a16="http://schemas.microsoft.com/office/drawing/2014/main" id="{ED5B88DB-7245-BDC9-BE48-DE9F8FBF5DAD}"/>
              </a:ext>
            </a:extLst>
          </p:cNvPr>
          <p:cNvSpPr>
            <a:spLocks noGrp="1" noChangeArrowheads="1"/>
          </p:cNvSpPr>
          <p:nvPr>
            <p:ph type="sldNum" idx="10"/>
          </p:nvPr>
        </p:nvSpPr>
        <p:spPr>
          <a:ln/>
        </p:spPr>
        <p:txBody>
          <a:bodyPr/>
          <a:lstStyle>
            <a:lvl1pPr>
              <a:defRPr/>
            </a:lvl1pPr>
          </a:lstStyle>
          <a:p>
            <a:pPr>
              <a:defRPr/>
            </a:pPr>
            <a:fld id="{35061391-33D9-468E-B5FF-259670D5A91B}" type="slidenum">
              <a:rPr lang="en-US" altLang="en-US"/>
              <a:pPr>
                <a:defRPr/>
              </a:pPr>
              <a:t>‹#›</a:t>
            </a:fld>
            <a:endParaRPr lang="en-US" altLang="en-US"/>
          </a:p>
        </p:txBody>
      </p:sp>
    </p:spTree>
    <p:extLst>
      <p:ext uri="{BB962C8B-B14F-4D97-AF65-F5344CB8AC3E}">
        <p14:creationId xmlns:p14="http://schemas.microsoft.com/office/powerpoint/2010/main" val="3521997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7200900"/>
            <a:ext cx="10972800" cy="850108"/>
          </a:xfrm>
        </p:spPr>
        <p:txBody>
          <a:bodyPr anchor="b"/>
          <a:lstStyle>
            <a:lvl1pPr algn="l">
              <a:defRPr sz="3000" b="1"/>
            </a:lvl1pPr>
          </a:lstStyle>
          <a:p>
            <a:r>
              <a:rPr lang="en-US"/>
              <a:t>Click to edit Master title style</a:t>
            </a:r>
          </a:p>
        </p:txBody>
      </p:sp>
      <p:sp>
        <p:nvSpPr>
          <p:cNvPr id="3" name="Picture Placeholder 2"/>
          <p:cNvSpPr>
            <a:spLocks noGrp="1"/>
          </p:cNvSpPr>
          <p:nvPr>
            <p:ph type="pic" idx="1"/>
          </p:nvPr>
        </p:nvSpPr>
        <p:spPr>
          <a:xfrm>
            <a:off x="3584576" y="919162"/>
            <a:ext cx="10972800" cy="6172200"/>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pPr lvl="0"/>
            <a:endParaRPr lang="en-US" noProof="0"/>
          </a:p>
        </p:txBody>
      </p:sp>
      <p:sp>
        <p:nvSpPr>
          <p:cNvPr id="4" name="Text Placeholder 3"/>
          <p:cNvSpPr>
            <a:spLocks noGrp="1"/>
          </p:cNvSpPr>
          <p:nvPr>
            <p:ph type="body" sz="half" idx="2"/>
          </p:nvPr>
        </p:nvSpPr>
        <p:spPr>
          <a:xfrm>
            <a:off x="3584576" y="8051007"/>
            <a:ext cx="10972800" cy="1207294"/>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Rectangle 7">
            <a:extLst>
              <a:ext uri="{FF2B5EF4-FFF2-40B4-BE49-F238E27FC236}">
                <a16:creationId xmlns:a16="http://schemas.microsoft.com/office/drawing/2014/main" id="{54D2DA5F-AEB2-91CB-F5C8-382AA76D0071}"/>
              </a:ext>
            </a:extLst>
          </p:cNvPr>
          <p:cNvSpPr>
            <a:spLocks noGrp="1" noChangeArrowheads="1"/>
          </p:cNvSpPr>
          <p:nvPr>
            <p:ph type="sldNum" idx="10"/>
          </p:nvPr>
        </p:nvSpPr>
        <p:spPr>
          <a:ln/>
        </p:spPr>
        <p:txBody>
          <a:bodyPr/>
          <a:lstStyle>
            <a:lvl1pPr>
              <a:defRPr/>
            </a:lvl1pPr>
          </a:lstStyle>
          <a:p>
            <a:pPr>
              <a:defRPr/>
            </a:pPr>
            <a:fld id="{B2FEC143-1828-40DF-B5C9-42EC66A2A03D}" type="slidenum">
              <a:rPr lang="en-US" altLang="en-US"/>
              <a:pPr>
                <a:defRPr/>
              </a:pPr>
              <a:t>‹#›</a:t>
            </a:fld>
            <a:endParaRPr lang="en-US" altLang="en-US"/>
          </a:p>
        </p:txBody>
      </p:sp>
    </p:spTree>
    <p:extLst>
      <p:ext uri="{BB962C8B-B14F-4D97-AF65-F5344CB8AC3E}">
        <p14:creationId xmlns:p14="http://schemas.microsoft.com/office/powerpoint/2010/main" val="37679405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0B6277F8-8B7B-F2D3-84C5-A2F51EC82BD0}"/>
              </a:ext>
            </a:extLst>
          </p:cNvPr>
          <p:cNvSpPr>
            <a:spLocks noGrp="1" noChangeArrowheads="1"/>
          </p:cNvSpPr>
          <p:nvPr>
            <p:ph type="sldNum" idx="10"/>
          </p:nvPr>
        </p:nvSpPr>
        <p:spPr>
          <a:ln/>
        </p:spPr>
        <p:txBody>
          <a:bodyPr/>
          <a:lstStyle>
            <a:lvl1pPr>
              <a:defRPr/>
            </a:lvl1pPr>
          </a:lstStyle>
          <a:p>
            <a:pPr>
              <a:defRPr/>
            </a:pPr>
            <a:fld id="{C166303B-1539-4199-BE24-A777B7F76F86}" type="slidenum">
              <a:rPr lang="en-US" altLang="en-US"/>
              <a:pPr>
                <a:defRPr/>
              </a:pPr>
              <a:t>‹#›</a:t>
            </a:fld>
            <a:endParaRPr lang="en-US" altLang="en-US"/>
          </a:p>
        </p:txBody>
      </p:sp>
    </p:spTree>
    <p:extLst>
      <p:ext uri="{BB962C8B-B14F-4D97-AF65-F5344CB8AC3E}">
        <p14:creationId xmlns:p14="http://schemas.microsoft.com/office/powerpoint/2010/main" val="19803977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3" y="914400"/>
            <a:ext cx="4111626" cy="85701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914400"/>
            <a:ext cx="12039600" cy="85701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B223C3C6-77C5-FAE5-CDE4-13251E57B193}"/>
              </a:ext>
            </a:extLst>
          </p:cNvPr>
          <p:cNvSpPr>
            <a:spLocks noGrp="1" noChangeArrowheads="1"/>
          </p:cNvSpPr>
          <p:nvPr>
            <p:ph type="sldNum" idx="10"/>
          </p:nvPr>
        </p:nvSpPr>
        <p:spPr>
          <a:ln/>
        </p:spPr>
        <p:txBody>
          <a:bodyPr/>
          <a:lstStyle>
            <a:lvl1pPr>
              <a:defRPr/>
            </a:lvl1pPr>
          </a:lstStyle>
          <a:p>
            <a:pPr>
              <a:defRPr/>
            </a:pPr>
            <a:fld id="{C89F7B26-AF1A-4E2B-9A62-4E2F7C7BEADC}" type="slidenum">
              <a:rPr lang="en-US" altLang="en-US"/>
              <a:pPr>
                <a:defRPr/>
              </a:pPr>
              <a:t>‹#›</a:t>
            </a:fld>
            <a:endParaRPr lang="en-US" altLang="en-US"/>
          </a:p>
        </p:txBody>
      </p:sp>
    </p:spTree>
    <p:extLst>
      <p:ext uri="{BB962C8B-B14F-4D97-AF65-F5344CB8AC3E}">
        <p14:creationId xmlns:p14="http://schemas.microsoft.com/office/powerpoint/2010/main" val="461065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Title Placeholder 1">
            <a:extLst>
              <a:ext uri="{FF2B5EF4-FFF2-40B4-BE49-F238E27FC236}">
                <a16:creationId xmlns:a16="http://schemas.microsoft.com/office/drawing/2014/main" id="{7A796DAE-217F-3718-AD9C-B32D15298944}"/>
              </a:ext>
            </a:extLst>
          </p:cNvPr>
          <p:cNvSpPr>
            <a:spLocks noGrp="1" noChangeArrowheads="1"/>
          </p:cNvSpPr>
          <p:nvPr>
            <p:ph type="title"/>
          </p:nvPr>
        </p:nvSpPr>
        <p:spPr bwMode="auto">
          <a:xfrm>
            <a:off x="457200" y="27622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9219" name="Text Placeholder 2">
            <a:extLst>
              <a:ext uri="{FF2B5EF4-FFF2-40B4-BE49-F238E27FC236}">
                <a16:creationId xmlns:a16="http://schemas.microsoft.com/office/drawing/2014/main" id="{24B9D602-0C14-7161-9DD7-DB89BD90ABD6}"/>
              </a:ext>
            </a:extLst>
          </p:cNvPr>
          <p:cNvSpPr>
            <a:spLocks noGrp="1" noChangeArrowheads="1"/>
          </p:cNvSpPr>
          <p:nvPr>
            <p:ph type="body" idx="1"/>
          </p:nvPr>
        </p:nvSpPr>
        <p:spPr bwMode="auto">
          <a:xfrm>
            <a:off x="457200" y="1600201"/>
            <a:ext cx="8229600"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2FBF099-EB2D-3F8C-BF7A-783720C8F144}"/>
              </a:ext>
            </a:extLst>
          </p:cNvPr>
          <p:cNvSpPr>
            <a:spLocks noGrp="1"/>
          </p:cNvSpPr>
          <p:nvPr>
            <p:ph type="dt" sz="half" idx="2"/>
          </p:nvPr>
        </p:nvSpPr>
        <p:spPr>
          <a:xfrm>
            <a:off x="457200" y="6356351"/>
            <a:ext cx="2133600" cy="365126"/>
          </a:xfrm>
          <a:prstGeom prst="rect">
            <a:avLst/>
          </a:prstGeom>
        </p:spPr>
        <p:txBody>
          <a:bodyPr vert="horz" lIns="91440" tIns="45720" rIns="91440" bIns="45720" rtlCol="0" anchor="ctr"/>
          <a:lstStyle>
            <a:lvl1pPr algn="l">
              <a:defRPr sz="1200">
                <a:solidFill>
                  <a:schemeClr val="tx1">
                    <a:tint val="75000"/>
                  </a:schemeClr>
                </a:solidFill>
                <a:ea typeface="+mn-ea"/>
              </a:defRPr>
            </a:lvl1pPr>
          </a:lstStyle>
          <a:p>
            <a:pPr>
              <a:defRPr/>
            </a:pPr>
            <a:fld id="{2DDFF9FB-AB83-4A4A-9894-55C35D2FEE14}" type="datetimeFigureOut">
              <a:rPr lang="en-US"/>
              <a:pPr>
                <a:defRPr/>
              </a:pPr>
              <a:t>10/09/2026</a:t>
            </a:fld>
            <a:endParaRPr lang="en-US"/>
          </a:p>
        </p:txBody>
      </p:sp>
      <p:sp>
        <p:nvSpPr>
          <p:cNvPr id="5" name="Footer Placeholder 4">
            <a:extLst>
              <a:ext uri="{FF2B5EF4-FFF2-40B4-BE49-F238E27FC236}">
                <a16:creationId xmlns:a16="http://schemas.microsoft.com/office/drawing/2014/main" id="{DC37036B-2869-C01A-E6A6-176722192CE9}"/>
              </a:ext>
            </a:extLst>
          </p:cNvPr>
          <p:cNvSpPr>
            <a:spLocks noGrp="1"/>
          </p:cNvSpPr>
          <p:nvPr>
            <p:ph type="ftr" sz="quarter" idx="3"/>
          </p:nvPr>
        </p:nvSpPr>
        <p:spPr>
          <a:xfrm>
            <a:off x="3124200" y="6356351"/>
            <a:ext cx="2895600" cy="365126"/>
          </a:xfrm>
          <a:prstGeom prst="rect">
            <a:avLst/>
          </a:prstGeom>
        </p:spPr>
        <p:txBody>
          <a:bodyPr vert="horz" lIns="91440" tIns="45720" rIns="91440" bIns="45720" rtlCol="0" anchor="ctr"/>
          <a:lstStyle>
            <a:lvl1pPr algn="ctr">
              <a:defRPr sz="1200">
                <a:solidFill>
                  <a:schemeClr val="tx1">
                    <a:tint val="75000"/>
                  </a:schemeClr>
                </a:solidFill>
                <a:ea typeface="+mn-ea"/>
              </a:defRPr>
            </a:lvl1pPr>
          </a:lstStyle>
          <a:p>
            <a:pPr>
              <a:defRPr/>
            </a:pPr>
            <a:endParaRPr lang="en-US"/>
          </a:p>
        </p:txBody>
      </p:sp>
      <p:sp>
        <p:nvSpPr>
          <p:cNvPr id="6" name="Slide Number Placeholder 5">
            <a:extLst>
              <a:ext uri="{FF2B5EF4-FFF2-40B4-BE49-F238E27FC236}">
                <a16:creationId xmlns:a16="http://schemas.microsoft.com/office/drawing/2014/main" id="{018DC871-AE16-A402-EBAD-E054BE1A82C4}"/>
              </a:ext>
            </a:extLst>
          </p:cNvPr>
          <p:cNvSpPr>
            <a:spLocks noGrp="1"/>
          </p:cNvSpPr>
          <p:nvPr>
            <p:ph type="sldNum" sz="quarter" idx="4"/>
          </p:nvPr>
        </p:nvSpPr>
        <p:spPr>
          <a:xfrm>
            <a:off x="6553200" y="6356351"/>
            <a:ext cx="2133600" cy="365126"/>
          </a:xfrm>
          <a:prstGeom prst="rect">
            <a:avLst/>
          </a:prstGeom>
        </p:spPr>
        <p:txBody>
          <a:bodyPr vert="horz" lIns="91440" tIns="45720" rIns="91440" bIns="45720" rtlCol="0" anchor="ctr"/>
          <a:lstStyle>
            <a:lvl1pPr algn="r">
              <a:defRPr sz="1200">
                <a:solidFill>
                  <a:schemeClr val="tx1">
                    <a:tint val="75000"/>
                  </a:schemeClr>
                </a:solidFill>
                <a:ea typeface="+mn-ea"/>
              </a:defRPr>
            </a:lvl1pPr>
          </a:lstStyle>
          <a:p>
            <a:pPr>
              <a:defRPr/>
            </a:pPr>
            <a:fld id="{2C442EE7-DB6F-43D4-BCF8-93889C492DA5}" type="slidenum">
              <a:rPr lang="en-US"/>
              <a:pPr>
                <a:defRPr/>
              </a:pPr>
              <a:t>‹#›</a:t>
            </a:fld>
            <a:endParaRPr lang="en-US"/>
          </a:p>
        </p:txBody>
      </p:sp>
    </p:spTree>
    <p:extLst>
      <p:ext uri="{BB962C8B-B14F-4D97-AF65-F5344CB8AC3E}">
        <p14:creationId xmlns:p14="http://schemas.microsoft.com/office/powerpoint/2010/main" val="18137499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0" fontAlgn="base" hangingPunct="0">
        <a:spcBef>
          <a:spcPct val="0"/>
        </a:spcBef>
        <a:spcAft>
          <a:spcPct val="0"/>
        </a:spcAft>
        <a:defRPr sz="4400" kern="1200">
          <a:solidFill>
            <a:schemeClr val="tx1"/>
          </a:solidFill>
          <a:latin typeface="+mj-lt"/>
          <a:ea typeface="+mj-ea"/>
          <a:cs typeface="+mj-cs"/>
        </a:defRPr>
      </a:lvl1pPr>
      <a:lvl2pPr algn="ctr" defTabSz="914400" rtl="0" eaLnBrk="0" fontAlgn="base" hangingPunct="0">
        <a:spcBef>
          <a:spcPct val="0"/>
        </a:spcBef>
        <a:spcAft>
          <a:spcPct val="0"/>
        </a:spcAft>
        <a:defRPr sz="4400">
          <a:solidFill>
            <a:schemeClr val="tx1"/>
          </a:solidFill>
          <a:latin typeface="Calibri" panose="020F0502020204030204" pitchFamily="34" charset="0"/>
        </a:defRPr>
      </a:lvl2pPr>
      <a:lvl3pPr algn="ctr" defTabSz="914400" rtl="0" eaLnBrk="0" fontAlgn="base" hangingPunct="0">
        <a:spcBef>
          <a:spcPct val="0"/>
        </a:spcBef>
        <a:spcAft>
          <a:spcPct val="0"/>
        </a:spcAft>
        <a:defRPr sz="4400">
          <a:solidFill>
            <a:schemeClr val="tx1"/>
          </a:solidFill>
          <a:latin typeface="Calibri" panose="020F0502020204030204" pitchFamily="34" charset="0"/>
        </a:defRPr>
      </a:lvl3pPr>
      <a:lvl4pPr algn="ctr" defTabSz="914400" rtl="0" eaLnBrk="0" fontAlgn="base" hangingPunct="0">
        <a:spcBef>
          <a:spcPct val="0"/>
        </a:spcBef>
        <a:spcAft>
          <a:spcPct val="0"/>
        </a:spcAft>
        <a:defRPr sz="4400">
          <a:solidFill>
            <a:schemeClr val="tx1"/>
          </a:solidFill>
          <a:latin typeface="Calibri" panose="020F0502020204030204" pitchFamily="34" charset="0"/>
        </a:defRPr>
      </a:lvl4pPr>
      <a:lvl5pPr algn="ctr" defTabSz="914400" rtl="0" eaLnBrk="0" fontAlgn="base" hangingPunct="0">
        <a:spcBef>
          <a:spcPct val="0"/>
        </a:spcBef>
        <a:spcAft>
          <a:spcPct val="0"/>
        </a:spcAft>
        <a:defRPr sz="4400">
          <a:solidFill>
            <a:schemeClr val="tx1"/>
          </a:solidFill>
          <a:latin typeface="Calibri" panose="020F0502020204030204" pitchFamily="34" charset="0"/>
        </a:defRPr>
      </a:lvl5pPr>
      <a:lvl6pPr marL="914400" algn="ctr" defTabSz="914400" rtl="0" fontAlgn="base">
        <a:spcBef>
          <a:spcPct val="0"/>
        </a:spcBef>
        <a:spcAft>
          <a:spcPct val="0"/>
        </a:spcAft>
        <a:defRPr sz="4400">
          <a:solidFill>
            <a:schemeClr val="tx1"/>
          </a:solidFill>
          <a:latin typeface="Calibri" panose="020F0502020204030204" pitchFamily="34" charset="0"/>
        </a:defRPr>
      </a:lvl6pPr>
      <a:lvl7pPr marL="1828800" algn="ctr" defTabSz="914400" rtl="0" fontAlgn="base">
        <a:spcBef>
          <a:spcPct val="0"/>
        </a:spcBef>
        <a:spcAft>
          <a:spcPct val="0"/>
        </a:spcAft>
        <a:defRPr sz="4400">
          <a:solidFill>
            <a:schemeClr val="tx1"/>
          </a:solidFill>
          <a:latin typeface="Calibri" panose="020F0502020204030204" pitchFamily="34" charset="0"/>
        </a:defRPr>
      </a:lvl7pPr>
      <a:lvl8pPr marL="2743200" algn="ctr" defTabSz="914400" rtl="0" fontAlgn="base">
        <a:spcBef>
          <a:spcPct val="0"/>
        </a:spcBef>
        <a:spcAft>
          <a:spcPct val="0"/>
        </a:spcAft>
        <a:defRPr sz="4400">
          <a:solidFill>
            <a:schemeClr val="tx1"/>
          </a:solidFill>
          <a:latin typeface="Calibri" panose="020F0502020204030204" pitchFamily="34" charset="0"/>
        </a:defRPr>
      </a:lvl8pPr>
      <a:lvl9pPr marL="3657600" algn="ctr" defTabSz="914400"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defTabSz="9144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AC20E355-96CF-27F5-B0EA-D195244D71CF}"/>
              </a:ext>
            </a:extLst>
          </p:cNvPr>
          <p:cNvSpPr txBox="1"/>
          <p:nvPr userDrawn="1"/>
        </p:nvSpPr>
        <p:spPr>
          <a:xfrm>
            <a:off x="0" y="-1066799"/>
            <a:ext cx="18288000" cy="507831"/>
          </a:xfrm>
          <a:prstGeom prst="rect">
            <a:avLst/>
          </a:prstGeom>
          <a:noFill/>
        </p:spPr>
        <p:txBody>
          <a:bodyPr>
            <a:spAutoFit/>
          </a:bodyPr>
          <a:lstStyle/>
          <a:p>
            <a:pPr algn="ctr">
              <a:defRPr/>
            </a:pPr>
            <a:r>
              <a:rPr lang="en-US" sz="2700">
                <a:solidFill>
                  <a:srgbClr val="C3C3C3"/>
                </a:solidFill>
                <a:ea typeface="+mn-ea"/>
              </a:rPr>
              <a:t>www.9slide.vn</a:t>
            </a:r>
          </a:p>
        </p:txBody>
      </p:sp>
      <p:sp>
        <p:nvSpPr>
          <p:cNvPr id="1027" name="Rectangle 2">
            <a:extLst>
              <a:ext uri="{FF2B5EF4-FFF2-40B4-BE49-F238E27FC236}">
                <a16:creationId xmlns:a16="http://schemas.microsoft.com/office/drawing/2014/main" id="{6B1A7095-F0BB-AA82-C67E-4B363EBD5822}"/>
              </a:ext>
            </a:extLst>
          </p:cNvPr>
          <p:cNvSpPr>
            <a:spLocks noChangeArrowheads="1"/>
          </p:cNvSpPr>
          <p:nvPr/>
        </p:nvSpPr>
        <p:spPr bwMode="auto">
          <a:xfrm>
            <a:off x="609600" y="914400"/>
            <a:ext cx="17678400" cy="800100"/>
          </a:xfrm>
          <a:prstGeom prst="rect">
            <a:avLst/>
          </a:prstGeom>
          <a:gradFill rotWithShape="0">
            <a:gsLst>
              <a:gs pos="0">
                <a:srgbClr val="22A2E2"/>
              </a:gs>
              <a:gs pos="100000">
                <a:srgbClr val="FFFFFF">
                  <a:alpha val="0"/>
                </a:srgbClr>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sz="3600"/>
          </a:p>
        </p:txBody>
      </p:sp>
      <p:sp>
        <p:nvSpPr>
          <p:cNvPr id="1028" name="Rectangle 3">
            <a:extLst>
              <a:ext uri="{FF2B5EF4-FFF2-40B4-BE49-F238E27FC236}">
                <a16:creationId xmlns:a16="http://schemas.microsoft.com/office/drawing/2014/main" id="{FB53D1DE-5336-7D90-4892-397EC654DD2B}"/>
              </a:ext>
            </a:extLst>
          </p:cNvPr>
          <p:cNvSpPr>
            <a:spLocks noChangeArrowheads="1"/>
          </p:cNvSpPr>
          <p:nvPr/>
        </p:nvSpPr>
        <p:spPr bwMode="auto">
          <a:xfrm>
            <a:off x="19050" y="1673226"/>
            <a:ext cx="18288000" cy="114300"/>
          </a:xfrm>
          <a:prstGeom prst="rect">
            <a:avLst/>
          </a:prstGeom>
          <a:gradFill rotWithShape="0">
            <a:gsLst>
              <a:gs pos="0">
                <a:srgbClr val="091D44"/>
              </a:gs>
              <a:gs pos="100000">
                <a:srgbClr val="184BB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sz="3600"/>
          </a:p>
        </p:txBody>
      </p:sp>
      <p:sp>
        <p:nvSpPr>
          <p:cNvPr id="1029" name="Rectangle 4">
            <a:extLst>
              <a:ext uri="{FF2B5EF4-FFF2-40B4-BE49-F238E27FC236}">
                <a16:creationId xmlns:a16="http://schemas.microsoft.com/office/drawing/2014/main" id="{8AE763DD-490D-659D-EDFF-69FD2D59AC4F}"/>
              </a:ext>
            </a:extLst>
          </p:cNvPr>
          <p:cNvSpPr>
            <a:spLocks noGrp="1" noChangeArrowheads="1"/>
          </p:cNvSpPr>
          <p:nvPr>
            <p:ph type="body" idx="1"/>
          </p:nvPr>
        </p:nvSpPr>
        <p:spPr bwMode="auto">
          <a:xfrm>
            <a:off x="914401" y="1828801"/>
            <a:ext cx="16456026" cy="7654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30" name="Text Box 5">
            <a:extLst>
              <a:ext uri="{FF2B5EF4-FFF2-40B4-BE49-F238E27FC236}">
                <a16:creationId xmlns:a16="http://schemas.microsoft.com/office/drawing/2014/main" id="{CA39E8CC-77E4-9830-CA91-6DBBBA414D91}"/>
              </a:ext>
            </a:extLst>
          </p:cNvPr>
          <p:cNvSpPr txBox="1">
            <a:spLocks noChangeArrowheads="1"/>
          </p:cNvSpPr>
          <p:nvPr/>
        </p:nvSpPr>
        <p:spPr bwMode="auto">
          <a:xfrm>
            <a:off x="914400" y="9601200"/>
            <a:ext cx="4267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sz="3600"/>
          </a:p>
        </p:txBody>
      </p:sp>
      <p:sp>
        <p:nvSpPr>
          <p:cNvPr id="1031" name="Text Box 6">
            <a:extLst>
              <a:ext uri="{FF2B5EF4-FFF2-40B4-BE49-F238E27FC236}">
                <a16:creationId xmlns:a16="http://schemas.microsoft.com/office/drawing/2014/main" id="{72E1CD8E-6EC5-4D57-3C98-54D965BADE37}"/>
              </a:ext>
            </a:extLst>
          </p:cNvPr>
          <p:cNvSpPr txBox="1">
            <a:spLocks noChangeArrowheads="1"/>
          </p:cNvSpPr>
          <p:nvPr/>
        </p:nvSpPr>
        <p:spPr bwMode="auto">
          <a:xfrm>
            <a:off x="6248400" y="9601200"/>
            <a:ext cx="5791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sz="3600"/>
          </a:p>
        </p:txBody>
      </p:sp>
      <p:sp>
        <p:nvSpPr>
          <p:cNvPr id="2" name="Rectangle 7">
            <a:extLst>
              <a:ext uri="{FF2B5EF4-FFF2-40B4-BE49-F238E27FC236}">
                <a16:creationId xmlns:a16="http://schemas.microsoft.com/office/drawing/2014/main" id="{EBC20A20-8CC7-EC09-56FE-1E93102788E8}"/>
              </a:ext>
            </a:extLst>
          </p:cNvPr>
          <p:cNvSpPr>
            <a:spLocks noGrp="1" noChangeArrowheads="1"/>
          </p:cNvSpPr>
          <p:nvPr>
            <p:ph type="sldNum"/>
          </p:nvPr>
        </p:nvSpPr>
        <p:spPr bwMode="auto">
          <a:xfrm>
            <a:off x="13106401" y="9601201"/>
            <a:ext cx="4264026" cy="479426"/>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lvl1pPr eaLnBrk="1" hangingPunct="1">
              <a:buSzPct val="100000"/>
              <a:defRPr>
                <a:solidFill>
                  <a:srgbClr val="000000"/>
                </a:solidFill>
                <a:latin typeface="Arial" charset="0"/>
                <a:ea typeface="Microsoft YaHei" charset="-122"/>
                <a:cs typeface="Segoe UI" charset="0"/>
              </a:defRPr>
            </a:lvl1pPr>
          </a:lstStyle>
          <a:p>
            <a:pPr>
              <a:defRPr/>
            </a:pPr>
            <a:fld id="{886D8CA1-B9E7-4F3F-B12B-4146AEA4391D}" type="slidenum">
              <a:rPr lang="en-US" altLang="en-US"/>
              <a:pPr>
                <a:defRPr/>
              </a:pPr>
              <a:t>‹#›</a:t>
            </a:fld>
            <a:endParaRPr lang="en-US" altLang="en-US"/>
          </a:p>
        </p:txBody>
      </p:sp>
      <p:sp>
        <p:nvSpPr>
          <p:cNvPr id="1033" name="Rectangle 8">
            <a:extLst>
              <a:ext uri="{FF2B5EF4-FFF2-40B4-BE49-F238E27FC236}">
                <a16:creationId xmlns:a16="http://schemas.microsoft.com/office/drawing/2014/main" id="{BA275469-8FFA-8F15-C5EA-9EA22752FB3E}"/>
              </a:ext>
            </a:extLst>
          </p:cNvPr>
          <p:cNvSpPr>
            <a:spLocks noGrp="1" noChangeArrowheads="1"/>
          </p:cNvSpPr>
          <p:nvPr>
            <p:ph type="title"/>
          </p:nvPr>
        </p:nvSpPr>
        <p:spPr bwMode="auto">
          <a:xfrm>
            <a:off x="4876801" y="914401"/>
            <a:ext cx="12493626"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4" name="Text Box 9">
            <a:extLst>
              <a:ext uri="{FF2B5EF4-FFF2-40B4-BE49-F238E27FC236}">
                <a16:creationId xmlns:a16="http://schemas.microsoft.com/office/drawing/2014/main" id="{C6CD7052-F7E1-388A-8EBB-C9611A7D26FA}"/>
              </a:ext>
            </a:extLst>
          </p:cNvPr>
          <p:cNvSpPr txBox="1">
            <a:spLocks noChangeArrowheads="1"/>
          </p:cNvSpPr>
          <p:nvPr/>
        </p:nvSpPr>
        <p:spPr bwMode="auto">
          <a:xfrm>
            <a:off x="16262350" y="384177"/>
            <a:ext cx="1981200" cy="603436"/>
          </a:xfrm>
          <a:prstGeom prst="rect">
            <a:avLst/>
          </a:prstGeom>
          <a:noFill/>
          <a:ln>
            <a:noFill/>
          </a:ln>
        </p:spPr>
        <p:txBody>
          <a:bodyPr lIns="135000" tIns="70200" rIns="135000" bIns="702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defRPr/>
            </a:pPr>
            <a:r>
              <a:rPr lang="en-US" altLang="en-US" sz="3000" b="1">
                <a:solidFill>
                  <a:srgbClr val="FFFFFF"/>
                </a:solidFill>
              </a:rPr>
              <a:t>LOGO</a:t>
            </a:r>
          </a:p>
        </p:txBody>
      </p:sp>
      <p:sp>
        <p:nvSpPr>
          <p:cNvPr id="1035" name="AutoShape 10">
            <a:extLst>
              <a:ext uri="{FF2B5EF4-FFF2-40B4-BE49-F238E27FC236}">
                <a16:creationId xmlns:a16="http://schemas.microsoft.com/office/drawing/2014/main" id="{8841D0A5-C86E-0967-2A7A-BDCCF2EEF184}"/>
              </a:ext>
            </a:extLst>
          </p:cNvPr>
          <p:cNvSpPr>
            <a:spLocks noChangeArrowheads="1"/>
          </p:cNvSpPr>
          <p:nvPr/>
        </p:nvSpPr>
        <p:spPr bwMode="auto">
          <a:xfrm rot="5400000">
            <a:off x="16962438" y="-490537"/>
            <a:ext cx="409576" cy="1720850"/>
          </a:xfrm>
          <a:prstGeom prst="moon">
            <a:avLst>
              <a:gd name="adj" fmla="val 21208"/>
            </a:avLst>
          </a:prstGeom>
          <a:solidFill>
            <a:srgbClr val="13276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sz="3600"/>
          </a:p>
        </p:txBody>
      </p:sp>
    </p:spTree>
    <p:extLst>
      <p:ext uri="{BB962C8B-B14F-4D97-AF65-F5344CB8AC3E}">
        <p14:creationId xmlns:p14="http://schemas.microsoft.com/office/powerpoint/2010/main" val="5386693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ctr" defTabSz="685800" rtl="0" eaLnBrk="0" fontAlgn="base" hangingPunct="0">
        <a:spcBef>
          <a:spcPct val="0"/>
        </a:spcBef>
        <a:spcAft>
          <a:spcPct val="0"/>
        </a:spcAft>
        <a:buClr>
          <a:srgbClr val="000000"/>
        </a:buClr>
        <a:buSzPct val="100000"/>
        <a:buFont typeface="Times New Roman" panose="02020603050405020304" pitchFamily="18" charset="0"/>
        <a:defRPr sz="4800">
          <a:solidFill>
            <a:srgbClr val="FFFFFF"/>
          </a:solidFill>
          <a:latin typeface="+mj-lt"/>
          <a:ea typeface="+mj-ea"/>
          <a:cs typeface="+mj-cs"/>
        </a:defRPr>
      </a:lvl1pPr>
      <a:lvl2pPr algn="ctr" defTabSz="685800" rtl="0" eaLnBrk="0" fontAlgn="base" hangingPunct="0">
        <a:spcBef>
          <a:spcPct val="0"/>
        </a:spcBef>
        <a:spcAft>
          <a:spcPct val="0"/>
        </a:spcAft>
        <a:buClr>
          <a:srgbClr val="000000"/>
        </a:buClr>
        <a:buSzPct val="100000"/>
        <a:buFont typeface="Times New Roman" panose="02020603050405020304" pitchFamily="18" charset="0"/>
        <a:defRPr sz="4800">
          <a:solidFill>
            <a:srgbClr val="FFFFFF"/>
          </a:solidFill>
          <a:latin typeface="Arial" charset="0"/>
          <a:ea typeface="Microsoft YaHei" charset="-122"/>
        </a:defRPr>
      </a:lvl2pPr>
      <a:lvl3pPr algn="ctr" defTabSz="685800" rtl="0" eaLnBrk="0" fontAlgn="base" hangingPunct="0">
        <a:spcBef>
          <a:spcPct val="0"/>
        </a:spcBef>
        <a:spcAft>
          <a:spcPct val="0"/>
        </a:spcAft>
        <a:buClr>
          <a:srgbClr val="000000"/>
        </a:buClr>
        <a:buSzPct val="100000"/>
        <a:buFont typeface="Times New Roman" panose="02020603050405020304" pitchFamily="18" charset="0"/>
        <a:defRPr sz="4800">
          <a:solidFill>
            <a:srgbClr val="FFFFFF"/>
          </a:solidFill>
          <a:latin typeface="Arial" charset="0"/>
          <a:ea typeface="Microsoft YaHei" charset="-122"/>
        </a:defRPr>
      </a:lvl3pPr>
      <a:lvl4pPr algn="ctr" defTabSz="685800" rtl="0" eaLnBrk="0" fontAlgn="base" hangingPunct="0">
        <a:spcBef>
          <a:spcPct val="0"/>
        </a:spcBef>
        <a:spcAft>
          <a:spcPct val="0"/>
        </a:spcAft>
        <a:buClr>
          <a:srgbClr val="000000"/>
        </a:buClr>
        <a:buSzPct val="100000"/>
        <a:buFont typeface="Times New Roman" panose="02020603050405020304" pitchFamily="18" charset="0"/>
        <a:defRPr sz="4800">
          <a:solidFill>
            <a:srgbClr val="FFFFFF"/>
          </a:solidFill>
          <a:latin typeface="Arial" charset="0"/>
          <a:ea typeface="Microsoft YaHei" charset="-122"/>
        </a:defRPr>
      </a:lvl4pPr>
      <a:lvl5pPr algn="ctr" defTabSz="685800" rtl="0" eaLnBrk="0" fontAlgn="base" hangingPunct="0">
        <a:spcBef>
          <a:spcPct val="0"/>
        </a:spcBef>
        <a:spcAft>
          <a:spcPct val="0"/>
        </a:spcAft>
        <a:buClr>
          <a:srgbClr val="000000"/>
        </a:buClr>
        <a:buSzPct val="100000"/>
        <a:buFont typeface="Times New Roman" panose="02020603050405020304" pitchFamily="18" charset="0"/>
        <a:defRPr sz="4800">
          <a:solidFill>
            <a:srgbClr val="FFFFFF"/>
          </a:solidFill>
          <a:latin typeface="Arial" charset="0"/>
          <a:ea typeface="Microsoft YaHei" charset="-122"/>
        </a:defRPr>
      </a:lvl5pPr>
      <a:lvl6pPr marL="3771900" indent="-342900" algn="ctr" defTabSz="685800" rtl="0" eaLnBrk="0" fontAlgn="base" hangingPunct="0">
        <a:spcBef>
          <a:spcPct val="0"/>
        </a:spcBef>
        <a:spcAft>
          <a:spcPct val="0"/>
        </a:spcAft>
        <a:buClr>
          <a:srgbClr val="000000"/>
        </a:buClr>
        <a:buSzPct val="100000"/>
        <a:buFont typeface="Times New Roman" pitchFamily="16" charset="0"/>
        <a:defRPr sz="4800">
          <a:solidFill>
            <a:srgbClr val="FFFFFF"/>
          </a:solidFill>
          <a:latin typeface="Arial" charset="0"/>
          <a:ea typeface="Microsoft YaHei" charset="-122"/>
        </a:defRPr>
      </a:lvl6pPr>
      <a:lvl7pPr marL="4457700" indent="-342900" algn="ctr" defTabSz="685800" rtl="0" eaLnBrk="0" fontAlgn="base" hangingPunct="0">
        <a:spcBef>
          <a:spcPct val="0"/>
        </a:spcBef>
        <a:spcAft>
          <a:spcPct val="0"/>
        </a:spcAft>
        <a:buClr>
          <a:srgbClr val="000000"/>
        </a:buClr>
        <a:buSzPct val="100000"/>
        <a:buFont typeface="Times New Roman" pitchFamily="16" charset="0"/>
        <a:defRPr sz="4800">
          <a:solidFill>
            <a:srgbClr val="FFFFFF"/>
          </a:solidFill>
          <a:latin typeface="Arial" charset="0"/>
          <a:ea typeface="Microsoft YaHei" charset="-122"/>
        </a:defRPr>
      </a:lvl7pPr>
      <a:lvl8pPr marL="5143500" indent="-342900" algn="ctr" defTabSz="685800" rtl="0" eaLnBrk="0" fontAlgn="base" hangingPunct="0">
        <a:spcBef>
          <a:spcPct val="0"/>
        </a:spcBef>
        <a:spcAft>
          <a:spcPct val="0"/>
        </a:spcAft>
        <a:buClr>
          <a:srgbClr val="000000"/>
        </a:buClr>
        <a:buSzPct val="100000"/>
        <a:buFont typeface="Times New Roman" pitchFamily="16" charset="0"/>
        <a:defRPr sz="4800">
          <a:solidFill>
            <a:srgbClr val="FFFFFF"/>
          </a:solidFill>
          <a:latin typeface="Arial" charset="0"/>
          <a:ea typeface="Microsoft YaHei" charset="-122"/>
        </a:defRPr>
      </a:lvl8pPr>
      <a:lvl9pPr marL="5829300" indent="-342900" algn="ctr" defTabSz="685800" rtl="0" eaLnBrk="0" fontAlgn="base" hangingPunct="0">
        <a:spcBef>
          <a:spcPct val="0"/>
        </a:spcBef>
        <a:spcAft>
          <a:spcPct val="0"/>
        </a:spcAft>
        <a:buClr>
          <a:srgbClr val="000000"/>
        </a:buClr>
        <a:buSzPct val="100000"/>
        <a:buFont typeface="Times New Roman" pitchFamily="16" charset="0"/>
        <a:defRPr sz="4800">
          <a:solidFill>
            <a:srgbClr val="FFFFFF"/>
          </a:solidFill>
          <a:latin typeface="Arial" charset="0"/>
          <a:ea typeface="Microsoft YaHei" charset="-122"/>
        </a:defRPr>
      </a:lvl9pPr>
    </p:titleStyle>
    <p:bodyStyle>
      <a:lvl1pPr marL="514350" indent="-514350" algn="l" defTabSz="685800" rtl="0" eaLnBrk="0" fontAlgn="base" hangingPunct="0">
        <a:spcBef>
          <a:spcPts val="1200"/>
        </a:spcBef>
        <a:spcAft>
          <a:spcPct val="0"/>
        </a:spcAft>
        <a:buClr>
          <a:srgbClr val="000000"/>
        </a:buClr>
        <a:buSzPct val="100000"/>
        <a:buFont typeface="Times New Roman" panose="02020603050405020304" pitchFamily="18" charset="0"/>
        <a:defRPr sz="4800">
          <a:solidFill>
            <a:srgbClr val="132767"/>
          </a:solidFill>
          <a:latin typeface="+mn-lt"/>
          <a:ea typeface="+mn-ea"/>
          <a:cs typeface="+mn-cs"/>
        </a:defRPr>
      </a:lvl1pPr>
      <a:lvl2pPr marL="1114426" indent="-428626" algn="l" defTabSz="685800" rtl="0" eaLnBrk="0" fontAlgn="base" hangingPunct="0">
        <a:spcBef>
          <a:spcPts val="1050"/>
        </a:spcBef>
        <a:spcAft>
          <a:spcPct val="0"/>
        </a:spcAft>
        <a:buClr>
          <a:srgbClr val="000000"/>
        </a:buClr>
        <a:buSzPct val="100000"/>
        <a:buFont typeface="Times New Roman" panose="02020603050405020304" pitchFamily="18" charset="0"/>
        <a:defRPr sz="4200">
          <a:solidFill>
            <a:srgbClr val="132767"/>
          </a:solidFill>
          <a:latin typeface="+mn-lt"/>
          <a:ea typeface="+mn-ea"/>
        </a:defRPr>
      </a:lvl2pPr>
      <a:lvl3pPr marL="1714500" indent="-342900" algn="l" defTabSz="685800" rtl="0" eaLnBrk="0" fontAlgn="base" hangingPunct="0">
        <a:spcBef>
          <a:spcPts val="900"/>
        </a:spcBef>
        <a:spcAft>
          <a:spcPct val="0"/>
        </a:spcAft>
        <a:buClr>
          <a:srgbClr val="000000"/>
        </a:buClr>
        <a:buSzPct val="100000"/>
        <a:buFont typeface="Times New Roman" panose="02020603050405020304" pitchFamily="18" charset="0"/>
        <a:defRPr>
          <a:solidFill>
            <a:srgbClr val="132767"/>
          </a:solidFill>
          <a:latin typeface="+mn-lt"/>
          <a:ea typeface="+mn-ea"/>
        </a:defRPr>
      </a:lvl3pPr>
      <a:lvl4pPr marL="2400300" indent="-342900" algn="l" defTabSz="685800" rtl="0" eaLnBrk="0" fontAlgn="base" hangingPunct="0">
        <a:spcBef>
          <a:spcPts val="750"/>
        </a:spcBef>
        <a:spcAft>
          <a:spcPct val="0"/>
        </a:spcAft>
        <a:buClr>
          <a:srgbClr val="000000"/>
        </a:buClr>
        <a:buSzPct val="100000"/>
        <a:buFont typeface="Times New Roman" panose="02020603050405020304" pitchFamily="18" charset="0"/>
        <a:defRPr sz="3000">
          <a:solidFill>
            <a:srgbClr val="132767"/>
          </a:solidFill>
          <a:latin typeface="+mn-lt"/>
          <a:ea typeface="+mn-ea"/>
        </a:defRPr>
      </a:lvl4pPr>
      <a:lvl5pPr marL="3086100" indent="-342900" algn="l" defTabSz="685800" rtl="0" eaLnBrk="0" fontAlgn="base" hangingPunct="0">
        <a:spcBef>
          <a:spcPts val="750"/>
        </a:spcBef>
        <a:spcAft>
          <a:spcPct val="0"/>
        </a:spcAft>
        <a:buClr>
          <a:srgbClr val="000000"/>
        </a:buClr>
        <a:buSzPct val="100000"/>
        <a:buFont typeface="Times New Roman" panose="02020603050405020304" pitchFamily="18" charset="0"/>
        <a:defRPr sz="3000">
          <a:solidFill>
            <a:srgbClr val="132767"/>
          </a:solidFill>
          <a:latin typeface="+mn-lt"/>
          <a:ea typeface="+mn-ea"/>
        </a:defRPr>
      </a:lvl5pPr>
      <a:lvl6pPr marL="3771900" indent="-342900" algn="l" defTabSz="685800" rtl="0" eaLnBrk="0" fontAlgn="base" hangingPunct="0">
        <a:spcBef>
          <a:spcPts val="750"/>
        </a:spcBef>
        <a:spcAft>
          <a:spcPct val="0"/>
        </a:spcAft>
        <a:buClr>
          <a:srgbClr val="000000"/>
        </a:buClr>
        <a:buSzPct val="100000"/>
        <a:buFont typeface="Times New Roman" pitchFamily="16" charset="0"/>
        <a:defRPr sz="3000">
          <a:solidFill>
            <a:srgbClr val="132767"/>
          </a:solidFill>
          <a:latin typeface="+mn-lt"/>
          <a:ea typeface="+mn-ea"/>
        </a:defRPr>
      </a:lvl6pPr>
      <a:lvl7pPr marL="4457700" indent="-342900" algn="l" defTabSz="685800" rtl="0" eaLnBrk="0" fontAlgn="base" hangingPunct="0">
        <a:spcBef>
          <a:spcPts val="750"/>
        </a:spcBef>
        <a:spcAft>
          <a:spcPct val="0"/>
        </a:spcAft>
        <a:buClr>
          <a:srgbClr val="000000"/>
        </a:buClr>
        <a:buSzPct val="100000"/>
        <a:buFont typeface="Times New Roman" pitchFamily="16" charset="0"/>
        <a:defRPr sz="3000">
          <a:solidFill>
            <a:srgbClr val="132767"/>
          </a:solidFill>
          <a:latin typeface="+mn-lt"/>
          <a:ea typeface="+mn-ea"/>
        </a:defRPr>
      </a:lvl7pPr>
      <a:lvl8pPr marL="5143500" indent="-342900" algn="l" defTabSz="685800" rtl="0" eaLnBrk="0" fontAlgn="base" hangingPunct="0">
        <a:spcBef>
          <a:spcPts val="750"/>
        </a:spcBef>
        <a:spcAft>
          <a:spcPct val="0"/>
        </a:spcAft>
        <a:buClr>
          <a:srgbClr val="000000"/>
        </a:buClr>
        <a:buSzPct val="100000"/>
        <a:buFont typeface="Times New Roman" pitchFamily="16" charset="0"/>
        <a:defRPr sz="3000">
          <a:solidFill>
            <a:srgbClr val="132767"/>
          </a:solidFill>
          <a:latin typeface="+mn-lt"/>
          <a:ea typeface="+mn-ea"/>
        </a:defRPr>
      </a:lvl8pPr>
      <a:lvl9pPr marL="5829300" indent="-342900" algn="l" defTabSz="685800" rtl="0" eaLnBrk="0" fontAlgn="base" hangingPunct="0">
        <a:spcBef>
          <a:spcPts val="750"/>
        </a:spcBef>
        <a:spcAft>
          <a:spcPct val="0"/>
        </a:spcAft>
        <a:buClr>
          <a:srgbClr val="000000"/>
        </a:buClr>
        <a:buSzPct val="100000"/>
        <a:buFont typeface="Times New Roman" pitchFamily="16" charset="0"/>
        <a:defRPr sz="3000">
          <a:solidFill>
            <a:srgbClr val="132767"/>
          </a:solidFill>
          <a:latin typeface="+mn-lt"/>
          <a:ea typeface="+mn-ea"/>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9.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1.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8.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F2C7F1E-DF47-4F68-8F8B-C2A5CE3A0E34}"/>
              </a:ext>
            </a:extLst>
          </p:cNvPr>
          <p:cNvSpPr>
            <a:spLocks noGrp="1"/>
          </p:cNvSpPr>
          <p:nvPr>
            <p:ph type="title"/>
          </p:nvPr>
        </p:nvSpPr>
        <p:spPr>
          <a:xfrm>
            <a:off x="1219200" y="1853377"/>
            <a:ext cx="16687800" cy="5810768"/>
          </a:xfrm>
        </p:spPr>
        <p:txBody>
          <a:bodyPr/>
          <a:lstStyle/>
          <a:p>
            <a:pPr>
              <a:spcBef>
                <a:spcPts val="1800"/>
              </a:spcBef>
              <a:spcAft>
                <a:spcPts val="1800"/>
              </a:spcAft>
              <a:defRPr/>
            </a:pPr>
            <a:br>
              <a:rPr lang="en-US" sz="9900" dirty="0">
                <a:solidFill>
                  <a:srgbClr val="FF0000"/>
                </a:solidFill>
                <a:latin typeface="Times New Roman" panose="02020603050405020304" pitchFamily="18" charset="0"/>
                <a:cs typeface="Times New Roman" panose="02020603050405020304" pitchFamily="18" charset="0"/>
              </a:rPr>
            </a:br>
            <a:br>
              <a:rPr lang="en-US" sz="9900" dirty="0">
                <a:solidFill>
                  <a:srgbClr val="FF0000"/>
                </a:solidFill>
                <a:latin typeface="Times New Roman" panose="02020603050405020304" pitchFamily="18" charset="0"/>
                <a:cs typeface="Times New Roman" panose="02020603050405020304" pitchFamily="18" charset="0"/>
              </a:rPr>
            </a:br>
            <a:r>
              <a:rPr lang="en-US" sz="9900" dirty="0">
                <a:solidFill>
                  <a:srgbClr val="FF0000"/>
                </a:solidFill>
                <a:cs typeface="Times New Roman" panose="02020603050405020304" pitchFamily="18" charset="0"/>
              </a:rPr>
              <a:t>HỘI NGHỊ </a:t>
            </a:r>
            <a:br>
              <a:rPr lang="en-US" sz="2100" dirty="0">
                <a:solidFill>
                  <a:srgbClr val="FF0000"/>
                </a:solidFill>
                <a:cs typeface="Times New Roman" panose="02020603050405020304" pitchFamily="18" charset="0"/>
              </a:rPr>
            </a:br>
            <a:br>
              <a:rPr lang="en-US" sz="2100" dirty="0">
                <a:solidFill>
                  <a:srgbClr val="FF0000"/>
                </a:solidFill>
                <a:cs typeface="Times New Roman" panose="02020603050405020304" pitchFamily="18" charset="0"/>
              </a:rPr>
            </a:br>
            <a:r>
              <a:rPr lang="en-US" sz="2100" dirty="0">
                <a:solidFill>
                  <a:srgbClr val="FF0000"/>
                </a:solidFill>
                <a:cs typeface="Times New Roman" panose="02020603050405020304" pitchFamily="18" charset="0"/>
              </a:rPr>
              <a:t>         </a:t>
            </a:r>
            <a:r>
              <a:rPr lang="en-US" sz="4000" dirty="0">
                <a:solidFill>
                  <a:srgbClr val="FF0000"/>
                </a:solidFill>
                <a:cs typeface="Times New Roman" panose="02020603050405020304" pitchFamily="18" charset="0"/>
              </a:rPr>
              <a:t>GIỚI THIỆU MỘT SỐ NGHỊ ĐỊNH VÀ THÔNG TƯ HƯỚNG DẪN VỀ CHÍNH SÁCH THUẾ CÓ HIỆU LỰC TỪ 01/01/2026</a:t>
            </a:r>
            <a:br>
              <a:rPr lang="en-US" sz="4000" dirty="0">
                <a:solidFill>
                  <a:srgbClr val="FF0000"/>
                </a:solidFill>
                <a:cs typeface="Times New Roman" panose="02020603050405020304" pitchFamily="18" charset="0"/>
              </a:rPr>
            </a:br>
            <a:endParaRPr lang="en-US" sz="4000" dirty="0">
              <a:solidFill>
                <a:srgbClr val="FF0000"/>
              </a:solidFill>
              <a:cs typeface="Times New Roman" panose="02020603050405020304" pitchFamily="18" charset="0"/>
            </a:endParaRPr>
          </a:p>
        </p:txBody>
      </p:sp>
      <p:sp>
        <p:nvSpPr>
          <p:cNvPr id="11268" name="TextBox 13">
            <a:extLst>
              <a:ext uri="{FF2B5EF4-FFF2-40B4-BE49-F238E27FC236}">
                <a16:creationId xmlns:a16="http://schemas.microsoft.com/office/drawing/2014/main" id="{81495292-1890-4747-8C94-646D7BA5EA2C}"/>
              </a:ext>
            </a:extLst>
          </p:cNvPr>
          <p:cNvSpPr txBox="1">
            <a:spLocks noChangeArrowheads="1"/>
          </p:cNvSpPr>
          <p:nvPr/>
        </p:nvSpPr>
        <p:spPr bwMode="auto">
          <a:xfrm>
            <a:off x="8101013" y="9215615"/>
            <a:ext cx="8074818"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r>
              <a:rPr lang="en-US" altLang="en-US" sz="3300" b="1" i="1">
                <a:solidFill>
                  <a:srgbClr val="FF0000"/>
                </a:solidFill>
                <a:latin typeface="Times New Roman" panose="02020603050405020304" pitchFamily="18" charset="0"/>
                <a:cs typeface="Times New Roman" panose="02020603050405020304" pitchFamily="18" charset="0"/>
              </a:rPr>
              <a:t>Lái Thiêu, ngày 11 tháng 9 năm 2026</a:t>
            </a:r>
            <a:endParaRPr lang="en-US" altLang="en-US" sz="3300">
              <a:solidFill>
                <a:srgbClr val="FF0000"/>
              </a:solidFill>
            </a:endParaRPr>
          </a:p>
        </p:txBody>
      </p:sp>
      <p:sp>
        <p:nvSpPr>
          <p:cNvPr id="11269" name="TextBox 14">
            <a:extLst>
              <a:ext uri="{FF2B5EF4-FFF2-40B4-BE49-F238E27FC236}">
                <a16:creationId xmlns:a16="http://schemas.microsoft.com/office/drawing/2014/main" id="{D2FC3F02-6564-47AE-8E45-2A4BA3AFAC76}"/>
              </a:ext>
            </a:extLst>
          </p:cNvPr>
          <p:cNvSpPr txBox="1">
            <a:spLocks noChangeArrowheads="1"/>
          </p:cNvSpPr>
          <p:nvPr/>
        </p:nvSpPr>
        <p:spPr bwMode="auto">
          <a:xfrm>
            <a:off x="4914901" y="431008"/>
            <a:ext cx="8379620" cy="143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r>
              <a:rPr lang="en-US" altLang="en-US" sz="3000">
                <a:solidFill>
                  <a:srgbClr val="FF0000"/>
                </a:solidFill>
                <a:latin typeface="Times New Roman" panose="02020603050405020304" pitchFamily="18" charset="0"/>
                <a:cs typeface="Times New Roman" panose="02020603050405020304" pitchFamily="18" charset="0"/>
              </a:rPr>
              <a:t>THUẾ THÀNH PHỐ HỒ CHÍ MINH</a:t>
            </a:r>
          </a:p>
          <a:p>
            <a:pPr algn="ctr"/>
            <a:r>
              <a:rPr lang="en-US" altLang="en-US" sz="3000" b="1">
                <a:solidFill>
                  <a:srgbClr val="FF0000"/>
                </a:solidFill>
                <a:latin typeface="Times New Roman" panose="02020603050405020304" pitchFamily="18" charset="0"/>
                <a:cs typeface="Times New Roman" panose="02020603050405020304" pitchFamily="18" charset="0"/>
              </a:rPr>
              <a:t>THUẾ CƠ SỞ 27 THÀNH PHỐ HỒ CHÍ MINH</a:t>
            </a:r>
          </a:p>
          <a:p>
            <a:pPr algn="ctr"/>
            <a:endParaRPr lang="en-US" altLang="en-US" sz="2700">
              <a:solidFill>
                <a:srgbClr val="FFFF00"/>
              </a:solidFill>
            </a:endParaRPr>
          </a:p>
        </p:txBody>
      </p:sp>
      <p:pic>
        <p:nvPicPr>
          <p:cNvPr id="11270" name="Picture 15">
            <a:extLst>
              <a:ext uri="{FF2B5EF4-FFF2-40B4-BE49-F238E27FC236}">
                <a16:creationId xmlns:a16="http://schemas.microsoft.com/office/drawing/2014/main" id="{FB990226-B1F1-4009-BCF7-0BF2B53482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01013" y="1683545"/>
            <a:ext cx="2007395" cy="1859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Straight Connector 16">
            <a:extLst>
              <a:ext uri="{FF2B5EF4-FFF2-40B4-BE49-F238E27FC236}">
                <a16:creationId xmlns:a16="http://schemas.microsoft.com/office/drawing/2014/main" id="{03993102-E865-44FB-A44B-5D98DD97A906}"/>
              </a:ext>
            </a:extLst>
          </p:cNvPr>
          <p:cNvCxnSpPr/>
          <p:nvPr/>
        </p:nvCxnSpPr>
        <p:spPr>
          <a:xfrm>
            <a:off x="7658101" y="1485900"/>
            <a:ext cx="2997995" cy="0"/>
          </a:xfrm>
          <a:prstGeom prst="line">
            <a:avLst/>
          </a:prstGeom>
          <a:ln/>
        </p:spPr>
        <p:style>
          <a:lnRef idx="2">
            <a:schemeClr val="accent2"/>
          </a:lnRef>
          <a:fillRef idx="0">
            <a:schemeClr val="accent2"/>
          </a:fillRef>
          <a:effectRef idx="1">
            <a:schemeClr val="accent2"/>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68449B-69C0-43A5-AF21-01B0FB27167D}"/>
              </a:ext>
            </a:extLst>
          </p:cNvPr>
          <p:cNvSpPr txBox="1"/>
          <p:nvPr/>
        </p:nvSpPr>
        <p:spPr>
          <a:xfrm>
            <a:off x="1828800" y="3467100"/>
            <a:ext cx="14630400" cy="2631490"/>
          </a:xfrm>
          <a:prstGeom prst="rect">
            <a:avLst/>
          </a:prstGeom>
          <a:noFill/>
        </p:spPr>
        <p:txBody>
          <a:bodyPr wrap="square" rtlCol="0">
            <a:spAutoFit/>
          </a:bodyPr>
          <a:lstStyle/>
          <a:p>
            <a:pPr algn="ct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PHẦN I</a:t>
            </a:r>
          </a:p>
          <a:p>
            <a:pPr algn="ctr"/>
            <a:r>
              <a:rPr lang="en-US" sz="4000" dirty="0">
                <a:solidFill>
                  <a:srgbClr val="C10000"/>
                </a:solidFill>
                <a:latin typeface="Arial Bold" panose="020B0704020202020204" pitchFamily="34" charset="0"/>
                <a:ea typeface="Calibri" panose="020F0502020204030204" pitchFamily="34" charset="0"/>
                <a:cs typeface="Arial Bold" panose="020B0704020202020204" pitchFamily="34" charset="0"/>
              </a:rPr>
              <a:t>TỔNG QUAN CÁC VĂN BẢN THUẾ THAY ĐỔI CÓ HIỆU LỰC TRONG TỪ 01/01/2026</a:t>
            </a:r>
          </a:p>
          <a:p>
            <a:pPr algn="ctr"/>
            <a:endParaRPr lang="en-US" sz="4500" b="0" i="0" u="none" strike="noStrike" baseline="0" dirty="0">
              <a:solidFill>
                <a:srgbClr val="C1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3873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4400" b="1">
                <a:solidFill>
                  <a:srgbClr val="990033"/>
                </a:solidFill>
                <a:effectLst>
                  <a:outerShdw blurRad="38100" dist="38100" dir="2700000" algn="tl">
                    <a:srgbClr val="000000">
                      <a:alpha val="43137"/>
                    </a:srgbClr>
                  </a:outerShdw>
                </a:effectLst>
                <a:cs typeface="Times New Roman" pitchFamily="18" charset="0"/>
              </a:rPr>
              <a:t> </a:t>
            </a:r>
            <a:r>
              <a:rPr lang="en-US" sz="4000" b="1">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VĂN BẢN MỚI VỀ CHÍNH SÁCH THUẾ </a:t>
            </a:r>
            <a:endPar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endParaRP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en-US" sz="2700" b="1" i="0" u="none" strike="noStrike" kern="1200" cap="none" spc="0" normalizeH="0" baseline="0" noProof="0">
                <a:ln>
                  <a:noFill/>
                </a:ln>
                <a:solidFill>
                  <a:srgbClr val="FFFFFF"/>
                </a:solidFill>
                <a:effectLst/>
                <a:uLnTx/>
                <a:uFillTx/>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en-US" sz="2700" b="1" i="0" u="none" strike="noStrike" kern="1200" cap="none" spc="0" normalizeH="0" baseline="0" noProof="0">
                <a:ln>
                  <a:noFill/>
                </a:ln>
                <a:solidFill>
                  <a:srgbClr val="FFFFFF"/>
                </a:solidFill>
                <a:effectLst/>
                <a:uLnTx/>
                <a:uFillTx/>
                <a:latin typeface="Times New Roman" pitchFamily="18" charset="0"/>
                <a:ea typeface="Microsoft YaHei"/>
                <a:cs typeface="Times New Roman" pitchFamily="18" charset="0"/>
              </a:rPr>
              <a:t>2</a:t>
            </a:r>
          </a:p>
        </p:txBody>
      </p:sp>
      <p:sp>
        <p:nvSpPr>
          <p:cNvPr id="11" name="TextBox 10">
            <a:extLst>
              <a:ext uri="{FF2B5EF4-FFF2-40B4-BE49-F238E27FC236}">
                <a16:creationId xmlns:a16="http://schemas.microsoft.com/office/drawing/2014/main" id="{40885057-C542-4EFD-8C95-E1E9008B2F82}"/>
              </a:ext>
            </a:extLst>
          </p:cNvPr>
          <p:cNvSpPr txBox="1"/>
          <p:nvPr/>
        </p:nvSpPr>
        <p:spPr>
          <a:xfrm>
            <a:off x="2514600" y="2412674"/>
            <a:ext cx="13258800" cy="3836050"/>
          </a:xfrm>
          <a:prstGeom prst="rect">
            <a:avLst/>
          </a:prstGeom>
          <a:noFill/>
        </p:spPr>
        <p:txBody>
          <a:bodyPr wrap="square">
            <a:spAutoFit/>
          </a:bodyPr>
          <a:lstStyle/>
          <a:p>
            <a:pPr algn="just">
              <a:lnSpc>
                <a:spcPct val="107000"/>
              </a:lnSpc>
              <a:spcBef>
                <a:spcPts val="750"/>
              </a:spcBef>
              <a:spcAft>
                <a:spcPts val="800"/>
              </a:spcAf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1. Luật Quản lý thuế</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0" lvl="1" indent="45720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 Quản lý thuế số 108/2025/QH15: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Được Quốc hội thông qua ngày 10/12/2025.</a:t>
            </a:r>
          </a:p>
          <a:p>
            <a:pPr marL="0" lvl="1" indent="45720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Hiệu lực thi hành:</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01/07/2026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indent="457200" algn="just">
              <a:lnSpc>
                <a:spcPct val="107000"/>
              </a:lnSpc>
              <a:spcAft>
                <a:spcPts val="800"/>
              </a:spcAft>
            </a:pP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Các quy định dành cho hộ kinh doanh, cá nhân kinh doanh về khai thuế, khoản thu khác; tính thuế, khoản thu khác; khấu trừ thuế tại Điều 13 và việc sử dụng hóa đơn điện tử tại Điều 26 của Luật này có hiệu lực thi hành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7" name="TextBox 6">
            <a:extLst>
              <a:ext uri="{FF2B5EF4-FFF2-40B4-BE49-F238E27FC236}">
                <a16:creationId xmlns:a16="http://schemas.microsoft.com/office/drawing/2014/main" id="{F3644713-C507-49B4-8CC7-3943939CB653}"/>
              </a:ext>
            </a:extLst>
          </p:cNvPr>
          <p:cNvSpPr txBox="1"/>
          <p:nvPr/>
        </p:nvSpPr>
        <p:spPr>
          <a:xfrm>
            <a:off x="2400300" y="6259930"/>
            <a:ext cx="13258800" cy="3785652"/>
          </a:xfrm>
          <a:prstGeom prst="rect">
            <a:avLst/>
          </a:prstGeom>
          <a:noFill/>
        </p:spPr>
        <p:txBody>
          <a:bodyPr wrap="square" rtlCol="0">
            <a:spAutoFit/>
          </a:bodyPr>
          <a:lstStyle/>
          <a:p>
            <a:r>
              <a:rPr lang="en-US" sz="300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b="1">
                <a:solidFill>
                  <a:srgbClr val="002060"/>
                </a:solidFill>
                <a:latin typeface="Calibri" panose="020F0502020204030204" pitchFamily="34" charset="0"/>
                <a:ea typeface="Calibri" panose="020F0502020204030204" pitchFamily="34" charset="0"/>
                <a:cs typeface="Calibri" panose="020F0502020204030204" pitchFamily="34" charset="0"/>
              </a:rPr>
              <a:t> Các Nghị định chính hướng dẫn thi hành Luật Quản lý thuế số 108/2025/QH15</a:t>
            </a:r>
            <a:r>
              <a:rPr lang="en-US" sz="3000">
                <a:solidFill>
                  <a:srgbClr val="002060"/>
                </a:solidFill>
                <a:latin typeface="Calibri" panose="020F0502020204030204" pitchFamily="34" charset="0"/>
                <a:ea typeface="Calibri" panose="020F0502020204030204" pitchFamily="34" charset="0"/>
                <a:cs typeface="Calibri" panose="020F0502020204030204" pitchFamily="34" charset="0"/>
              </a:rPr>
              <a:t>:</a:t>
            </a:r>
          </a:p>
          <a:p>
            <a:pPr algn="just"/>
            <a:r>
              <a:rPr lang="en-US" sz="3000">
                <a:solidFill>
                  <a:srgbClr val="002060"/>
                </a:solidFill>
                <a:latin typeface="Calibri" panose="020F0502020204030204" pitchFamily="34" charset="0"/>
                <a:ea typeface="Calibri" panose="020F0502020204030204" pitchFamily="34" charset="0"/>
                <a:cs typeface="Calibri" panose="020F0502020204030204" pitchFamily="34" charset="0"/>
              </a:rPr>
              <a:t>       - Nghị định 252/2026/NĐ-CP ngày 30/06/2026 quy định chi tiết một số điều và biện pháp tổ chức thi hành Luật Quản lý thuế</a:t>
            </a:r>
          </a:p>
          <a:p>
            <a:pPr algn="just"/>
            <a:r>
              <a:rPr lang="en-US" sz="3000">
                <a:solidFill>
                  <a:srgbClr val="002060"/>
                </a:solidFill>
                <a:latin typeface="Calibri" panose="020F0502020204030204" pitchFamily="34" charset="0"/>
                <a:ea typeface="Calibri" panose="020F0502020204030204" pitchFamily="34" charset="0"/>
                <a:cs typeface="Calibri" panose="020F0502020204030204" pitchFamily="34" charset="0"/>
              </a:rPr>
              <a:t>       - Nghị định 254/2026/NĐ-CP ngày 30/06/2026 hướng dẫn thi hành Luật Quản lý thuế về hóa đơn điện tử và chứng từ điện tử</a:t>
            </a:r>
          </a:p>
          <a:p>
            <a:pPr algn="just"/>
            <a:r>
              <a:rPr lang="en-US" sz="3000">
                <a:solidFill>
                  <a:srgbClr val="002060"/>
                </a:solidFill>
                <a:latin typeface="Calibri" panose="020F0502020204030204" pitchFamily="34" charset="0"/>
                <a:ea typeface="Calibri" panose="020F0502020204030204" pitchFamily="34" charset="0"/>
                <a:cs typeface="Calibri" panose="020F0502020204030204" pitchFamily="34" charset="0"/>
              </a:rPr>
              <a:t>       - Nghị định 141/2026/NĐ-CP và Nghị định 68/2026/NĐ-CP quy định và sửa đổi bổ sung các chính sách, thủ tục quản lý thuế đối với hộ kinh doanh, cá nhân kinh doanh.</a:t>
            </a:r>
          </a:p>
        </p:txBody>
      </p:sp>
    </p:spTree>
    <p:extLst>
      <p:ext uri="{BB962C8B-B14F-4D97-AF65-F5344CB8AC3E}">
        <p14:creationId xmlns:p14="http://schemas.microsoft.com/office/powerpoint/2010/main" val="367091786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E409-8056-4401-B08A-B3BD88ACC726}"/>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VĂN BẢN MỚI VỀ CHÍNH SÁCH THUẾ </a:t>
            </a:r>
            <a:endParaRPr lang="en-US" sz="4000">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708F3338-A2DD-43ED-96F8-BA22F83DF13E}"/>
              </a:ext>
            </a:extLst>
          </p:cNvPr>
          <p:cNvSpPr>
            <a:spLocks noGrp="1"/>
          </p:cNvSpPr>
          <p:nvPr>
            <p:ph idx="1"/>
          </p:nvPr>
        </p:nvSpPr>
        <p:spPr/>
        <p:txBody>
          <a:bodyPr/>
          <a:lstStyle/>
          <a:p>
            <a:pPr algn="just">
              <a:lnSpc>
                <a:spcPct val="107000"/>
              </a:lnSpc>
              <a:spcBef>
                <a:spcPts val="750"/>
              </a:spcBef>
              <a:spcAft>
                <a:spcPts val="800"/>
              </a:spcAf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2. Thuế Giá trị gia tăng (GTGT)</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 sửa đổi, bổ sung một số điều của Luật Thuế GTGT số 149/2025/QH15: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Được Quốc hội thông qua ngày 11/12/2025. Có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 định số 359/2025/NĐ-CP ngày 31/12/2025: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Sửa đổi, bổ sung một số điều của Nghị định số 181/2025/NĐ-CP quy định chi tiết thi hành một số điều của Luật thuế GTGT.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Thông tư 69/2025/TT-BTC hướng dẫn Luật Thuế giá trị gia tăng và hướng dẫn thực hiện Nghị định 181/2025/NĐ-CP.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01/07/2025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 định số 174/2025/NĐ-CP ngày 30/06/2025: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Quy định chính sách giảm thuế GTGT theo Nghị quyết số 204/2025/QH15.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01/07/2025 đến hết ngày 31/12/2026</a:t>
            </a: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US" sz="3000">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2121804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B9811-D554-41DE-9001-0DCFB2F81A7B}"/>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VĂN BẢN MỚI VỀ CHÍNH SÁCH THUẾ </a:t>
            </a:r>
          </a:p>
        </p:txBody>
      </p:sp>
      <p:sp>
        <p:nvSpPr>
          <p:cNvPr id="3" name="Content Placeholder 2">
            <a:extLst>
              <a:ext uri="{FF2B5EF4-FFF2-40B4-BE49-F238E27FC236}">
                <a16:creationId xmlns:a16="http://schemas.microsoft.com/office/drawing/2014/main" id="{8E0F18DE-A38F-4B36-AF1B-553A6AE582B5}"/>
              </a:ext>
            </a:extLst>
          </p:cNvPr>
          <p:cNvSpPr>
            <a:spLocks noGrp="1"/>
          </p:cNvSpPr>
          <p:nvPr>
            <p:ph idx="1"/>
          </p:nvPr>
        </p:nvSpPr>
        <p:spPr>
          <a:xfrm>
            <a:off x="914401" y="1828801"/>
            <a:ext cx="16456026" cy="8458199"/>
          </a:xfrm>
        </p:spPr>
        <p:txBody>
          <a:bodyPr/>
          <a:lstStyle/>
          <a:p>
            <a:pPr algn="just">
              <a:spcBef>
                <a:spcPts val="750"/>
              </a:spcBef>
              <a:spcAft>
                <a:spcPts val="800"/>
              </a:spcAft>
            </a:pP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3. Thuế Thu nhập doanh nghiệp (TNDN)</a:t>
            </a:r>
            <a:endPar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spcAft>
                <a:spcPts val="800"/>
              </a:spcAft>
              <a:buSzPts val="1000"/>
              <a:buFont typeface="Courier New" panose="02070309020205020404" pitchFamily="49" charset="0"/>
              <a:buChar char="o"/>
              <a:tabLst>
                <a:tab pos="914400" algn="l"/>
              </a:tabLst>
            </a:pP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 Thuế TNDN số 67/2025/QH15:</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Được Quốc hội thông qua ngày 14/6/2025. Hiệu lực từ ngày </a:t>
            </a: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01/10/2025</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và áp dụng từ kỳ tính thuế TNDN năm 2025.</a:t>
            </a:r>
          </a:p>
          <a:p>
            <a:pPr marL="742950" lvl="1" indent="-285750" algn="just">
              <a:spcAft>
                <a:spcPts val="800"/>
              </a:spcAft>
              <a:buSzPts val="1000"/>
              <a:buFont typeface="Courier New" panose="02070309020205020404" pitchFamily="49" charset="0"/>
              <a:buChar char="o"/>
              <a:tabLst>
                <a:tab pos="914400" algn="l"/>
              </a:tabLst>
            </a:pP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 định số 320/2025/NĐ-CP ngày 15/12/2025:</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Quy định chi tiết một số điều và biện pháp tổ chức, hướng dẫn thi hành Luật Thuế TNDN. Hiệu lực từ ngày </a:t>
            </a: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15/12/2025</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và áp dụng từ kỳ tính thuế TNDN năm 2025.</a:t>
            </a:r>
          </a:p>
          <a:p>
            <a:pPr marL="457200" algn="just">
              <a:spcAft>
                <a:spcPts val="800"/>
              </a:spcAft>
            </a:pP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Các quy định về chứng từ thanh toán không dùng tiền mặt (tại Khoản 1 Điều 9) và chuyển nhượng vốn (tại Khoản 3 Điều 12) áp dụng từ ngày </a:t>
            </a: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15/12/2025</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algn="just">
              <a:spcBef>
                <a:spcPts val="750"/>
              </a:spcBef>
              <a:spcAft>
                <a:spcPts val="800"/>
              </a:spcAft>
            </a:pP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4. Thuế Thu nhập cá nhân (TNCN)</a:t>
            </a:r>
            <a:endPar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spcAft>
                <a:spcPts val="800"/>
              </a:spcAft>
              <a:buSzPts val="1000"/>
              <a:buFont typeface="Courier New" panose="02070309020205020404" pitchFamily="49" charset="0"/>
              <a:buChar char="o"/>
              <a:tabLst>
                <a:tab pos="914400" algn="l"/>
              </a:tabLst>
            </a:pP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 Thuế TNCN số 109/2025/QH15:</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Được Quốc hội thông qua ngày 10/12/2025. </a:t>
            </a: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Hiệu lực thi hành:</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Từ ngày </a:t>
            </a: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01/07/2026</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457200" algn="just">
              <a:spcAft>
                <a:spcPts val="800"/>
              </a:spcAft>
            </a:pP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Các quy định liên quan đến thu nhập từ kinh doanh, tiền lương, tiền công của cá nhân cư trú áp dụng từ </a:t>
            </a:r>
            <a:r>
              <a:rPr lang="en-US" sz="2900" b="1">
                <a:solidFill>
                  <a:srgbClr val="002060"/>
                </a:solidFill>
                <a:effectLst/>
                <a:latin typeface="Calibri" panose="020F0502020204030204" pitchFamily="34" charset="0"/>
                <a:ea typeface="Calibri" panose="020F0502020204030204" pitchFamily="34" charset="0"/>
                <a:cs typeface="Calibri" panose="020F0502020204030204" pitchFamily="34" charset="0"/>
              </a:rPr>
              <a:t>kỳ tính thuế năm 2026</a:t>
            </a: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457200" algn="just">
              <a:spcAft>
                <a:spcPts val="800"/>
              </a:spcAft>
            </a:pPr>
            <a:r>
              <a:rPr lang="en-US" sz="2900">
                <a:solidFill>
                  <a:srgbClr val="002060"/>
                </a:solidFill>
                <a:effectLst/>
                <a:latin typeface="Calibri" panose="020F0502020204030204" pitchFamily="34" charset="0"/>
                <a:ea typeface="Calibri" panose="020F0502020204030204" pitchFamily="34" charset="0"/>
                <a:cs typeface="Calibri" panose="020F0502020204030204" pitchFamily="34" charset="0"/>
              </a:rPr>
              <a:t>     Nghị định 253/2026/NĐ-CP ngày 30/06/2026 quy định chi tiết một số điều và biện pháp để tổ chức, hướng dẫn thi hành Luật Thuế thu nhập cá nhân.</a:t>
            </a:r>
          </a:p>
          <a:p>
            <a:pPr marL="457200" algn="just">
              <a:lnSpc>
                <a:spcPct val="107000"/>
              </a:lnSpc>
              <a:spcAft>
                <a:spcPts val="800"/>
              </a:spcAft>
            </a:pPr>
            <a:endPar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457200" algn="just">
              <a:lnSpc>
                <a:spcPct val="107000"/>
              </a:lnSpc>
              <a:spcAft>
                <a:spcPts val="800"/>
              </a:spcAft>
            </a:pPr>
            <a:endParaRPr lang="en-US" sz="3000">
              <a:latin typeface="Calibri" panose="020F0502020204030204" pitchFamily="34" charset="0"/>
              <a:ea typeface="Calibri" panose="020F0502020204030204" pitchFamily="34" charset="0"/>
              <a:cs typeface="Calibri" panose="020F0502020204030204" pitchFamily="34" charset="0"/>
            </a:endParaRPr>
          </a:p>
          <a:p>
            <a:pPr marL="457200" algn="just">
              <a:lnSpc>
                <a:spcPct val="107000"/>
              </a:lnSpc>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3000">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21434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8B81-F3C3-450C-B611-AFE43D5E6E5F}"/>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VĂN BẢN MỚI VỀ CHÍNH SÁCH THUẾ  </a:t>
            </a:r>
          </a:p>
        </p:txBody>
      </p:sp>
      <p:sp>
        <p:nvSpPr>
          <p:cNvPr id="4" name="Content Placeholder 3">
            <a:extLst>
              <a:ext uri="{FF2B5EF4-FFF2-40B4-BE49-F238E27FC236}">
                <a16:creationId xmlns:a16="http://schemas.microsoft.com/office/drawing/2014/main" id="{BA2FCD54-A92A-4848-8250-DC72C48B4566}"/>
              </a:ext>
            </a:extLst>
          </p:cNvPr>
          <p:cNvSpPr>
            <a:spLocks noGrp="1"/>
          </p:cNvSpPr>
          <p:nvPr>
            <p:ph idx="1"/>
          </p:nvPr>
        </p:nvSpPr>
        <p:spPr/>
        <p:txBody>
          <a:bodyPr/>
          <a:lstStyle/>
          <a:p>
            <a:pPr algn="just">
              <a:lnSpc>
                <a:spcPct val="107000"/>
              </a:lnSpc>
              <a:spcBef>
                <a:spcPts val="750"/>
              </a:spcBef>
              <a:spcAft>
                <a:spcPts val="800"/>
              </a:spcAf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5. Thuế Tiêu thụ đặc biệt (TTĐB)</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 Thuế TTĐB số 66/2025/QH15: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Được Quốc hội thông qua ngày 14/6/2025.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        Nghị định số 360/2025/NĐ-CP ngày 31/12/2025: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Quy định chi tiết thi hành một số điều của Luật    Thuế TTĐB.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01/01/2026.</a:t>
            </a:r>
          </a:p>
          <a:p>
            <a:pPr algn="just">
              <a:lnSpc>
                <a:spcPct val="107000"/>
              </a:lnSpc>
              <a:spcBef>
                <a:spcPts val="750"/>
              </a:spcBef>
              <a:spcAft>
                <a:spcPts val="800"/>
              </a:spcAf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6. Xử phạt vi phạm hành chính</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 định số 310/2025/NĐ-CP ngày 02/12/2025:</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Sửa đổi, bổ sung một số điều của Nghị định số 125/2020/NĐ-CP về xử phạt vi phạm hành chính về thuế, hóa đơn.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16/01/2026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 định số 02/2026/NĐ-CP ngày 01/01/2026: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Quy định xử phạt vi phạm hành chính trong lĩnh vực phí và lệ phí. Hiệu lực từ ngày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endParaRPr lang="en-US"/>
          </a:p>
        </p:txBody>
      </p:sp>
    </p:spTree>
    <p:extLst>
      <p:ext uri="{BB962C8B-B14F-4D97-AF65-F5344CB8AC3E}">
        <p14:creationId xmlns:p14="http://schemas.microsoft.com/office/powerpoint/2010/main" val="520507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8512A-0672-405B-BE2B-900F3F6E9515}"/>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VĂN BẢN MỚI VỀ CHÍNH SÁCH THUẾ  </a:t>
            </a:r>
            <a:endParaRPr lang="en-US" sz="4000">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2E8AC5C2-EB01-45B6-A0F3-13177F54FCF2}"/>
              </a:ext>
            </a:extLst>
          </p:cNvPr>
          <p:cNvSpPr>
            <a:spLocks noGrp="1"/>
          </p:cNvSpPr>
          <p:nvPr>
            <p:ph idx="1"/>
          </p:nvPr>
        </p:nvSpPr>
        <p:spPr/>
        <p:txBody>
          <a:bodyPr/>
          <a:lstStyle/>
          <a:p>
            <a:pPr algn="just">
              <a:lnSpc>
                <a:spcPct val="107000"/>
              </a:lnSpc>
              <a:spcBef>
                <a:spcPts val="750"/>
              </a:spcBef>
              <a:spcAft>
                <a:spcPts val="800"/>
              </a:spcAf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7. Quản lý Thuế đối với Hộ kinh doanh:</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 định 117/2025/NĐ-CP ngày 09/06/2025: </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quy định quản lý thuế đối với hoạt động kinh doanh trên nền tảng thương mại điện tử, nền tảng số của hộ, cá nhân. Hiệu lực từ </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01/07/2025;</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 tư 152/2025/TT-BTC ngày 31/12/2025: </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hướng dẫn kế toán cho các hộ kinh doanh, cá nhân kinh doanh. Hiệu lực từ ngày</a:t>
            </a: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 01/01/2026.</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Quyết định 3789/QĐ-CT ngày 31/12/2025 của Cục Thuế </a:t>
            </a:r>
            <a:r>
              <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về Chương trình Đồng hành cùng hộ kinh doanh, cá nhân kinh doanh trong tuân thủ pháp luật thuế.</a:t>
            </a: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i="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(Nghị định quy định về quản lý thuế đối với Hộ kinh doanh, cá nhân kinh doanh - </a:t>
            </a:r>
            <a:r>
              <a:rPr lang="en-US" sz="3000" b="1" i="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đang Dự thảo, chờ ban hành)</a:t>
            </a:r>
            <a:endPar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4097955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0158C-1721-4D6B-9CD2-D904D9B8BE33}"/>
              </a:ext>
            </a:extLst>
          </p:cNvPr>
          <p:cNvSpPr>
            <a:spLocks noGrp="1"/>
          </p:cNvSpPr>
          <p:nvPr>
            <p:ph type="title"/>
          </p:nvPr>
        </p:nvSpPr>
        <p:spPr>
          <a:xfrm>
            <a:off x="914401" y="914401"/>
            <a:ext cx="16456026" cy="730250"/>
          </a:xfrm>
        </p:spPr>
        <p:txBody>
          <a:bodyPr/>
          <a:lstStyle/>
          <a:p>
            <a:r>
              <a:rPr lang="en-US" sz="4000">
                <a:solidFill>
                  <a:schemeClr val="accent6">
                    <a:lumMod val="50000"/>
                  </a:schemeClr>
                </a:solidFill>
                <a:latin typeface="Arial Bold" panose="020B0704020202020204" pitchFamily="34" charset="0"/>
                <a:cs typeface="Arial Bold" panose="020B0704020202020204" pitchFamily="34" charset="0"/>
              </a:rPr>
              <a:t>VĂN BẢN MỚI VỀ CHÍNH SÁCH THUẾ </a:t>
            </a:r>
          </a:p>
        </p:txBody>
      </p:sp>
      <p:sp>
        <p:nvSpPr>
          <p:cNvPr id="3" name="Content Placeholder 2">
            <a:extLst>
              <a:ext uri="{FF2B5EF4-FFF2-40B4-BE49-F238E27FC236}">
                <a16:creationId xmlns:a16="http://schemas.microsoft.com/office/drawing/2014/main" id="{F7188159-C67F-4136-BD10-98D65FBF6227}"/>
              </a:ext>
            </a:extLst>
          </p:cNvPr>
          <p:cNvSpPr>
            <a:spLocks noGrp="1"/>
          </p:cNvSpPr>
          <p:nvPr>
            <p:ph idx="1"/>
          </p:nvPr>
        </p:nvSpPr>
        <p:spPr/>
        <p:txBody>
          <a:bodyPr/>
          <a:lstStyle/>
          <a:p>
            <a:pPr algn="just">
              <a:lnSpc>
                <a:spcPct val="107000"/>
              </a:lnSpc>
              <a:spcBef>
                <a:spcPts val="750"/>
              </a:spcBef>
              <a:spcAft>
                <a:spcPts val="800"/>
              </a:spcAft>
            </a:pP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8. Các quy định khác</a:t>
            </a:r>
            <a:endPar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Thuế bảo vệ môi trường:</a:t>
            </a:r>
            <a:r>
              <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 Nghị định số 109/2025/NĐ-CP ngày 17/10/2025 về mức thuế bảo vệ môi trường đối với xăng, dầu, mỡ nhờn. Hiệu lực từ </a:t>
            </a: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Thuế đất nông nghiệp:</a:t>
            </a:r>
            <a:r>
              <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 Nghị định số 292/2025/NĐ-CP ngày 06/11/2025 hướng dẫn kéo dài thời hạn miễn thuế sử dụng đất nông nghiệp. Hiệu lực từ </a:t>
            </a: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just">
              <a:lnSpc>
                <a:spcPct val="107000"/>
              </a:lnSpc>
              <a:spcAft>
                <a:spcPts val="800"/>
              </a:spcAft>
              <a:buSzPts val="1000"/>
              <a:buFont typeface="Courier New" panose="02070309020205020404" pitchFamily="49" charset="0"/>
              <a:buChar char="o"/>
              <a:tabLst>
                <a:tab pos="914400" algn="l"/>
              </a:tabLst>
            </a:pP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Luật Phí và lệ phí:</a:t>
            </a:r>
            <a:r>
              <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 Nghị định số 362/2025/NĐ-CP ngày 31/12/2025 hướng dẫn thi hành Luật Phí và lệ phí. Hiệu lực từ </a:t>
            </a: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01/01/2026</a:t>
            </a:r>
            <a:r>
              <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a:t>
            </a:r>
          </a:p>
          <a:p>
            <a:pPr>
              <a:lnSpc>
                <a:spcPct val="107000"/>
              </a:lnSpc>
              <a:spcAft>
                <a:spcPts val="800"/>
              </a:spcAft>
            </a:pPr>
            <a:r>
              <a:rPr lang="en-US" sz="3000">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 </a:t>
            </a:r>
          </a:p>
          <a:p>
            <a:endParaRPr lang="en-US"/>
          </a:p>
        </p:txBody>
      </p:sp>
    </p:spTree>
    <p:extLst>
      <p:ext uri="{BB962C8B-B14F-4D97-AF65-F5344CB8AC3E}">
        <p14:creationId xmlns:p14="http://schemas.microsoft.com/office/powerpoint/2010/main" val="1761079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a:extLst>
              <a:ext uri="{FF2B5EF4-FFF2-40B4-BE49-F238E27FC236}">
                <a16:creationId xmlns:a16="http://schemas.microsoft.com/office/drawing/2014/main" id="{280B7357-2658-6721-F838-7AD529A3CF04}"/>
              </a:ext>
            </a:extLst>
          </p:cNvPr>
          <p:cNvGrpSpPr>
            <a:grpSpLocks/>
          </p:cNvGrpSpPr>
          <p:nvPr/>
        </p:nvGrpSpPr>
        <p:grpSpPr bwMode="auto">
          <a:xfrm>
            <a:off x="1133477" y="2017484"/>
            <a:ext cx="14849474" cy="5869216"/>
            <a:chOff x="-1057257" y="-4088492"/>
            <a:chExt cx="23638806" cy="12610285"/>
          </a:xfrm>
        </p:grpSpPr>
        <p:sp>
          <p:nvSpPr>
            <p:cNvPr id="9231" name="Freeform 3">
              <a:extLst>
                <a:ext uri="{FF2B5EF4-FFF2-40B4-BE49-F238E27FC236}">
                  <a16:creationId xmlns:a16="http://schemas.microsoft.com/office/drawing/2014/main" id="{1C368FAD-084E-2F75-B1F6-868C97F7B2A7}"/>
                </a:ext>
              </a:extLst>
            </p:cNvPr>
            <p:cNvSpPr>
              <a:spLocks/>
            </p:cNvSpPr>
            <p:nvPr/>
          </p:nvSpPr>
          <p:spPr bwMode="auto">
            <a:xfrm>
              <a:off x="0" y="0"/>
              <a:ext cx="16754822" cy="5765852"/>
            </a:xfrm>
            <a:custGeom>
              <a:avLst/>
              <a:gdLst>
                <a:gd name="T0" fmla="*/ 0 w 16754822"/>
                <a:gd name="T1" fmla="*/ 0 h 5765852"/>
                <a:gd name="T2" fmla="*/ 16754822 w 16754822"/>
                <a:gd name="T3" fmla="*/ 0 h 5765852"/>
                <a:gd name="T4" fmla="*/ 16754822 w 16754822"/>
                <a:gd name="T5" fmla="*/ 5765852 h 5765852"/>
                <a:gd name="T6" fmla="*/ 0 w 16754822"/>
                <a:gd name="T7" fmla="*/ 5765852 h 5765852"/>
                <a:gd name="T8" fmla="*/ 0 w 16754822"/>
                <a:gd name="T9" fmla="*/ 0 h 57658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54822" h="5765852">
                  <a:moveTo>
                    <a:pt x="0" y="0"/>
                  </a:moveTo>
                  <a:lnTo>
                    <a:pt x="16754822" y="0"/>
                  </a:lnTo>
                  <a:lnTo>
                    <a:pt x="16754822" y="5765852"/>
                  </a:lnTo>
                  <a:lnTo>
                    <a:pt x="0" y="5765852"/>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600"/>
            </a:p>
          </p:txBody>
        </p:sp>
        <p:sp>
          <p:nvSpPr>
            <p:cNvPr id="9232" name="TextBox 4">
              <a:extLst>
                <a:ext uri="{FF2B5EF4-FFF2-40B4-BE49-F238E27FC236}">
                  <a16:creationId xmlns:a16="http://schemas.microsoft.com/office/drawing/2014/main" id="{43F73E29-F788-8020-0D4F-D85E12CD731A}"/>
                </a:ext>
              </a:extLst>
            </p:cNvPr>
            <p:cNvSpPr txBox="1">
              <a:spLocks noChangeArrowheads="1"/>
            </p:cNvSpPr>
            <p:nvPr/>
          </p:nvSpPr>
          <p:spPr bwMode="auto">
            <a:xfrm>
              <a:off x="-1057257" y="-4088492"/>
              <a:ext cx="23638806" cy="1261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457200">
                <a:spcBef>
                  <a:spcPct val="20000"/>
                </a:spcBef>
                <a:buFont typeface="Arial" panose="020B0604020202020204" pitchFamily="34" charset="0"/>
                <a:buChar char="•"/>
                <a:defRPr sz="1600">
                  <a:solidFill>
                    <a:schemeClr val="tx1"/>
                  </a:solidFill>
                  <a:latin typeface="Calibri" panose="020F0502020204030204" pitchFamily="34" charset="0"/>
                </a:defRPr>
              </a:lvl1pPr>
              <a:lvl2pPr marL="371475" indent="-142875" defTabSz="457200">
                <a:spcBef>
                  <a:spcPct val="20000"/>
                </a:spcBef>
                <a:buFont typeface="Arial" panose="020B0604020202020204" pitchFamily="34" charset="0"/>
                <a:buChar char="–"/>
                <a:defRPr sz="1400">
                  <a:solidFill>
                    <a:schemeClr val="tx1"/>
                  </a:solidFill>
                  <a:latin typeface="Calibri" panose="020F0502020204030204" pitchFamily="34" charset="0"/>
                </a:defRPr>
              </a:lvl2pPr>
              <a:lvl3pPr marL="571500" indent="-114300" defTabSz="457200">
                <a:spcBef>
                  <a:spcPct val="20000"/>
                </a:spcBef>
                <a:buFont typeface="Arial" panose="020B0604020202020204" pitchFamily="34" charset="0"/>
                <a:buChar char="•"/>
                <a:defRPr sz="1200">
                  <a:solidFill>
                    <a:schemeClr val="tx1"/>
                  </a:solidFill>
                  <a:latin typeface="Calibri" panose="020F0502020204030204" pitchFamily="34" charset="0"/>
                </a:defRPr>
              </a:lvl3pPr>
              <a:lvl4pPr marL="800100" indent="-114300" defTabSz="457200">
                <a:spcBef>
                  <a:spcPct val="20000"/>
                </a:spcBef>
                <a:buFont typeface="Arial" panose="020B0604020202020204" pitchFamily="34" charset="0"/>
                <a:buChar char="–"/>
                <a:defRPr sz="1000">
                  <a:solidFill>
                    <a:schemeClr val="tx1"/>
                  </a:solidFill>
                  <a:latin typeface="Calibri" panose="020F0502020204030204" pitchFamily="34" charset="0"/>
                </a:defRPr>
              </a:lvl4pPr>
              <a:lvl5pPr marL="1028700" indent="-114300" defTabSz="457200">
                <a:spcBef>
                  <a:spcPct val="20000"/>
                </a:spcBef>
                <a:buFont typeface="Arial" panose="020B0604020202020204" pitchFamily="34" charset="0"/>
                <a:buChar char="»"/>
                <a:defRPr sz="1000">
                  <a:solidFill>
                    <a:schemeClr val="tx1"/>
                  </a:solidFill>
                  <a:latin typeface="Calibri" panose="020F0502020204030204" pitchFamily="34" charset="0"/>
                </a:defRPr>
              </a:lvl5pPr>
              <a:lvl6pPr marL="1485900" indent="-114300" defTabSz="457200" eaLnBrk="0" fontAlgn="base" hangingPunct="0">
                <a:spcBef>
                  <a:spcPct val="20000"/>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1943100" indent="-114300" defTabSz="457200" eaLnBrk="0" fontAlgn="base" hangingPunct="0">
                <a:spcBef>
                  <a:spcPct val="20000"/>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2400300" indent="-114300" defTabSz="457200" eaLnBrk="0" fontAlgn="base" hangingPunct="0">
                <a:spcBef>
                  <a:spcPct val="20000"/>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2857500" indent="-114300" defTabSz="457200" eaLnBrk="0" fontAlgn="base" hangingPunct="0">
                <a:spcBef>
                  <a:spcPct val="20000"/>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lnSpc>
                  <a:spcPct val="150000"/>
                </a:lnSpc>
                <a:spcBef>
                  <a:spcPct val="0"/>
                </a:spcBef>
                <a:buNone/>
              </a:pPr>
              <a:r>
                <a:rPr lang="en-US" altLang="en-US" sz="4500" b="1" dirty="0">
                  <a:solidFill>
                    <a:srgbClr val="760427"/>
                  </a:solidFill>
                </a:rPr>
                <a:t>GIỚI THIỆU NGHỊ </a:t>
              </a:r>
              <a:r>
                <a:rPr lang="en-US" altLang="en-US" sz="4500" b="1" dirty="0" err="1">
                  <a:solidFill>
                    <a:srgbClr val="760427"/>
                  </a:solidFill>
                </a:rPr>
                <a:t>ĐỊNH</a:t>
              </a:r>
              <a:r>
                <a:rPr lang="en-US" altLang="en-US" sz="4500" b="1" dirty="0">
                  <a:solidFill>
                    <a:srgbClr val="760427"/>
                  </a:solidFill>
                </a:rPr>
                <a:t> </a:t>
              </a:r>
            </a:p>
            <a:p>
              <a:pPr>
                <a:lnSpc>
                  <a:spcPct val="150000"/>
                </a:lnSpc>
                <a:spcBef>
                  <a:spcPct val="0"/>
                </a:spcBef>
                <a:buNone/>
              </a:pPr>
              <a:r>
                <a:rPr lang="en-US" altLang="en-US" sz="4500" b="1" dirty="0" err="1">
                  <a:solidFill>
                    <a:srgbClr val="760427"/>
                  </a:solidFill>
                </a:rPr>
                <a:t>SỐ</a:t>
              </a:r>
              <a:r>
                <a:rPr lang="en-US" altLang="en-US" sz="4500" b="1" dirty="0">
                  <a:solidFill>
                    <a:srgbClr val="760427"/>
                  </a:solidFill>
                </a:rPr>
                <a:t> 68/2026/</a:t>
              </a:r>
              <a:r>
                <a:rPr lang="en-US" altLang="en-US" sz="4500" b="1" dirty="0" err="1">
                  <a:solidFill>
                    <a:srgbClr val="760427"/>
                  </a:solidFill>
                </a:rPr>
                <a:t>NĐ</a:t>
              </a:r>
              <a:r>
                <a:rPr lang="en-US" altLang="en-US" sz="4500" b="1" dirty="0">
                  <a:solidFill>
                    <a:srgbClr val="760427"/>
                  </a:solidFill>
                </a:rPr>
                <a:t>-CP, 141/2026/</a:t>
              </a:r>
              <a:r>
                <a:rPr lang="en-US" altLang="en-US" sz="4500" b="1" dirty="0" err="1">
                  <a:solidFill>
                    <a:srgbClr val="760427"/>
                  </a:solidFill>
                </a:rPr>
                <a:t>NĐ</a:t>
              </a:r>
              <a:r>
                <a:rPr lang="en-US" altLang="en-US" sz="4500" b="1" dirty="0">
                  <a:solidFill>
                    <a:srgbClr val="760427"/>
                  </a:solidFill>
                </a:rPr>
                <a:t>-CP, 254/2026/</a:t>
              </a:r>
              <a:r>
                <a:rPr lang="en-US" altLang="en-US" sz="4500" b="1" dirty="0" err="1">
                  <a:solidFill>
                    <a:srgbClr val="760427"/>
                  </a:solidFill>
                </a:rPr>
                <a:t>NĐ-CP,252</a:t>
              </a:r>
              <a:r>
                <a:rPr lang="en-US" altLang="en-US" sz="4500" b="1" dirty="0">
                  <a:solidFill>
                    <a:srgbClr val="760427"/>
                  </a:solidFill>
                </a:rPr>
                <a:t>/2026/</a:t>
              </a:r>
              <a:r>
                <a:rPr lang="en-US" altLang="en-US" sz="4500" b="1" dirty="0" err="1">
                  <a:solidFill>
                    <a:srgbClr val="760427"/>
                  </a:solidFill>
                </a:rPr>
                <a:t>NĐ</a:t>
              </a:r>
              <a:r>
                <a:rPr lang="en-US" altLang="en-US" sz="4500" b="1" dirty="0">
                  <a:solidFill>
                    <a:srgbClr val="760427"/>
                  </a:solidFill>
                </a:rPr>
                <a:t>-CP, </a:t>
              </a:r>
              <a:r>
                <a:rPr lang="en-US" altLang="en-US" sz="4500" b="1" dirty="0" err="1">
                  <a:solidFill>
                    <a:srgbClr val="760427"/>
                  </a:solidFill>
                </a:rPr>
                <a:t>NGHỊ</a:t>
              </a:r>
              <a:r>
                <a:rPr lang="en-US" altLang="en-US" sz="4500" b="1" dirty="0">
                  <a:solidFill>
                    <a:srgbClr val="760427"/>
                  </a:solidFill>
                </a:rPr>
                <a:t> </a:t>
              </a:r>
              <a:r>
                <a:rPr lang="en-US" altLang="en-US" sz="4500" b="1" dirty="0" err="1">
                  <a:solidFill>
                    <a:srgbClr val="760427"/>
                  </a:solidFill>
                </a:rPr>
                <a:t>QUYẾT</a:t>
              </a:r>
              <a:r>
                <a:rPr lang="en-US" altLang="en-US" sz="4500" b="1" dirty="0">
                  <a:solidFill>
                    <a:srgbClr val="760427"/>
                  </a:solidFill>
                </a:rPr>
                <a:t> </a:t>
              </a:r>
              <a:r>
                <a:rPr lang="en-US" altLang="en-US" sz="4500" b="1" dirty="0" err="1">
                  <a:solidFill>
                    <a:srgbClr val="760427"/>
                  </a:solidFill>
                </a:rPr>
                <a:t>SỐ</a:t>
              </a:r>
              <a:r>
                <a:rPr lang="en-US" altLang="en-US" sz="4500" b="1" dirty="0">
                  <a:solidFill>
                    <a:srgbClr val="760427"/>
                  </a:solidFill>
                </a:rPr>
                <a:t> 43/2026/</a:t>
              </a:r>
              <a:r>
                <a:rPr lang="en-US" altLang="en-US" sz="4500" b="1" dirty="0" err="1">
                  <a:solidFill>
                    <a:srgbClr val="760427"/>
                  </a:solidFill>
                </a:rPr>
                <a:t>QH16</a:t>
              </a:r>
              <a:r>
                <a:rPr lang="en-US" altLang="en-US" sz="4500" b="1" dirty="0">
                  <a:solidFill>
                    <a:srgbClr val="760427"/>
                  </a:solidFill>
                </a:rPr>
                <a:t>  VÀ THÔNG TƯ SỐ 18/2026/TT-</a:t>
              </a:r>
              <a:r>
                <a:rPr lang="en-US" altLang="en-US" sz="4500" b="1" dirty="0" err="1">
                  <a:solidFill>
                    <a:srgbClr val="760427"/>
                  </a:solidFill>
                </a:rPr>
                <a:t>BTC</a:t>
              </a:r>
              <a:r>
                <a:rPr lang="en-US" altLang="en-US" sz="4500" b="1" dirty="0">
                  <a:solidFill>
                    <a:srgbClr val="760427"/>
                  </a:solidFill>
                </a:rPr>
                <a:t>, 50/2026/TT-</a:t>
              </a:r>
              <a:r>
                <a:rPr lang="en-US" altLang="en-US" sz="4500" b="1" dirty="0" err="1">
                  <a:solidFill>
                    <a:srgbClr val="760427"/>
                  </a:solidFill>
                </a:rPr>
                <a:t>BTC</a:t>
              </a:r>
              <a:r>
                <a:rPr lang="en-US" altLang="en-US" sz="4500" b="1" dirty="0">
                  <a:solidFill>
                    <a:srgbClr val="760427"/>
                  </a:solidFill>
                </a:rPr>
                <a:t>, 152/2025/TT-</a:t>
              </a:r>
              <a:r>
                <a:rPr lang="en-US" altLang="en-US" sz="4500" b="1" dirty="0" err="1">
                  <a:solidFill>
                    <a:srgbClr val="760427"/>
                  </a:solidFill>
                </a:rPr>
                <a:t>BTC</a:t>
              </a:r>
              <a:r>
                <a:rPr lang="en-US" altLang="en-US" sz="4500" b="1" dirty="0">
                  <a:solidFill>
                    <a:srgbClr val="760427"/>
                  </a:solidFill>
                </a:rPr>
                <a:t>,</a:t>
              </a:r>
              <a:r>
                <a:rPr lang="en-US" sz="4800" dirty="0">
                  <a:solidFill>
                    <a:srgbClr val="FF0000"/>
                  </a:solidFill>
                  <a:latin typeface="Times New Roman" panose="02020603050405020304" pitchFamily="18" charset="0"/>
                  <a:cs typeface="Times New Roman" panose="02020603050405020304" pitchFamily="18" charset="0"/>
                </a:rPr>
                <a:t> </a:t>
              </a:r>
              <a:r>
                <a:rPr lang="en-US" sz="4500" b="1" dirty="0">
                  <a:solidFill>
                    <a:srgbClr val="760427"/>
                  </a:solidFill>
                </a:rPr>
                <a:t>90/2026/TT-</a:t>
              </a:r>
              <a:r>
                <a:rPr lang="en-US" sz="4500" b="1" dirty="0" err="1">
                  <a:solidFill>
                    <a:srgbClr val="760427"/>
                  </a:solidFill>
                </a:rPr>
                <a:t>BTC</a:t>
              </a:r>
              <a:r>
                <a:rPr lang="en-US" sz="4500" b="1" dirty="0">
                  <a:solidFill>
                    <a:srgbClr val="760427"/>
                  </a:solidFill>
                </a:rPr>
                <a:t> , 94/2026/TT-</a:t>
              </a:r>
              <a:r>
                <a:rPr lang="en-US" sz="4500" b="1" dirty="0" err="1">
                  <a:solidFill>
                    <a:srgbClr val="760427"/>
                  </a:solidFill>
                </a:rPr>
                <a:t>BTC</a:t>
              </a:r>
              <a:r>
                <a:rPr lang="en-US" sz="4500" b="1" dirty="0">
                  <a:solidFill>
                    <a:srgbClr val="760427"/>
                  </a:solidFill>
                </a:rPr>
                <a:t> </a:t>
              </a:r>
              <a:endParaRPr lang="en-US" altLang="en-US" sz="4500" b="1" dirty="0">
                <a:solidFill>
                  <a:srgbClr val="760427"/>
                </a:solidFill>
                <a:sym typeface="Arial" panose="020B0604020202020204" pitchFamily="34" charset="0"/>
              </a:endParaRPr>
            </a:p>
          </p:txBody>
        </p:sp>
      </p:grpSp>
      <p:grpSp>
        <p:nvGrpSpPr>
          <p:cNvPr id="9219" name="Group 8">
            <a:extLst>
              <a:ext uri="{FF2B5EF4-FFF2-40B4-BE49-F238E27FC236}">
                <a16:creationId xmlns:a16="http://schemas.microsoft.com/office/drawing/2014/main" id="{70E035AC-C1A9-03A0-096B-85186BA9B9DD}"/>
              </a:ext>
            </a:extLst>
          </p:cNvPr>
          <p:cNvGrpSpPr>
            <a:grpSpLocks/>
          </p:cNvGrpSpPr>
          <p:nvPr/>
        </p:nvGrpSpPr>
        <p:grpSpPr bwMode="auto">
          <a:xfrm>
            <a:off x="1517651" y="7045326"/>
            <a:ext cx="8607426" cy="38100"/>
            <a:chOff x="0" y="0"/>
            <a:chExt cx="11474268" cy="50800"/>
          </a:xfrm>
        </p:grpSpPr>
        <p:sp>
          <p:nvSpPr>
            <p:cNvPr id="9230" name="Freeform 9">
              <a:extLst>
                <a:ext uri="{FF2B5EF4-FFF2-40B4-BE49-F238E27FC236}">
                  <a16:creationId xmlns:a16="http://schemas.microsoft.com/office/drawing/2014/main" id="{7F129103-1B09-4886-1AD6-533BDB73FCBD}"/>
                </a:ext>
              </a:extLst>
            </p:cNvPr>
            <p:cNvSpPr>
              <a:spLocks/>
            </p:cNvSpPr>
            <p:nvPr/>
          </p:nvSpPr>
          <p:spPr bwMode="auto">
            <a:xfrm>
              <a:off x="25400" y="0"/>
              <a:ext cx="11423523" cy="50800"/>
            </a:xfrm>
            <a:custGeom>
              <a:avLst/>
              <a:gdLst>
                <a:gd name="T0" fmla="*/ 0 w 11423523"/>
                <a:gd name="T1" fmla="*/ 0 h 50800"/>
                <a:gd name="T2" fmla="*/ 11423523 w 11423523"/>
                <a:gd name="T3" fmla="*/ 0 h 50800"/>
                <a:gd name="T4" fmla="*/ 11423523 w 11423523"/>
                <a:gd name="T5" fmla="*/ 50800 h 50800"/>
                <a:gd name="T6" fmla="*/ 0 w 11423523"/>
                <a:gd name="T7" fmla="*/ 50800 h 50800"/>
                <a:gd name="T8" fmla="*/ 0 w 11423523"/>
                <a:gd name="T9" fmla="*/ 0 h 50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423523" h="50800">
                  <a:moveTo>
                    <a:pt x="0" y="0"/>
                  </a:moveTo>
                  <a:lnTo>
                    <a:pt x="11423523" y="0"/>
                  </a:lnTo>
                  <a:lnTo>
                    <a:pt x="11423523" y="50800"/>
                  </a:lnTo>
                  <a:lnTo>
                    <a:pt x="0" y="5080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600"/>
            </a:p>
          </p:txBody>
        </p:sp>
      </p:grpSp>
      <p:sp>
        <p:nvSpPr>
          <p:cNvPr id="9220" name="Freeform 12">
            <a:extLst>
              <a:ext uri="{FF2B5EF4-FFF2-40B4-BE49-F238E27FC236}">
                <a16:creationId xmlns:a16="http://schemas.microsoft.com/office/drawing/2014/main" id="{FF7B34B0-E15C-2208-4AB2-26FD181D5E86}"/>
              </a:ext>
            </a:extLst>
          </p:cNvPr>
          <p:cNvSpPr>
            <a:spLocks/>
          </p:cNvSpPr>
          <p:nvPr/>
        </p:nvSpPr>
        <p:spPr bwMode="auto">
          <a:xfrm>
            <a:off x="15494000" y="5210176"/>
            <a:ext cx="2416176" cy="2413000"/>
          </a:xfrm>
          <a:custGeom>
            <a:avLst/>
            <a:gdLst>
              <a:gd name="T0" fmla="*/ 0 w 2414415"/>
              <a:gd name="T1" fmla="*/ 0 h 2414415"/>
              <a:gd name="T2" fmla="*/ 1 w 2414415"/>
              <a:gd name="T3" fmla="*/ 0 h 2414415"/>
              <a:gd name="T4" fmla="*/ 1 w 2414415"/>
              <a:gd name="T5" fmla="*/ 0 h 2414415"/>
              <a:gd name="T6" fmla="*/ 0 w 2414415"/>
              <a:gd name="T7" fmla="*/ 0 h 2414415"/>
              <a:gd name="T8" fmla="*/ 0 w 2414415"/>
              <a:gd name="T9" fmla="*/ 0 h 24144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14415" h="2414415">
                <a:moveTo>
                  <a:pt x="0" y="0"/>
                </a:moveTo>
                <a:lnTo>
                  <a:pt x="2414415" y="0"/>
                </a:lnTo>
                <a:lnTo>
                  <a:pt x="2414415" y="2414415"/>
                </a:lnTo>
                <a:lnTo>
                  <a:pt x="0" y="2414415"/>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600"/>
          </a:p>
        </p:txBody>
      </p:sp>
      <p:sp>
        <p:nvSpPr>
          <p:cNvPr id="9221" name="Freeform 13">
            <a:extLst>
              <a:ext uri="{FF2B5EF4-FFF2-40B4-BE49-F238E27FC236}">
                <a16:creationId xmlns:a16="http://schemas.microsoft.com/office/drawing/2014/main" id="{DF8A8712-AC9E-E51A-F9C4-B6641AA0B7A2}"/>
              </a:ext>
            </a:extLst>
          </p:cNvPr>
          <p:cNvSpPr>
            <a:spLocks/>
          </p:cNvSpPr>
          <p:nvPr/>
        </p:nvSpPr>
        <p:spPr bwMode="auto">
          <a:xfrm flipH="1" flipV="1">
            <a:off x="16281400" y="5997576"/>
            <a:ext cx="841376" cy="838200"/>
          </a:xfrm>
          <a:custGeom>
            <a:avLst/>
            <a:gdLst>
              <a:gd name="T0" fmla="*/ 1 w 840317"/>
              <a:gd name="T1" fmla="*/ 0 h 840317"/>
              <a:gd name="T2" fmla="*/ 0 w 840317"/>
              <a:gd name="T3" fmla="*/ 0 h 840317"/>
              <a:gd name="T4" fmla="*/ 0 w 840317"/>
              <a:gd name="T5" fmla="*/ 0 h 840317"/>
              <a:gd name="T6" fmla="*/ 1 w 840317"/>
              <a:gd name="T7" fmla="*/ 0 h 840317"/>
              <a:gd name="T8" fmla="*/ 1 w 840317"/>
              <a:gd name="T9" fmla="*/ 0 h 840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0317" h="840317">
                <a:moveTo>
                  <a:pt x="840317" y="840317"/>
                </a:moveTo>
                <a:lnTo>
                  <a:pt x="0" y="840317"/>
                </a:lnTo>
                <a:lnTo>
                  <a:pt x="0" y="0"/>
                </a:lnTo>
                <a:lnTo>
                  <a:pt x="840317" y="0"/>
                </a:lnTo>
                <a:lnTo>
                  <a:pt x="840317" y="840317"/>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600"/>
          </a:p>
        </p:txBody>
      </p:sp>
      <p:sp>
        <p:nvSpPr>
          <p:cNvPr id="9222" name="Freeform 16">
            <a:extLst>
              <a:ext uri="{FF2B5EF4-FFF2-40B4-BE49-F238E27FC236}">
                <a16:creationId xmlns:a16="http://schemas.microsoft.com/office/drawing/2014/main" id="{F83CDCC9-85BF-A680-2228-FEAA331D67A7}"/>
              </a:ext>
            </a:extLst>
          </p:cNvPr>
          <p:cNvSpPr>
            <a:spLocks/>
          </p:cNvSpPr>
          <p:nvPr/>
        </p:nvSpPr>
        <p:spPr bwMode="auto">
          <a:xfrm>
            <a:off x="1838326" y="1244601"/>
            <a:ext cx="3438524" cy="441326"/>
          </a:xfrm>
          <a:custGeom>
            <a:avLst/>
            <a:gdLst>
              <a:gd name="T0" fmla="*/ 0 w 4586028"/>
              <a:gd name="T1" fmla="*/ 0 h 588433"/>
              <a:gd name="T2" fmla="*/ 0 w 4586028"/>
              <a:gd name="T3" fmla="*/ 0 h 588433"/>
              <a:gd name="T4" fmla="*/ 0 w 4586028"/>
              <a:gd name="T5" fmla="*/ 0 h 588433"/>
              <a:gd name="T6" fmla="*/ 0 w 4586028"/>
              <a:gd name="T7" fmla="*/ 0 h 588433"/>
              <a:gd name="T8" fmla="*/ 0 w 4586028"/>
              <a:gd name="T9" fmla="*/ 0 h 588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86028" h="588433">
                <a:moveTo>
                  <a:pt x="0" y="0"/>
                </a:moveTo>
                <a:lnTo>
                  <a:pt x="4586028" y="0"/>
                </a:lnTo>
                <a:lnTo>
                  <a:pt x="4586028" y="588433"/>
                </a:lnTo>
                <a:lnTo>
                  <a:pt x="0" y="588433"/>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600"/>
          </a:p>
        </p:txBody>
      </p:sp>
      <p:grpSp>
        <p:nvGrpSpPr>
          <p:cNvPr id="9223" name="Group 18">
            <a:extLst>
              <a:ext uri="{FF2B5EF4-FFF2-40B4-BE49-F238E27FC236}">
                <a16:creationId xmlns:a16="http://schemas.microsoft.com/office/drawing/2014/main" id="{CB182F22-4429-1F3E-A92F-7A79AB4679D9}"/>
              </a:ext>
            </a:extLst>
          </p:cNvPr>
          <p:cNvGrpSpPr>
            <a:grpSpLocks/>
          </p:cNvGrpSpPr>
          <p:nvPr/>
        </p:nvGrpSpPr>
        <p:grpSpPr bwMode="auto">
          <a:xfrm>
            <a:off x="5715001" y="7562850"/>
            <a:ext cx="8197850" cy="638176"/>
            <a:chOff x="-1226687" y="0"/>
            <a:chExt cx="7185648" cy="545914"/>
          </a:xfrm>
        </p:grpSpPr>
        <p:sp>
          <p:nvSpPr>
            <p:cNvPr id="9228" name="Freeform 19">
              <a:extLst>
                <a:ext uri="{FF2B5EF4-FFF2-40B4-BE49-F238E27FC236}">
                  <a16:creationId xmlns:a16="http://schemas.microsoft.com/office/drawing/2014/main" id="{C08012C9-CD23-30C6-4104-7C8BAB00B1FE}"/>
                </a:ext>
              </a:extLst>
            </p:cNvPr>
            <p:cNvSpPr>
              <a:spLocks/>
            </p:cNvSpPr>
            <p:nvPr/>
          </p:nvSpPr>
          <p:spPr bwMode="auto">
            <a:xfrm>
              <a:off x="0" y="0"/>
              <a:ext cx="5783256" cy="495863"/>
            </a:xfrm>
            <a:custGeom>
              <a:avLst/>
              <a:gdLst>
                <a:gd name="T0" fmla="*/ 0 w 5783256"/>
                <a:gd name="T1" fmla="*/ 0 h 495863"/>
                <a:gd name="T2" fmla="*/ 5783256 w 5783256"/>
                <a:gd name="T3" fmla="*/ 0 h 495863"/>
                <a:gd name="T4" fmla="*/ 5783256 w 5783256"/>
                <a:gd name="T5" fmla="*/ 495863 h 495863"/>
                <a:gd name="T6" fmla="*/ 0 w 5783256"/>
                <a:gd name="T7" fmla="*/ 495863 h 495863"/>
                <a:gd name="T8" fmla="*/ 0 w 5783256"/>
                <a:gd name="T9" fmla="*/ 0 h 4958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83256" h="495863">
                  <a:moveTo>
                    <a:pt x="0" y="0"/>
                  </a:moveTo>
                  <a:lnTo>
                    <a:pt x="5783256" y="0"/>
                  </a:lnTo>
                  <a:lnTo>
                    <a:pt x="5783256" y="495863"/>
                  </a:lnTo>
                  <a:lnTo>
                    <a:pt x="0" y="495863"/>
                  </a:lnTo>
                  <a:lnTo>
                    <a:pt x="0" y="0"/>
                  </a:lnTo>
                  <a:close/>
                </a:path>
              </a:pathLst>
            </a:custGeom>
            <a:solidFill>
              <a:srgbClr val="000000">
                <a:alpha val="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600"/>
            </a:p>
          </p:txBody>
        </p:sp>
        <p:sp>
          <p:nvSpPr>
            <p:cNvPr id="20" name="TextBox 20">
              <a:extLst>
                <a:ext uri="{FF2B5EF4-FFF2-40B4-BE49-F238E27FC236}">
                  <a16:creationId xmlns:a16="http://schemas.microsoft.com/office/drawing/2014/main" id="{11D43524-42E0-9287-25E2-F659B8392513}"/>
                </a:ext>
              </a:extLst>
            </p:cNvPr>
            <p:cNvSpPr txBox="1"/>
            <p:nvPr/>
          </p:nvSpPr>
          <p:spPr>
            <a:xfrm>
              <a:off x="-1226687" y="2717"/>
              <a:ext cx="7185648" cy="543197"/>
            </a:xfrm>
            <a:prstGeom prst="rect">
              <a:avLst/>
            </a:prstGeom>
          </p:spPr>
          <p:txBody>
            <a:bodyPr lIns="0" tIns="0" rIns="0" bIns="0"/>
            <a:lstStyle/>
            <a:p>
              <a:pPr>
                <a:lnSpc>
                  <a:spcPts val="2880"/>
                </a:lnSpc>
                <a:defRPr/>
              </a:pPr>
              <a:endParaRPr lang="en-US" sz="3700" b="1" spc="-72" dirty="0">
                <a:solidFill>
                  <a:srgbClr val="000000"/>
                </a:solidFill>
                <a:latin typeface="Arial"/>
                <a:ea typeface="Arial"/>
                <a:cs typeface="Arial"/>
                <a:sym typeface="Arial"/>
              </a:endParaRPr>
            </a:p>
          </p:txBody>
        </p:sp>
      </p:grpSp>
      <p:sp>
        <p:nvSpPr>
          <p:cNvPr id="9224" name="TextBox 2">
            <a:extLst>
              <a:ext uri="{FF2B5EF4-FFF2-40B4-BE49-F238E27FC236}">
                <a16:creationId xmlns:a16="http://schemas.microsoft.com/office/drawing/2014/main" id="{9BDFBA83-541C-0541-9177-8251510E26D9}"/>
              </a:ext>
            </a:extLst>
          </p:cNvPr>
          <p:cNvSpPr txBox="1">
            <a:spLocks noChangeArrowheads="1"/>
          </p:cNvSpPr>
          <p:nvPr/>
        </p:nvSpPr>
        <p:spPr bwMode="auto">
          <a:xfrm>
            <a:off x="19345276" y="549277"/>
            <a:ext cx="36671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en-US" sz="3600"/>
          </a:p>
        </p:txBody>
      </p:sp>
      <p:pic>
        <p:nvPicPr>
          <p:cNvPr id="9226" name="Picture 1">
            <a:extLst>
              <a:ext uri="{FF2B5EF4-FFF2-40B4-BE49-F238E27FC236}">
                <a16:creationId xmlns:a16="http://schemas.microsoft.com/office/drawing/2014/main" id="{6C21CDF5-56C6-FA23-7C44-E6D07C993E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100"/>
            <a:ext cx="37719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Picture 2">
            <a:extLst>
              <a:ext uri="{FF2B5EF4-FFF2-40B4-BE49-F238E27FC236}">
                <a16:creationId xmlns:a16="http://schemas.microsoft.com/office/drawing/2014/main" id="{BF8E8378-3826-E292-C1C4-385BD6F2819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b="8385"/>
          <a:stretch>
            <a:fillRect/>
          </a:stretch>
        </p:blipFill>
        <p:spPr bwMode="auto">
          <a:xfrm>
            <a:off x="14097000" y="59327"/>
            <a:ext cx="4191000" cy="2429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4883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68449B-69C0-43A5-AF21-01B0FB27167D}"/>
              </a:ext>
            </a:extLst>
          </p:cNvPr>
          <p:cNvSpPr txBox="1"/>
          <p:nvPr/>
        </p:nvSpPr>
        <p:spPr>
          <a:xfrm>
            <a:off x="1828800" y="2705100"/>
            <a:ext cx="14630400" cy="3785652"/>
          </a:xfrm>
          <a:prstGeom prst="rect">
            <a:avLst/>
          </a:prstGeom>
          <a:noFill/>
        </p:spPr>
        <p:txBody>
          <a:bodyPr wrap="square" rtlCol="0">
            <a:spAutoFit/>
          </a:bodyPr>
          <a:lstStyle/>
          <a:p>
            <a:pPr algn="ctr"/>
            <a:r>
              <a:rPr lang="en-US" sz="4000" b="0" i="0" u="none" strike="noStrike" baseline="0" err="1">
                <a:solidFill>
                  <a:srgbClr val="C10000"/>
                </a:solidFill>
                <a:latin typeface="Arial Bold" panose="020B0704020202020204" pitchFamily="34" charset="0"/>
                <a:ea typeface="Calibri" panose="020F0502020204030204" pitchFamily="34" charset="0"/>
                <a:cs typeface="Arial Bold" panose="020B0704020202020204" pitchFamily="34" charset="0"/>
              </a:rPr>
              <a:t>PHẦN</a:t>
            </a:r>
            <a:r>
              <a:rPr lang="en-US" sz="4000" b="0" i="0" u="none" strike="noStrike" baseline="0">
                <a:solidFill>
                  <a:srgbClr val="C10000"/>
                </a:solidFill>
                <a:latin typeface="Arial Bold" panose="020B0704020202020204" pitchFamily="34" charset="0"/>
                <a:ea typeface="Calibri" panose="020F0502020204030204" pitchFamily="34" charset="0"/>
                <a:cs typeface="Arial Bold" panose="020B0704020202020204" pitchFamily="34" charset="0"/>
              </a:rPr>
              <a:t> II</a:t>
            </a:r>
            <a:endPar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endParaRPr>
          </a:p>
          <a:p>
            <a:pPr algn="ct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NGHỊ</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 </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ĐỊNH</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 </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SỐ</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 68/2026/</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NĐ</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-CP </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NGÀY</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 30/6/2026, </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NGHỊ</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 </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ĐỊNH</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 </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SỐ</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 141/2026/</a:t>
            </a:r>
            <a:r>
              <a:rPr lang="en-US" sz="4000" b="0" i="0" u="none" strike="noStrike" baseline="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NĐ</a:t>
            </a:r>
            <a:r>
              <a:rPr lang="en-US" sz="4000" b="0" i="0" u="none" strike="noStrike" baseline="0" dirty="0">
                <a:solidFill>
                  <a:srgbClr val="C10000"/>
                </a:solidFill>
                <a:latin typeface="Arial Bold" panose="020B0704020202020204" pitchFamily="34" charset="0"/>
                <a:ea typeface="Calibri" panose="020F0502020204030204" pitchFamily="34" charset="0"/>
                <a:cs typeface="Arial Bold" panose="020B0704020202020204" pitchFamily="34" charset="0"/>
              </a:rPr>
              <a:t>-CP,</a:t>
            </a:r>
            <a:r>
              <a:rPr lang="en-US" altLang="en-US" sz="4000" b="1" dirty="0">
                <a:solidFill>
                  <a:srgbClr val="760427"/>
                </a:solidFill>
                <a:latin typeface="Arial Bold" panose="020B0704020202020204" pitchFamily="34" charset="0"/>
                <a:cs typeface="Arial Bold" panose="020B0704020202020204" pitchFamily="34" charset="0"/>
              </a:rPr>
              <a:t> </a:t>
            </a:r>
            <a:r>
              <a:rPr lang="en-US" altLang="en-US" sz="400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THÔNG</a:t>
            </a:r>
            <a:r>
              <a:rPr lang="en-US" altLang="en-US" sz="4000" dirty="0">
                <a:solidFill>
                  <a:srgbClr val="C10000"/>
                </a:solidFill>
                <a:latin typeface="Arial Bold" panose="020B0704020202020204" pitchFamily="34" charset="0"/>
                <a:ea typeface="Calibri" panose="020F0502020204030204" pitchFamily="34" charset="0"/>
                <a:cs typeface="Arial Bold" panose="020B0704020202020204" pitchFamily="34" charset="0"/>
              </a:rPr>
              <a:t> </a:t>
            </a:r>
            <a:r>
              <a:rPr lang="en-US" altLang="en-US" sz="400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TƯ</a:t>
            </a:r>
            <a:r>
              <a:rPr lang="en-US" altLang="en-US" sz="4000" dirty="0">
                <a:solidFill>
                  <a:srgbClr val="C10000"/>
                </a:solidFill>
                <a:latin typeface="Arial Bold" panose="020B0704020202020204" pitchFamily="34" charset="0"/>
                <a:ea typeface="Calibri" panose="020F0502020204030204" pitchFamily="34" charset="0"/>
                <a:cs typeface="Arial Bold" panose="020B0704020202020204" pitchFamily="34" charset="0"/>
              </a:rPr>
              <a:t> </a:t>
            </a:r>
            <a:r>
              <a:rPr lang="en-US" altLang="en-US" sz="400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SỐ</a:t>
            </a:r>
            <a:r>
              <a:rPr lang="en-US" altLang="en-US" sz="4000" dirty="0">
                <a:solidFill>
                  <a:srgbClr val="C10000"/>
                </a:solidFill>
                <a:latin typeface="Arial Bold" panose="020B0704020202020204" pitchFamily="34" charset="0"/>
                <a:ea typeface="Calibri" panose="020F0502020204030204" pitchFamily="34" charset="0"/>
                <a:cs typeface="Arial Bold" panose="020B0704020202020204" pitchFamily="34" charset="0"/>
              </a:rPr>
              <a:t> 18/2026/TT-</a:t>
            </a:r>
            <a:r>
              <a:rPr lang="en-US" altLang="en-US" sz="400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BTC</a:t>
            </a:r>
            <a:r>
              <a:rPr lang="en-US" altLang="en-US" sz="4000" dirty="0">
                <a:solidFill>
                  <a:srgbClr val="C10000"/>
                </a:solidFill>
                <a:latin typeface="Arial Bold" panose="020B0704020202020204" pitchFamily="34" charset="0"/>
                <a:ea typeface="Calibri" panose="020F0502020204030204" pitchFamily="34" charset="0"/>
                <a:cs typeface="Arial Bold" panose="020B0704020202020204" pitchFamily="34" charset="0"/>
              </a:rPr>
              <a:t>, 50/2026/TT-</a:t>
            </a:r>
            <a:r>
              <a:rPr lang="en-US" altLang="en-US" sz="4000" dirty="0" err="1">
                <a:solidFill>
                  <a:srgbClr val="C10000"/>
                </a:solidFill>
                <a:latin typeface="Arial Bold" panose="020B0704020202020204" pitchFamily="34" charset="0"/>
                <a:ea typeface="Calibri" panose="020F0502020204030204" pitchFamily="34" charset="0"/>
                <a:cs typeface="Arial Bold" panose="020B0704020202020204" pitchFamily="34" charset="0"/>
              </a:rPr>
              <a:t>BTC</a:t>
            </a:r>
            <a:r>
              <a:rPr lang="en-US" altLang="en-US" sz="4000" dirty="0">
                <a:solidFill>
                  <a:srgbClr val="C10000"/>
                </a:solidFill>
                <a:latin typeface="Arial Bold" panose="020B0704020202020204" pitchFamily="34" charset="0"/>
                <a:ea typeface="Calibri" panose="020F0502020204030204" pitchFamily="34" charset="0"/>
                <a:cs typeface="Arial Bold" panose="020B0704020202020204" pitchFamily="34" charset="0"/>
              </a:rPr>
              <a:t>, 152/2025</a:t>
            </a:r>
            <a:r>
              <a:rPr lang="en-US" altLang="en-US" sz="4000">
                <a:solidFill>
                  <a:srgbClr val="C10000"/>
                </a:solidFill>
                <a:latin typeface="Arial Bold" panose="020B0704020202020204" pitchFamily="34" charset="0"/>
                <a:ea typeface="Calibri" panose="020F0502020204030204" pitchFamily="34" charset="0"/>
                <a:cs typeface="Arial Bold" panose="020B0704020202020204" pitchFamily="34" charset="0"/>
              </a:rPr>
              <a:t>/TT-BTC</a:t>
            </a:r>
          </a:p>
          <a:p>
            <a:pPr algn="ctr"/>
            <a:r>
              <a:rPr lang="en-US" sz="4000">
                <a:solidFill>
                  <a:srgbClr val="C10000"/>
                </a:solidFill>
                <a:latin typeface="Arial Bold" panose="020B0704020202020204" pitchFamily="34" charset="0"/>
                <a:ea typeface="Calibri" panose="020F0502020204030204" pitchFamily="34" charset="0"/>
                <a:cs typeface="Arial Bold" panose="020B0704020202020204" pitchFamily="34" charset="0"/>
              </a:rPr>
              <a:t>QUY ĐỊNH VỀ CHÍNH SÁCH THUẾ  ĐỐI VỚI HỘ KINH DOANH, CÁ NHÂN KINH DOANH</a:t>
            </a:r>
            <a:endParaRPr lang="en-US" sz="4000" dirty="0">
              <a:solidFill>
                <a:srgbClr val="C10000"/>
              </a:solidFill>
              <a:latin typeface="Arial Bold" panose="020B0704020202020204" pitchFamily="34" charset="0"/>
              <a:ea typeface="Calibri" panose="020F0502020204030204" pitchFamily="34" charset="0"/>
              <a:cs typeface="Arial Bold" panose="020B0704020202020204" pitchFamily="34" charset="0"/>
            </a:endParaRPr>
          </a:p>
        </p:txBody>
      </p:sp>
    </p:spTree>
    <p:extLst>
      <p:ext uri="{BB962C8B-B14F-4D97-AF65-F5344CB8AC3E}">
        <p14:creationId xmlns:p14="http://schemas.microsoft.com/office/powerpoint/2010/main" val="841451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6600" b="1" dirty="0">
                <a:latin typeface="Times New Roman" pitchFamily="18" charset="0"/>
                <a:cs typeface="Times New Roman" pitchFamily="18" charset="0"/>
              </a:rPr>
              <a:t> </a:t>
            </a:r>
            <a:r>
              <a:rPr lang="en-US" sz="4400" b="1" dirty="0">
                <a:solidFill>
                  <a:srgbClr val="990033"/>
                </a:solidFill>
                <a:effectLst>
                  <a:outerShdw blurRad="38100" dist="38100" dir="2700000" algn="tl">
                    <a:srgbClr val="000000">
                      <a:alpha val="43137"/>
                    </a:srgbClr>
                  </a:outerShdw>
                </a:effectLst>
                <a:cs typeface="Times New Roman" pitchFamily="18"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CĂN CỨ PHÁP LÝ BAN HÀNH</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533400" y="1790701"/>
            <a:ext cx="17373600" cy="7126631"/>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0" indent="0" algn="just" defTabSz="1828800" eaLnBrk="0" fontAlgn="base" hangingPunct="0">
              <a:lnSpc>
                <a:spcPct val="200000"/>
              </a:lnSpc>
              <a:spcBef>
                <a:spcPts val="600"/>
              </a:spcBef>
              <a:spcAft>
                <a:spcPts val="600"/>
              </a:spcAft>
              <a:defRPr/>
            </a:pPr>
            <a:r>
              <a:rPr lang="en-US" altLang="en-US" sz="3600" b="1" dirty="0">
                <a:solidFill>
                  <a:srgbClr val="002060"/>
                </a:solidFill>
                <a:ea typeface="Microsoft YaHei"/>
              </a:rPr>
              <a:t>1.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Luật</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GTGT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48/2024/QH15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Luật</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149/2025/QH15</a:t>
            </a:r>
          </a:p>
          <a:p>
            <a:pPr marL="0" indent="0" algn="just" defTabSz="1828800" eaLnBrk="0" fontAlgn="base" hangingPunct="0">
              <a:lnSpc>
                <a:spcPct val="200000"/>
              </a:lnSpc>
              <a:spcBef>
                <a:spcPts val="600"/>
              </a:spcBef>
              <a:spcAft>
                <a:spcPts val="600"/>
              </a:spcAft>
              <a:defRPr/>
            </a:pP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2.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Luật</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thu</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nhập</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cá</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nhân</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109/2025/</a:t>
            </a:r>
            <a:r>
              <a:rPr lang="en-US" altLang="en-US" sz="3600" b="1">
                <a:solidFill>
                  <a:srgbClr val="002060"/>
                </a:solidFill>
                <a:latin typeface="Calibri" panose="020F0502020204030204" pitchFamily="34" charset="0"/>
                <a:ea typeface="Calibri" panose="020F0502020204030204" pitchFamily="34" charset="0"/>
                <a:cs typeface="Calibri" panose="020F0502020204030204" pitchFamily="34" charset="0"/>
              </a:rPr>
              <a:t>QH15 đã được sửa đổi, bổ sung một số điều theo Luật số 09/2026/QH16</a:t>
            </a:r>
            <a:endPar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defTabSz="1828800" eaLnBrk="0" fontAlgn="base" hangingPunct="0">
              <a:lnSpc>
                <a:spcPct val="200000"/>
              </a:lnSpc>
              <a:spcBef>
                <a:spcPts val="600"/>
              </a:spcBef>
              <a:spcAft>
                <a:spcPts val="600"/>
              </a:spcAft>
              <a:defRPr/>
            </a:pP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3.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Luật</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Quản</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lý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altLang="en-US" sz="3600" b="1"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altLang="en-US" sz="3600" b="1" dirty="0">
                <a:solidFill>
                  <a:srgbClr val="002060"/>
                </a:solidFill>
                <a:latin typeface="Calibri" panose="020F0502020204030204" pitchFamily="34" charset="0"/>
                <a:ea typeface="Calibri" panose="020F0502020204030204" pitchFamily="34" charset="0"/>
                <a:cs typeface="Calibri" panose="020F0502020204030204" pitchFamily="34" charset="0"/>
              </a:rPr>
              <a:t> 108/2025/QH15</a:t>
            </a:r>
          </a:p>
          <a:p>
            <a:pPr marL="0" indent="0" algn="just" defTabSz="1828800" eaLnBrk="0" fontAlgn="base" hangingPunct="0">
              <a:lnSpc>
                <a:spcPct val="150000"/>
              </a:lnSpc>
              <a:spcBef>
                <a:spcPts val="600"/>
              </a:spcBef>
              <a:spcAft>
                <a:spcPts val="600"/>
              </a:spcAft>
              <a:defRPr/>
            </a:pPr>
            <a:endParaRPr lang="en-US" altLang="en-US" sz="4400" b="1" dirty="0">
              <a:solidFill>
                <a:srgbClr val="002060"/>
              </a:solidFill>
              <a:ea typeface="Microsoft YaHei"/>
            </a:endParaRPr>
          </a:p>
          <a:p>
            <a:pPr marL="0" indent="0" algn="just" defTabSz="1828800" eaLnBrk="0" fontAlgn="base" hangingPunct="0">
              <a:lnSpc>
                <a:spcPct val="150000"/>
              </a:lnSpc>
              <a:spcBef>
                <a:spcPts val="600"/>
              </a:spcBef>
              <a:spcAft>
                <a:spcPts val="600"/>
              </a:spcAft>
              <a:defRPr/>
            </a:pPr>
            <a:endParaRPr lang="en-US" altLang="en-US" sz="4800" b="1" dirty="0">
              <a:solidFill>
                <a:srgbClr val="760427"/>
              </a:solidFill>
              <a:ea typeface="Microsoft YaHei"/>
            </a:endParaRPr>
          </a:p>
        </p:txBody>
      </p:sp>
    </p:spTree>
    <p:extLst>
      <p:ext uri="{BB962C8B-B14F-4D97-AF65-F5344CB8AC3E}">
        <p14:creationId xmlns:p14="http://schemas.microsoft.com/office/powerpoint/2010/main" val="3293108764"/>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6600" b="1" dirty="0">
                <a:latin typeface="Arial Bold" panose="020B0704020202020204" pitchFamily="34" charset="0"/>
                <a:cs typeface="Arial Bold" panose="020B0704020202020204" pitchFamily="34" charset="0"/>
              </a:rPr>
              <a:t> </a:t>
            </a:r>
            <a:r>
              <a:rPr lang="en-US" sz="44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KẾT</a:t>
            </a:r>
            <a:r>
              <a:rPr lang="en-US" sz="44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 </a:t>
            </a:r>
            <a:r>
              <a:rPr lang="en-US" sz="4400" b="1">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CẤU NGHỊ </a:t>
            </a:r>
            <a:r>
              <a:rPr lang="en-US" sz="44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ĐỊNH VÀ THÔNG TƯ</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533400" y="1790701"/>
            <a:ext cx="17373600" cy="11168186"/>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0" indent="0" algn="just">
              <a:lnSpc>
                <a:spcPct val="107000"/>
              </a:lnSpc>
              <a:spcBef>
                <a:spcPts val="900"/>
              </a:spcBef>
              <a:spcAft>
                <a:spcPts val="800"/>
              </a:spcAft>
            </a:pPr>
            <a:r>
              <a:rPr lang="en-US" sz="3000" b="1" dirty="0">
                <a:solidFill>
                  <a:srgbClr val="990033"/>
                </a:solidFill>
                <a:latin typeface="Calibri" panose="020F0502020204030204" pitchFamily="34" charset="0"/>
                <a:ea typeface="Calibri" panose="020F0502020204030204" pitchFamily="34" charset="0"/>
                <a:cs typeface="Calibri" panose="020F0502020204030204" pitchFamily="34" charset="0"/>
              </a:rPr>
              <a:t>1</a:t>
            </a:r>
            <a:r>
              <a:rPr lang="en-US" sz="30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0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68/2026/NĐ-CP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05/3/2026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về</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chính</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sách</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quản</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lý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hộ</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cá</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nhân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Gồm</a:t>
            </a:r>
            <a:r>
              <a:rPr lang="en-US" sz="30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5 Chư</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ơng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và</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19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Điều</a:t>
            </a:r>
            <a:endPar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3000" b="1" dirty="0">
                <a:solidFill>
                  <a:srgbClr val="990033"/>
                </a:solidFill>
                <a:latin typeface="Calibri" panose="020F0502020204030204" pitchFamily="34" charset="0"/>
                <a:ea typeface="Calibri" panose="020F0502020204030204" pitchFamily="34" charset="0"/>
                <a:cs typeface="Calibri" panose="020F0502020204030204" pitchFamily="34" charset="0"/>
              </a:rPr>
              <a:t>2</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Nghị</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141/2026/</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-CP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ngày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29/04/2026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sửa</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đổi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bổ</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sung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một</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của</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Nghị</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68/2026/</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-CP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về</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chính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sách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đối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với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hộ</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cá</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nhân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Nghị</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320/2025/</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-CP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tiết</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một</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biện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pháp</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để</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tổ</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chức</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hướng</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dẫn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hành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luật</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thu</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nhập</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nghiệp</a:t>
            </a:r>
            <a:endPar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Gồm</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5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Điều</a:t>
            </a:r>
            <a:endPar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3000" b="1" dirty="0">
                <a:solidFill>
                  <a:srgbClr val="990033"/>
                </a:solidFill>
                <a:latin typeface="Calibri" panose="020F0502020204030204" pitchFamily="34" charset="0"/>
                <a:ea typeface="Calibri" panose="020F0502020204030204" pitchFamily="34" charset="0"/>
                <a:cs typeface="Calibri" panose="020F0502020204030204" pitchFamily="34" charset="0"/>
              </a:rPr>
              <a:t>3.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Thông</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tư</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18/2026/TT-BTC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ngày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05/3/2026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về</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hồ</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sơ</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thủ</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tục</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quản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lý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hộ</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cá</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nhân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Gồm</a:t>
            </a:r>
            <a:r>
              <a:rPr lang="en-US" sz="30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9 </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Điều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và</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14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biểu</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mẫu</a:t>
            </a:r>
            <a:endPar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3000" b="1" i="1" dirty="0">
                <a:solidFill>
                  <a:srgbClr val="990033"/>
                </a:solidFill>
                <a:latin typeface="Calibri" panose="020F0502020204030204" pitchFamily="34" charset="0"/>
                <a:ea typeface="Calibri" panose="020F0502020204030204" pitchFamily="34" charset="0"/>
                <a:cs typeface="Calibri" panose="020F0502020204030204" pitchFamily="34" charset="0"/>
              </a:rPr>
              <a:t>4</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Thông</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tư</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50/2026/TT-</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BTC</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ngày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13/05/2026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sửa</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đổi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bổ</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sung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một</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của</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thông</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tư</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18/2026/TT-</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BTC</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ngày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05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tháng</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3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năm</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2026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của</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Bộ</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trưởng</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Bộ</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Tài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chính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về</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hồ</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sơ</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thủ</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tục</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quản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lý</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đối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với</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hộ</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cá</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nhân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Gồm</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4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Điều</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và</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4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biểu</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mẫu</a:t>
            </a:r>
            <a:endPar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3000" b="1" i="1" dirty="0">
                <a:solidFill>
                  <a:srgbClr val="990033"/>
                </a:solidFill>
                <a:latin typeface="Calibri" panose="020F0502020204030204" pitchFamily="34" charset="0"/>
                <a:ea typeface="Calibri" panose="020F0502020204030204" pitchFamily="34" charset="0"/>
                <a:cs typeface="Calibri" panose="020F0502020204030204" pitchFamily="34" charset="0"/>
              </a:rPr>
              <a:t>5</a:t>
            </a:r>
            <a:r>
              <a:rPr lang="en-US" sz="3000" b="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Thông</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tư</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152/2025/TT-</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BTC</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ngày</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31/12/2025 h</a:t>
            </a:r>
            <a:r>
              <a:rPr lang="vi-VN" sz="3000" dirty="0">
                <a:solidFill>
                  <a:srgbClr val="002060"/>
                </a:solidFill>
                <a:latin typeface="Calibri" panose="020F0502020204030204" pitchFamily="34" charset="0"/>
                <a:ea typeface="Calibri" panose="020F0502020204030204" pitchFamily="34" charset="0"/>
                <a:cs typeface="Calibri" panose="020F0502020204030204" pitchFamily="34" charset="0"/>
              </a:rPr>
              <a:t>ướn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g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dẫn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kế</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toán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cho</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hộ</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cá</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nhân</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kinh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002060"/>
                </a:solidFill>
                <a:latin typeface="Calibri" panose="020F0502020204030204" pitchFamily="34" charset="0"/>
                <a:ea typeface="Calibri" panose="020F0502020204030204" pitchFamily="34" charset="0"/>
                <a:cs typeface="Calibri" panose="020F0502020204030204" pitchFamily="34" charset="0"/>
              </a:rPr>
              <a:t>doanh</a:t>
            </a:r>
            <a:r>
              <a:rPr lang="en-US" sz="3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0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Gồm</a:t>
            </a:r>
            <a:r>
              <a:rPr lang="en-US" sz="30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3 </a:t>
            </a:r>
            <a:r>
              <a:rPr lang="en-US" sz="30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Chư</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ơng</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và</a:t>
            </a:r>
            <a:r>
              <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rPr>
              <a:t> 8 </a:t>
            </a:r>
            <a:r>
              <a:rPr lang="en-US" sz="30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Điều</a:t>
            </a:r>
            <a:endParaRPr lang="en-US" sz="3000" i="1" dirty="0">
              <a:solidFill>
                <a:srgbClr val="990033"/>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endParaRPr lang="en-US" sz="4000" dirty="0">
              <a:solidFill>
                <a:srgbClr val="002060"/>
              </a:solidFill>
              <a:latin typeface="+mn-lt"/>
              <a:ea typeface="Calibri" panose="020F0502020204030204" pitchFamily="34" charset="0"/>
            </a:endParaRPr>
          </a:p>
          <a:p>
            <a:pPr marL="0" indent="0" algn="just">
              <a:lnSpc>
                <a:spcPct val="107000"/>
              </a:lnSpc>
              <a:spcBef>
                <a:spcPts val="900"/>
              </a:spcBef>
              <a:spcAft>
                <a:spcPts val="800"/>
              </a:spcAft>
            </a:pPr>
            <a:endParaRPr lang="en-US" sz="4000" dirty="0">
              <a:solidFill>
                <a:srgbClr val="002060"/>
              </a:solidFill>
              <a:latin typeface="+mn-lt"/>
              <a:ea typeface="Calibri" panose="020F0502020204030204" pitchFamily="34" charset="0"/>
            </a:endParaRPr>
          </a:p>
          <a:p>
            <a:pPr marL="0" indent="0" algn="just" defTabSz="1828800" eaLnBrk="0" fontAlgn="base" hangingPunct="0">
              <a:lnSpc>
                <a:spcPct val="150000"/>
              </a:lnSpc>
              <a:spcBef>
                <a:spcPts val="600"/>
              </a:spcBef>
              <a:spcAft>
                <a:spcPts val="600"/>
              </a:spcAft>
              <a:defRPr/>
            </a:pPr>
            <a:endParaRPr lang="en-US" altLang="en-US" sz="3200" b="1" dirty="0">
              <a:solidFill>
                <a:srgbClr val="002060"/>
              </a:solidFill>
              <a:latin typeface="+mn-lt"/>
              <a:ea typeface="Microsoft YaHei"/>
            </a:endParaRPr>
          </a:p>
          <a:p>
            <a:pPr marL="0" indent="0" algn="just" defTabSz="1828800" eaLnBrk="0" fontAlgn="base" hangingPunct="0">
              <a:lnSpc>
                <a:spcPct val="150000"/>
              </a:lnSpc>
              <a:spcBef>
                <a:spcPts val="600"/>
              </a:spcBef>
              <a:spcAft>
                <a:spcPts val="600"/>
              </a:spcAft>
              <a:defRPr/>
            </a:pPr>
            <a:endParaRPr lang="en-US" altLang="en-US" sz="3200" b="1" dirty="0">
              <a:solidFill>
                <a:srgbClr val="760427"/>
              </a:solidFill>
              <a:latin typeface="+mn-lt"/>
              <a:ea typeface="Microsoft YaHei"/>
            </a:endParaRPr>
          </a:p>
        </p:txBody>
      </p:sp>
    </p:spTree>
    <p:extLst>
      <p:ext uri="{BB962C8B-B14F-4D97-AF65-F5344CB8AC3E}">
        <p14:creationId xmlns:p14="http://schemas.microsoft.com/office/powerpoint/2010/main" val="4077399928"/>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4000" b="1" dirty="0">
                <a:latin typeface="Times New Roman" pitchFamily="18" charset="0"/>
                <a:cs typeface="Times New Roman" pitchFamily="18" charset="0"/>
              </a:rPr>
              <a:t> </a:t>
            </a:r>
            <a:r>
              <a:rPr lang="en-US" sz="4000" b="1" dirty="0">
                <a:solidFill>
                  <a:srgbClr val="990033"/>
                </a:solidFill>
                <a:effectLst>
                  <a:outerShdw blurRad="38100" dist="38100" dir="2700000" algn="tl">
                    <a:srgbClr val="000000">
                      <a:alpha val="43137"/>
                    </a:srgbClr>
                  </a:outerShdw>
                </a:effectLst>
                <a:cs typeface="Times New Roman" pitchFamily="18"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PHẠM VI ÁP DỤNG</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533400" y="1790701"/>
            <a:ext cx="17373600" cy="9596025"/>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0" indent="0" algn="just">
              <a:lnSpc>
                <a:spcPct val="150000"/>
              </a:lnSpc>
              <a:spcBef>
                <a:spcPts val="900"/>
              </a:spcBef>
              <a:spcAft>
                <a:spcPts val="800"/>
              </a:spcAft>
            </a:pPr>
            <a:endParaRPr lang="en-US" sz="3200" dirty="0">
              <a:solidFill>
                <a:srgbClr val="002060"/>
              </a:solidFill>
              <a:effectLst/>
              <a:latin typeface="+mn-lt"/>
              <a:ea typeface="Times New Roman" panose="02020603050405020304" pitchFamily="18" charset="0"/>
            </a:endParaRPr>
          </a:p>
          <a:p>
            <a:pPr marL="571500" indent="-571500" algn="just">
              <a:lnSpc>
                <a:spcPct val="150000"/>
              </a:lnSpc>
              <a:spcBef>
                <a:spcPts val="300"/>
              </a:spcBef>
              <a:spcAft>
                <a:spcPts val="800"/>
              </a:spcAft>
              <a:buFont typeface="Wingdings" panose="05000000000000000000" pitchFamily="2" charset="2"/>
              <a:buChar char="q"/>
            </a:pP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về</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chính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sách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GTGT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TNCN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loại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khai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tính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quyết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toán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xử</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lý</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chậm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phạt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thừa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phạm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vi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trách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nhiệm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thức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chủ</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quản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nền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tảng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TMĐT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nền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tảng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hiện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khấu</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kê</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khai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đã</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khấu</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HKD,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CNKD</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trách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nhiệm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khai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tổ</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trong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trường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hợp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hợp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tác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HKD,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CNKD</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ký</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hợp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HKD,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CNKD</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làm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đại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lý</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đúng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giá</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xổ</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bảo</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hiểm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hàng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cấp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sử</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hóa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đơn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điện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tử</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trách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nhiệm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tổ</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liên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quan</a:t>
            </a:r>
            <a:r>
              <a:rPr lang="en-US" sz="29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2900" i="1" dirty="0">
                <a:solidFill>
                  <a:srgbClr val="990033"/>
                </a:solidFill>
                <a:latin typeface="Calibri" panose="020F0502020204030204" pitchFamily="34" charset="0"/>
                <a:ea typeface="Calibri" panose="020F0502020204030204" pitchFamily="34" charset="0"/>
                <a:cs typeface="Calibri" panose="020F0502020204030204" pitchFamily="34" charset="0"/>
              </a:rPr>
              <a:t>(</a:t>
            </a:r>
            <a:r>
              <a:rPr lang="en-US" sz="29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Điều</a:t>
            </a:r>
            <a:r>
              <a:rPr lang="en-US" sz="2900" i="1" dirty="0">
                <a:solidFill>
                  <a:srgbClr val="990033"/>
                </a:solidFill>
                <a:latin typeface="Calibri" panose="020F0502020204030204" pitchFamily="34" charset="0"/>
                <a:ea typeface="Calibri" panose="020F0502020204030204" pitchFamily="34" charset="0"/>
                <a:cs typeface="Calibri" panose="020F0502020204030204" pitchFamily="34" charset="0"/>
              </a:rPr>
              <a:t> 1)</a:t>
            </a:r>
            <a:endParaRPr lang="en-US" sz="2900" dirty="0">
              <a:effectLst/>
              <a:latin typeface="Calibri" panose="020F0502020204030204" pitchFamily="34" charset="0"/>
              <a:ea typeface="Calibri" panose="020F0502020204030204" pitchFamily="34" charset="0"/>
              <a:cs typeface="Calibri" panose="020F0502020204030204" pitchFamily="34" charset="0"/>
            </a:endParaRPr>
          </a:p>
          <a:p>
            <a:pPr marL="571500" indent="-571500" algn="just">
              <a:lnSpc>
                <a:spcPct val="150000"/>
              </a:lnSpc>
              <a:spcBef>
                <a:spcPts val="300"/>
              </a:spcBef>
              <a:spcAft>
                <a:spcPts val="800"/>
              </a:spcAft>
              <a:buFont typeface="Wingdings" panose="05000000000000000000" pitchFamily="2" charset="2"/>
              <a:buChar char="q"/>
            </a:pP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tư</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chi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tiết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về</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hồ</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sơ</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thủ</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tục</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báo</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kê</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khai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hoàn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báo</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điểm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ngừng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chấm</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dứt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KD</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HKD,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CNKD</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khoản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a:solidFill>
                  <a:srgbClr val="002060"/>
                </a:solidFill>
                <a:latin typeface="Calibri" panose="020F0502020204030204" pitchFamily="34" charset="0"/>
                <a:ea typeface="Calibri" panose="020F0502020204030204" pitchFamily="34" charset="0"/>
                <a:cs typeface="Calibri" panose="020F0502020204030204" pitchFamily="34" charset="0"/>
              </a:rPr>
              <a:t>6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Điều</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13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QLT</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Điều</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8,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Điều</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11,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Điều</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12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68/2026/</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NĐ</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-CP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Chính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phủ</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về</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chính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sách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quản</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lý</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hộ</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29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29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Điều</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1)</a:t>
            </a:r>
          </a:p>
          <a:p>
            <a:pPr marL="0" indent="0" algn="just" defTabSz="1828800" eaLnBrk="0" fontAlgn="base" hangingPunct="0">
              <a:lnSpc>
                <a:spcPct val="150000"/>
              </a:lnSpc>
              <a:spcBef>
                <a:spcPts val="600"/>
              </a:spcBef>
              <a:spcAft>
                <a:spcPts val="600"/>
              </a:spcAft>
              <a:defRPr/>
            </a:pPr>
            <a:endParaRPr lang="en-US" altLang="en-US" sz="3200" b="1" dirty="0">
              <a:solidFill>
                <a:srgbClr val="002060"/>
              </a:solidFill>
              <a:latin typeface="+mn-lt"/>
              <a:ea typeface="Microsoft YaHei"/>
            </a:endParaRPr>
          </a:p>
          <a:p>
            <a:pPr marL="0" indent="0" algn="just" defTabSz="1828800" eaLnBrk="0" fontAlgn="base" hangingPunct="0">
              <a:lnSpc>
                <a:spcPct val="150000"/>
              </a:lnSpc>
              <a:spcBef>
                <a:spcPts val="600"/>
              </a:spcBef>
              <a:spcAft>
                <a:spcPts val="600"/>
              </a:spcAft>
              <a:defRPr/>
            </a:pPr>
            <a:endParaRPr lang="en-US" altLang="en-US" sz="3200" b="1" dirty="0">
              <a:solidFill>
                <a:srgbClr val="760427"/>
              </a:solidFill>
              <a:latin typeface="+mn-lt"/>
              <a:ea typeface="Microsoft YaHei"/>
            </a:endParaRPr>
          </a:p>
        </p:txBody>
      </p:sp>
    </p:spTree>
    <p:extLst>
      <p:ext uri="{BB962C8B-B14F-4D97-AF65-F5344CB8AC3E}">
        <p14:creationId xmlns:p14="http://schemas.microsoft.com/office/powerpoint/2010/main" val="2666385227"/>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4000" b="1" dirty="0">
                <a:latin typeface="Arial Bold" panose="020B0704020202020204" pitchFamily="34" charset="0"/>
                <a:cs typeface="Arial Bold" panose="020B0704020202020204" pitchFamily="34"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ĐỐI TƯỢNG ÁP DỤNG</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533400" y="1790701"/>
            <a:ext cx="17373600" cy="7213641"/>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1085850" indent="-742950" algn="just">
              <a:lnSpc>
                <a:spcPct val="150000"/>
              </a:lnSpc>
              <a:spcBef>
                <a:spcPts val="600"/>
              </a:spcBef>
              <a:spcAft>
                <a:spcPts val="600"/>
              </a:spcAft>
              <a:buFont typeface="+mj-lt"/>
              <a:buAutoNum type="arabicPeriod"/>
            </a:pP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Người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hộ</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1085850" indent="-742950" algn="just">
              <a:lnSpc>
                <a:spcPct val="150000"/>
              </a:lnSpc>
              <a:spcBef>
                <a:spcPts val="600"/>
              </a:spcBef>
              <a:spcAft>
                <a:spcPts val="600"/>
              </a:spcAft>
              <a:buFont typeface="+mj-lt"/>
              <a:buAutoNum type="arabicPeriod"/>
            </a:pP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quan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cấp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công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1085850" indent="-742950" algn="just">
              <a:lnSpc>
                <a:spcPct val="150000"/>
              </a:lnSpc>
              <a:spcBef>
                <a:spcPts val="600"/>
              </a:spcBef>
              <a:spcAft>
                <a:spcPts val="600"/>
              </a:spcAft>
              <a:buFont typeface="+mj-lt"/>
              <a:buAutoNum type="arabicPeriod"/>
            </a:pP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quan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tổ</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liên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quan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đến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việc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hiện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nghĩa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vụ</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hộ</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indent="0" algn="just">
              <a:lnSpc>
                <a:spcPct val="150000"/>
              </a:lnSpc>
              <a:spcBef>
                <a:spcPts val="600"/>
              </a:spcBef>
              <a:spcAft>
                <a:spcPts val="600"/>
              </a:spcAft>
            </a:pP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(Điều 2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Nghị</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định</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và</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Điều 2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Thông</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tư</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a:t>
            </a:r>
            <a:endPar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pPr marL="742950" indent="-742950" algn="just">
              <a:lnSpc>
                <a:spcPct val="107000"/>
              </a:lnSpc>
              <a:spcBef>
                <a:spcPts val="900"/>
              </a:spcBef>
              <a:spcAft>
                <a:spcPts val="800"/>
              </a:spcAft>
              <a:buFont typeface="+mj-lt"/>
              <a:buAutoNum type="arabicPeriod"/>
            </a:pPr>
            <a:endParaRPr lang="en-US" sz="3600" dirty="0">
              <a:solidFill>
                <a:srgbClr val="002060"/>
              </a:solidFill>
              <a:effectLst/>
              <a:latin typeface="+mn-lt"/>
              <a:ea typeface="Calibri" panose="020F0502020204030204" pitchFamily="34" charset="0"/>
            </a:endParaRPr>
          </a:p>
          <a:p>
            <a:pPr marL="0" indent="0" algn="just" defTabSz="1828800" eaLnBrk="0" fontAlgn="base" hangingPunct="0">
              <a:lnSpc>
                <a:spcPct val="150000"/>
              </a:lnSpc>
              <a:spcBef>
                <a:spcPts val="600"/>
              </a:spcBef>
              <a:spcAft>
                <a:spcPts val="600"/>
              </a:spcAft>
              <a:defRPr/>
            </a:pPr>
            <a:endParaRPr lang="en-US" altLang="en-US" sz="3200" b="1" dirty="0">
              <a:solidFill>
                <a:srgbClr val="002060"/>
              </a:solidFill>
              <a:latin typeface="+mn-lt"/>
              <a:ea typeface="Microsoft YaHei"/>
            </a:endParaRPr>
          </a:p>
          <a:p>
            <a:pPr marL="0" indent="0" algn="just" defTabSz="1828800" eaLnBrk="0" fontAlgn="base" hangingPunct="0">
              <a:lnSpc>
                <a:spcPct val="150000"/>
              </a:lnSpc>
              <a:spcBef>
                <a:spcPts val="600"/>
              </a:spcBef>
              <a:spcAft>
                <a:spcPts val="600"/>
              </a:spcAft>
              <a:defRPr/>
            </a:pPr>
            <a:endParaRPr lang="en-US" altLang="en-US" sz="3200" b="1" dirty="0">
              <a:solidFill>
                <a:srgbClr val="760427"/>
              </a:solidFill>
              <a:latin typeface="+mn-lt"/>
              <a:ea typeface="Microsoft YaHei"/>
            </a:endParaRPr>
          </a:p>
        </p:txBody>
      </p:sp>
    </p:spTree>
    <p:extLst>
      <p:ext uri="{BB962C8B-B14F-4D97-AF65-F5344CB8AC3E}">
        <p14:creationId xmlns:p14="http://schemas.microsoft.com/office/powerpoint/2010/main" val="117556907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31753" y="1847215"/>
            <a:ext cx="5246597" cy="38100"/>
            <a:chOff x="0" y="0"/>
            <a:chExt cx="6995463" cy="50800"/>
          </a:xfrm>
        </p:grpSpPr>
        <p:sp>
          <p:nvSpPr>
            <p:cNvPr id="3" name="Freeform 3"/>
            <p:cNvSpPr/>
            <p:nvPr/>
          </p:nvSpPr>
          <p:spPr>
            <a:xfrm>
              <a:off x="25400" y="0"/>
              <a:ext cx="6944614" cy="50800"/>
            </a:xfrm>
            <a:custGeom>
              <a:avLst/>
              <a:gdLst/>
              <a:ahLst/>
              <a:cxnLst/>
              <a:rect l="l" t="t" r="r" b="b"/>
              <a:pathLst>
                <a:path w="6944614" h="50800">
                  <a:moveTo>
                    <a:pt x="0" y="0"/>
                  </a:moveTo>
                  <a:lnTo>
                    <a:pt x="6944614" y="0"/>
                  </a:lnTo>
                  <a:lnTo>
                    <a:pt x="6944614" y="50800"/>
                  </a:lnTo>
                  <a:lnTo>
                    <a:pt x="0" y="50800"/>
                  </a:lnTo>
                  <a:close/>
                </a:path>
              </a:pathLst>
            </a:custGeom>
            <a:solidFill>
              <a:srgbClr val="990000"/>
            </a:solidFill>
          </p:spPr>
        </p:sp>
      </p:grpSp>
      <p:grpSp>
        <p:nvGrpSpPr>
          <p:cNvPr id="4" name="Group 4"/>
          <p:cNvGrpSpPr/>
          <p:nvPr/>
        </p:nvGrpSpPr>
        <p:grpSpPr>
          <a:xfrm>
            <a:off x="5004601" y="9174535"/>
            <a:ext cx="12273749" cy="38100"/>
            <a:chOff x="0" y="0"/>
            <a:chExt cx="16364999" cy="50800"/>
          </a:xfrm>
        </p:grpSpPr>
        <p:sp>
          <p:nvSpPr>
            <p:cNvPr id="5" name="Freeform 5"/>
            <p:cNvSpPr/>
            <p:nvPr/>
          </p:nvSpPr>
          <p:spPr>
            <a:xfrm>
              <a:off x="25400" y="0"/>
              <a:ext cx="16314165" cy="50800"/>
            </a:xfrm>
            <a:custGeom>
              <a:avLst/>
              <a:gdLst/>
              <a:ahLst/>
              <a:cxnLst/>
              <a:rect l="l" t="t" r="r" b="b"/>
              <a:pathLst>
                <a:path w="16314165" h="50800">
                  <a:moveTo>
                    <a:pt x="0" y="0"/>
                  </a:moveTo>
                  <a:lnTo>
                    <a:pt x="16314165" y="0"/>
                  </a:lnTo>
                  <a:lnTo>
                    <a:pt x="16314165" y="50800"/>
                  </a:lnTo>
                  <a:lnTo>
                    <a:pt x="0" y="50800"/>
                  </a:lnTo>
                  <a:close/>
                </a:path>
              </a:pathLst>
            </a:custGeom>
            <a:solidFill>
              <a:srgbClr val="990000"/>
            </a:solidFill>
          </p:spPr>
        </p:sp>
      </p:grpSp>
      <p:sp>
        <p:nvSpPr>
          <p:cNvPr id="9" name="TextBox 9"/>
          <p:cNvSpPr txBox="1"/>
          <p:nvPr/>
        </p:nvSpPr>
        <p:spPr>
          <a:xfrm>
            <a:off x="261010" y="342900"/>
            <a:ext cx="16346878" cy="1198571"/>
          </a:xfrm>
          <a:prstGeom prst="rect">
            <a:avLst/>
          </a:prstGeom>
        </p:spPr>
        <p:txBody>
          <a:bodyPr lIns="0" tIns="0" rIns="0" bIns="0" rtlCol="0" anchor="t"/>
          <a:lstStyle/>
          <a:p>
            <a:pPr algn="ctr">
              <a:lnSpc>
                <a:spcPts val="9100"/>
              </a:lnSpc>
            </a:pPr>
            <a:r>
              <a:rPr lang="en-US" sz="4000" b="1" dirty="0">
                <a:solidFill>
                  <a:srgbClr val="990033"/>
                </a:solidFill>
                <a:latin typeface="Arial Bold"/>
                <a:ea typeface="Arial Bold"/>
                <a:cs typeface="Arial Bold"/>
                <a:sym typeface="Arial Bold"/>
              </a:rPr>
              <a:t>CHÍNH SÁCH THUẾ</a:t>
            </a:r>
          </a:p>
        </p:txBody>
      </p:sp>
      <p:grpSp>
        <p:nvGrpSpPr>
          <p:cNvPr id="10" name="Group 10"/>
          <p:cNvGrpSpPr/>
          <p:nvPr/>
        </p:nvGrpSpPr>
        <p:grpSpPr>
          <a:xfrm>
            <a:off x="421554" y="2380013"/>
            <a:ext cx="10624672" cy="6746897"/>
            <a:chOff x="-37613" y="-273503"/>
            <a:chExt cx="14166228" cy="8995863"/>
          </a:xfrm>
        </p:grpSpPr>
        <p:sp>
          <p:nvSpPr>
            <p:cNvPr id="11" name="Freeform 11"/>
            <p:cNvSpPr/>
            <p:nvPr/>
          </p:nvSpPr>
          <p:spPr>
            <a:xfrm>
              <a:off x="0" y="0"/>
              <a:ext cx="14128615" cy="8722360"/>
            </a:xfrm>
            <a:custGeom>
              <a:avLst/>
              <a:gdLst/>
              <a:ahLst/>
              <a:cxnLst/>
              <a:rect l="l" t="t" r="r" b="b"/>
              <a:pathLst>
                <a:path w="14128615" h="8722360">
                  <a:moveTo>
                    <a:pt x="0" y="0"/>
                  </a:moveTo>
                  <a:lnTo>
                    <a:pt x="14128615" y="0"/>
                  </a:lnTo>
                  <a:lnTo>
                    <a:pt x="14128615" y="8722360"/>
                  </a:lnTo>
                  <a:lnTo>
                    <a:pt x="0" y="8722360"/>
                  </a:lnTo>
                  <a:close/>
                </a:path>
              </a:pathLst>
            </a:custGeom>
            <a:solidFill>
              <a:srgbClr val="000000">
                <a:alpha val="0"/>
              </a:srgbClr>
            </a:solidFill>
          </p:spPr>
        </p:sp>
        <p:sp>
          <p:nvSpPr>
            <p:cNvPr id="12" name="TextBox 12"/>
            <p:cNvSpPr txBox="1"/>
            <p:nvPr/>
          </p:nvSpPr>
          <p:spPr>
            <a:xfrm>
              <a:off x="-37613" y="-273503"/>
              <a:ext cx="13916828" cy="8966835"/>
            </a:xfrm>
            <a:prstGeom prst="rect">
              <a:avLst/>
            </a:prstGeom>
          </p:spPr>
          <p:txBody>
            <a:bodyPr lIns="0" tIns="0" rIns="0" bIns="0" rtlCol="0" anchor="t"/>
            <a:lstStyle/>
            <a:p>
              <a:pPr marL="571500" indent="-571500" algn="just">
                <a:lnSpc>
                  <a:spcPts val="7559"/>
                </a:lnSpc>
                <a:buFont typeface="Wingdings" panose="05000000000000000000" pitchFamily="2" charset="2"/>
                <a:buChar char="q"/>
              </a:pPr>
              <a:r>
                <a:rPr lang="en-US" sz="4000" b="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Mức</a:t>
              </a:r>
              <a:r>
                <a:rPr 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b="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ngưỡng</a:t>
              </a:r>
              <a:r>
                <a:rPr 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b="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doanh</a:t>
              </a:r>
              <a:r>
                <a:rPr 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b="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thu</a:t>
              </a:r>
              <a:r>
                <a:rPr 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b="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không</a:t>
              </a:r>
              <a:r>
                <a:rPr 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b="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chịu</a:t>
              </a:r>
              <a:r>
                <a:rPr 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b="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thuế</a:t>
              </a:r>
              <a:r>
                <a:rPr 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GTGT, TNCN</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a:t>
              </a:r>
            </a:p>
            <a:p>
              <a:pPr marL="571500" indent="-571500" algn="just">
                <a:lnSpc>
                  <a:spcPts val="7559"/>
                </a:lnSpc>
                <a:buFont typeface="Wingdings" panose="05000000000000000000" pitchFamily="2" charset="2"/>
                <a:buChar char="ü"/>
              </a:pP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HKD, CNKD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có</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mức</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doanh</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thu</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năm</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 </a:t>
              </a:r>
              <a:r>
                <a:rPr lang="en-US" sz="400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Bold"/>
                </a:rPr>
                <a:t>từ</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b="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1 tỷ đồng </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trở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xuống</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không</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chịu</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thuế</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GTGT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và</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TNCN </a:t>
              </a:r>
              <a:r>
                <a:rPr lang="en-US" sz="4000" i="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a:t>
              </a:r>
              <a:r>
                <a:rPr lang="en-US" sz="4000" i="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trước</a:t>
              </a:r>
              <a:r>
                <a:rPr lang="en-US" sz="4000" i="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i="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là</a:t>
              </a:r>
              <a:r>
                <a:rPr lang="en-US" sz="4000" i="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i="1"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mức</a:t>
              </a:r>
              <a:r>
                <a:rPr lang="en-US" sz="4000" i="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500 </a:t>
              </a:r>
              <a:r>
                <a:rPr lang="en-US" sz="4000" i="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triệu</a:t>
              </a:r>
              <a:r>
                <a:rPr lang="en-US" sz="4000" i="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i="1" dirty="0" err="1">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đồng</a:t>
              </a:r>
              <a:r>
                <a:rPr lang="en-US" sz="4000" i="1" dirty="0">
                  <a:solidFill>
                    <a:srgbClr val="002060"/>
                  </a:solidFill>
                  <a:latin typeface="Calibri" panose="020F0502020204030204" pitchFamily="34" charset="0"/>
                  <a:ea typeface="Calibri" panose="020F0502020204030204" pitchFamily="34" charset="0"/>
                  <a:cs typeface="Calibri" panose="020F0502020204030204" pitchFamily="34" charset="0"/>
                  <a:sym typeface="Arial"/>
                </a:rPr>
                <a:t>)</a:t>
              </a:r>
            </a:p>
            <a:p>
              <a:pPr algn="just">
                <a:lnSpc>
                  <a:spcPts val="7559"/>
                </a:lnSpc>
              </a:pPr>
              <a:r>
                <a:rPr lang="en-US" sz="4000" i="1">
                  <a:solidFill>
                    <a:srgbClr val="990033"/>
                  </a:solidFill>
                  <a:latin typeface="Calibri" panose="020F0502020204030204" pitchFamily="34" charset="0"/>
                  <a:ea typeface="Calibri" panose="020F0502020204030204" pitchFamily="34" charset="0"/>
                  <a:cs typeface="Calibri" panose="020F0502020204030204" pitchFamily="34" charset="0"/>
                  <a:sym typeface="Arial"/>
                </a:rPr>
                <a:t>(Điều </a:t>
              </a:r>
              <a:r>
                <a:rPr lang="en-US" sz="4000" i="1" dirty="0">
                  <a:solidFill>
                    <a:srgbClr val="990033"/>
                  </a:solidFill>
                  <a:latin typeface="Calibri" panose="020F0502020204030204" pitchFamily="34" charset="0"/>
                  <a:ea typeface="Calibri" panose="020F0502020204030204" pitchFamily="34" charset="0"/>
                  <a:cs typeface="Calibri" panose="020F0502020204030204" pitchFamily="34" charset="0"/>
                  <a:sym typeface="Arial"/>
                </a:rPr>
                <a:t>1</a:t>
              </a:r>
              <a:r>
                <a:rPr lang="en-US" sz="4000" i="1">
                  <a:solidFill>
                    <a:srgbClr val="990033"/>
                  </a:solidFill>
                  <a:latin typeface="Calibri" panose="020F0502020204030204" pitchFamily="34" charset="0"/>
                  <a:ea typeface="Calibri" panose="020F0502020204030204" pitchFamily="34" charset="0"/>
                  <a:cs typeface="Calibri" panose="020F0502020204030204" pitchFamily="34" charset="0"/>
                  <a:sym typeface="Arial"/>
                </a:rPr>
                <a:t> </a:t>
              </a:r>
              <a:r>
                <a:rPr lang="en-US" sz="4000" i="1" err="1">
                  <a:solidFill>
                    <a:srgbClr val="990033"/>
                  </a:solidFill>
                  <a:latin typeface="Calibri" panose="020F0502020204030204" pitchFamily="34" charset="0"/>
                  <a:ea typeface="Calibri" panose="020F0502020204030204" pitchFamily="34" charset="0"/>
                  <a:cs typeface="Calibri" panose="020F0502020204030204" pitchFamily="34" charset="0"/>
                  <a:sym typeface="Arial"/>
                </a:rPr>
                <a:t>Nghị</a:t>
              </a:r>
              <a:r>
                <a:rPr lang="en-US" sz="4000" i="1">
                  <a:solidFill>
                    <a:srgbClr val="990033"/>
                  </a:solidFill>
                  <a:latin typeface="Calibri" panose="020F0502020204030204" pitchFamily="34" charset="0"/>
                  <a:ea typeface="Calibri" panose="020F0502020204030204" pitchFamily="34" charset="0"/>
                  <a:cs typeface="Calibri" panose="020F0502020204030204" pitchFamily="34" charset="0"/>
                  <a:sym typeface="Arial"/>
                </a:rPr>
                <a:t> định số 141/2026/NĐ-CP)</a:t>
              </a:r>
              <a:endParaRPr lang="en-US" sz="4000" i="1" dirty="0">
                <a:solidFill>
                  <a:srgbClr val="990033"/>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3" name="Freeform 13"/>
          <p:cNvSpPr/>
          <p:nvPr/>
        </p:nvSpPr>
        <p:spPr>
          <a:xfrm>
            <a:off x="11370076" y="2056765"/>
            <a:ext cx="6309320" cy="6802501"/>
          </a:xfrm>
          <a:custGeom>
            <a:avLst/>
            <a:gdLst/>
            <a:ahLst/>
            <a:cxnLst/>
            <a:rect l="l" t="t" r="r" b="b"/>
            <a:pathLst>
              <a:path w="6309320" h="6802501">
                <a:moveTo>
                  <a:pt x="0" y="0"/>
                </a:moveTo>
                <a:lnTo>
                  <a:pt x="6309320" y="0"/>
                </a:lnTo>
                <a:lnTo>
                  <a:pt x="6309320" y="6802501"/>
                </a:lnTo>
                <a:lnTo>
                  <a:pt x="0" y="6802501"/>
                </a:lnTo>
                <a:lnTo>
                  <a:pt x="0" y="0"/>
                </a:lnTo>
                <a:close/>
              </a:path>
            </a:pathLst>
          </a:custGeom>
          <a:blipFill>
            <a:blip r:embed="rId2"/>
            <a:stretch>
              <a:fillRect/>
            </a:stretch>
          </a:blipFill>
        </p:spPr>
      </p:sp>
    </p:spTree>
    <p:extLst>
      <p:ext uri="{BB962C8B-B14F-4D97-AF65-F5344CB8AC3E}">
        <p14:creationId xmlns:p14="http://schemas.microsoft.com/office/powerpoint/2010/main" val="2529962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152401" y="266700"/>
            <a:ext cx="17762358" cy="1129000"/>
          </a:xfrm>
        </p:spPr>
        <p:txBody>
          <a:bodyPr/>
          <a:lstStyle/>
          <a:p>
            <a:pPr eaLnBrk="1" hangingPunct="1">
              <a:defRPr/>
            </a:pPr>
            <a:r>
              <a:rPr lang="en-US" sz="4000" b="1" dirty="0">
                <a:latin typeface="Times New Roman" pitchFamily="18" charset="0"/>
                <a:cs typeface="Times New Roman" pitchFamily="18"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CHÍNH SÁCH THUẾ (</a:t>
            </a:r>
            <a:r>
              <a:rPr lang="en-US" sz="4000" b="1" dirty="0" err="1">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khoản</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 2 Điều 3 NĐ </a:t>
            </a:r>
            <a:r>
              <a:rPr lang="en-US" sz="4000" b="1" dirty="0" err="1">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và</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 </a:t>
            </a:r>
            <a:r>
              <a:rPr lang="en-US" sz="4000" b="1" dirty="0" err="1">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khoản</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 3 Điều 7 </a:t>
            </a:r>
            <a:r>
              <a:rPr lang="en-US" sz="4000" b="1" dirty="0" err="1">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Luật</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 </a:t>
            </a:r>
            <a:r>
              <a:rPr lang="en-US" sz="4000" b="1" dirty="0" err="1">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Thuế</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 TNCN </a:t>
            </a:r>
            <a:r>
              <a:rPr lang="en-US" sz="4000" b="1" dirty="0" err="1">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số</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ea typeface="Calibri" panose="020F0502020204030204" pitchFamily="34" charset="0"/>
                <a:cs typeface="Arial Bold" panose="020B0704020202020204" pitchFamily="34" charset="0"/>
              </a:rPr>
              <a:t> 109/2025/QH15</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07640" y="4881566"/>
            <a:ext cx="360985" cy="507831"/>
          </a:xfrm>
          <a:prstGeom prst="rect">
            <a:avLst/>
          </a:prstGeom>
          <a:noFill/>
          <a:ln w="9525">
            <a:noFill/>
            <a:miter lim="800000"/>
            <a:headEnd/>
            <a:tailEnd/>
          </a:ln>
        </p:spPr>
        <p:txBody>
          <a:bodyPr wrap="squar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07640" y="4881566"/>
            <a:ext cx="360985" cy="507831"/>
          </a:xfrm>
          <a:prstGeom prst="rect">
            <a:avLst/>
          </a:prstGeom>
          <a:noFill/>
          <a:ln w="9525">
            <a:noFill/>
            <a:miter lim="800000"/>
            <a:headEnd/>
            <a:tailEnd/>
          </a:ln>
        </p:spPr>
        <p:txBody>
          <a:bodyPr wrap="squar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graphicFrame>
        <p:nvGraphicFramePr>
          <p:cNvPr id="3" name="Table 2">
            <a:extLst>
              <a:ext uri="{FF2B5EF4-FFF2-40B4-BE49-F238E27FC236}">
                <a16:creationId xmlns:a16="http://schemas.microsoft.com/office/drawing/2014/main" id="{D6C0970D-CE69-1EAE-09AE-95C4337DC0CE}"/>
              </a:ext>
            </a:extLst>
          </p:cNvPr>
          <p:cNvGraphicFramePr>
            <a:graphicFrameLocks noGrp="1"/>
          </p:cNvGraphicFramePr>
          <p:nvPr>
            <p:extLst>
              <p:ext uri="{D42A27DB-BD31-4B8C-83A1-F6EECF244321}">
                <p14:modId xmlns:p14="http://schemas.microsoft.com/office/powerpoint/2010/main" val="3143246257"/>
              </p:ext>
            </p:extLst>
          </p:nvPr>
        </p:nvGraphicFramePr>
        <p:xfrm>
          <a:off x="297041" y="1998340"/>
          <a:ext cx="17762359" cy="7960118"/>
        </p:xfrm>
        <a:graphic>
          <a:graphicData uri="http://schemas.openxmlformats.org/drawingml/2006/table">
            <a:tbl>
              <a:tblPr firstRow="1" firstCol="1" lastRow="1" lastCol="1" bandRow="1" bandCol="1">
                <a:tableStyleId>{5C22544A-7EE6-4342-B048-85BDC9FD1C3A}</a:tableStyleId>
              </a:tblPr>
              <a:tblGrid>
                <a:gridCol w="5570359">
                  <a:extLst>
                    <a:ext uri="{9D8B030D-6E8A-4147-A177-3AD203B41FA5}">
                      <a16:colId xmlns:a16="http://schemas.microsoft.com/office/drawing/2014/main" val="2013327791"/>
                    </a:ext>
                  </a:extLst>
                </a:gridCol>
                <a:gridCol w="5105400">
                  <a:extLst>
                    <a:ext uri="{9D8B030D-6E8A-4147-A177-3AD203B41FA5}">
                      <a16:colId xmlns:a16="http://schemas.microsoft.com/office/drawing/2014/main" val="1339669185"/>
                    </a:ext>
                  </a:extLst>
                </a:gridCol>
                <a:gridCol w="7086600">
                  <a:extLst>
                    <a:ext uri="{9D8B030D-6E8A-4147-A177-3AD203B41FA5}">
                      <a16:colId xmlns:a16="http://schemas.microsoft.com/office/drawing/2014/main" val="3467116119"/>
                    </a:ext>
                  </a:extLst>
                </a:gridCol>
              </a:tblGrid>
              <a:tr h="719321">
                <a:tc>
                  <a:txBody>
                    <a:bodyPr/>
                    <a:lstStyle/>
                    <a:p>
                      <a:pPr algn="ctr">
                        <a:lnSpc>
                          <a:spcPct val="107000"/>
                        </a:lnSpc>
                        <a:spcAft>
                          <a:spcPts val="800"/>
                        </a:spcAft>
                      </a:pPr>
                      <a:r>
                        <a:rPr lang="en-US" sz="48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Mức</a:t>
                      </a:r>
                      <a:r>
                        <a:rPr lang="en-US" sz="48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48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doanh</a:t>
                      </a:r>
                      <a:r>
                        <a:rPr lang="en-US" sz="48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48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a:t>
                      </a:r>
                      <a:endParaRPr lang="en-US" sz="48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ctr">
                        <a:lnSpc>
                          <a:spcPct val="107000"/>
                        </a:lnSpc>
                        <a:spcAft>
                          <a:spcPts val="800"/>
                        </a:spcAft>
                      </a:pPr>
                      <a:r>
                        <a:rPr lang="en-US" sz="48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48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GTGT</a:t>
                      </a: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ctr">
                        <a:lnSpc>
                          <a:spcPct val="107000"/>
                        </a:lnSpc>
                        <a:spcAft>
                          <a:spcPts val="800"/>
                        </a:spcAft>
                      </a:pPr>
                      <a:r>
                        <a:rPr lang="en-US" sz="48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48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TNCN</a:t>
                      </a: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286796612"/>
                  </a:ext>
                </a:extLst>
              </a:tr>
              <a:tr h="3761993">
                <a:tc>
                  <a:txBody>
                    <a:bodyPr/>
                    <a:lstStyle/>
                    <a:p>
                      <a:pPr>
                        <a:lnSpc>
                          <a:spcPct val="107000"/>
                        </a:lnSpc>
                        <a:spcAft>
                          <a:spcPts val="800"/>
                        </a:spcAft>
                      </a:pPr>
                      <a:r>
                        <a:rPr lang="en-US" sz="3200" b="0" cap="none" spc="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Trên 1 tỷ đồng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đến</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3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đồng</a:t>
                      </a:r>
                      <a:endPar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nSpc>
                          <a:spcPct val="107000"/>
                        </a:lnSpc>
                        <a:spcAft>
                          <a:spcPts val="800"/>
                        </a:spcAft>
                      </a:pP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lệ</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 x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Doanh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a:t>
                      </a:r>
                      <a:endPar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nSpc>
                          <a:spcPct val="107000"/>
                        </a:lnSpc>
                        <a:spcAft>
                          <a:spcPts val="800"/>
                        </a:spcAft>
                      </a:pPr>
                      <a:r>
                        <a:rPr lang="en-US" sz="32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Lựa</a:t>
                      </a:r>
                      <a:r>
                        <a:rPr lang="en-US" sz="32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chọn</a:t>
                      </a:r>
                      <a:r>
                        <a:rPr lang="en-US" sz="32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a:t>
                      </a:r>
                    </a:p>
                    <a:p>
                      <a:pPr>
                        <a:lnSpc>
                          <a:spcPct val="107000"/>
                        </a:lnSpc>
                        <a:spcAft>
                          <a:spcPts val="800"/>
                        </a:spcAft>
                      </a:pP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suất</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x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Doanh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tính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là</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phần</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vượt</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trên</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1</a:t>
                      </a:r>
                      <a:r>
                        <a:rPr lang="en-US" sz="3200" b="0" cap="none" spc="0" baseline="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baseline="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a:t>
                      </a:r>
                      <a:r>
                        <a:rPr lang="en-US" sz="3200" b="0" cap="none" spc="0" baseline="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a:t>
                      </a:r>
                    </a:p>
                    <a:p>
                      <a:pPr>
                        <a:lnSpc>
                          <a:spcPct val="107000"/>
                        </a:lnSpc>
                        <a:spcAft>
                          <a:spcPts val="800"/>
                        </a:spcAft>
                      </a:pPr>
                      <a:r>
                        <a:rPr lang="en-US" sz="3200" b="1" cap="none" spc="0" dirty="0" err="1">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Hoặc</a:t>
                      </a:r>
                      <a:r>
                        <a:rPr lang="en-US" sz="3200" b="1" cap="none" spc="0" dirty="0">
                          <a:ln w="0"/>
                          <a:solidFill>
                            <a:srgbClr val="00206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a:t>
                      </a:r>
                    </a:p>
                    <a:p>
                      <a:pPr>
                        <a:lnSpc>
                          <a:spcPct val="107000"/>
                        </a:lnSpc>
                        <a:spcAft>
                          <a:spcPts val="800"/>
                        </a:spcAft>
                      </a:pP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suất</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15% x Thu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nhập</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tính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Doanh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 chi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phí</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a:t>
                      </a: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84229592"/>
                  </a:ext>
                </a:extLst>
              </a:tr>
              <a:tr h="1724713">
                <a:tc>
                  <a:txBody>
                    <a:bodyPr/>
                    <a:lstStyle/>
                    <a:p>
                      <a:pPr>
                        <a:lnSpc>
                          <a:spcPct val="107000"/>
                        </a:lnSpc>
                        <a:spcAft>
                          <a:spcPts val="800"/>
                        </a:spcAft>
                      </a:pP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Từ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trên</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3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đồng</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đến</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50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đồng</a:t>
                      </a:r>
                      <a:endPar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nSpc>
                          <a:spcPct val="107000"/>
                        </a:lnSpc>
                        <a:spcAft>
                          <a:spcPts val="800"/>
                        </a:spcAft>
                      </a:pPr>
                      <a:r>
                        <a:rPr lang="en-US" sz="3200" b="0" cap="none" spc="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 lệ % x Doanh thu</a:t>
                      </a: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nSpc>
                          <a:spcPct val="107000"/>
                        </a:lnSpc>
                        <a:spcAft>
                          <a:spcPts val="800"/>
                        </a:spcAft>
                      </a:pP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suất</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17% x Thu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nhập</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tính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p>
                    <a:p>
                      <a:pPr>
                        <a:lnSpc>
                          <a:spcPct val="107000"/>
                        </a:lnSpc>
                        <a:spcAft>
                          <a:spcPts val="800"/>
                        </a:spcAft>
                      </a:pP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Doanh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 chi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phí</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a:t>
                      </a: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792143432"/>
                  </a:ext>
                </a:extLst>
              </a:tr>
              <a:tr h="1725445">
                <a:tc>
                  <a:txBody>
                    <a:bodyPr/>
                    <a:lstStyle/>
                    <a:p>
                      <a:pPr>
                        <a:lnSpc>
                          <a:spcPct val="107000"/>
                        </a:lnSpc>
                        <a:spcAft>
                          <a:spcPts val="800"/>
                        </a:spcAft>
                      </a:pP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Trên 50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đồng</a:t>
                      </a:r>
                      <a:endPar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nSpc>
                          <a:spcPct val="107000"/>
                        </a:lnSpc>
                        <a:spcAft>
                          <a:spcPts val="800"/>
                        </a:spcAft>
                      </a:pP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Tỷ</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lệ</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 x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Doanh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a:t>
                      </a:r>
                      <a:endPar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nSpc>
                          <a:spcPct val="107000"/>
                        </a:lnSpc>
                        <a:spcAft>
                          <a:spcPts val="800"/>
                        </a:spcAft>
                      </a:pP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suất</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20% x Thu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nhập</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tính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thuế</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p>
                    <a:p>
                      <a:pPr>
                        <a:lnSpc>
                          <a:spcPct val="107000"/>
                        </a:lnSpc>
                        <a:spcAft>
                          <a:spcPts val="800"/>
                        </a:spcAft>
                      </a:pP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Doanh</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thu</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 – chi </a:t>
                      </a:r>
                      <a:r>
                        <a:rPr lang="en-US" sz="3200" b="0" cap="none" spc="0" dirty="0" err="1">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phí</a:t>
                      </a:r>
                      <a:r>
                        <a:rPr lang="en-US" sz="3200" b="0" cap="none" spc="0" dirty="0">
                          <a:ln w="0"/>
                          <a:solidFill>
                            <a:srgbClr val="990033"/>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a:t>
                      </a:r>
                    </a:p>
                  </a:txBody>
                  <a:tcPr marL="68580" marR="68580" marT="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212595438"/>
                  </a:ext>
                </a:extLst>
              </a:tr>
            </a:tbl>
          </a:graphicData>
        </a:graphic>
      </p:graphicFrame>
      <p:sp>
        <p:nvSpPr>
          <p:cNvPr id="4" name="Rectangle 1">
            <a:extLst>
              <a:ext uri="{FF2B5EF4-FFF2-40B4-BE49-F238E27FC236}">
                <a16:creationId xmlns:a16="http://schemas.microsoft.com/office/drawing/2014/main" id="{C8C68323-A08C-1BE9-9D3D-1B875992C8C3}"/>
              </a:ext>
            </a:extLst>
          </p:cNvPr>
          <p:cNvSpPr>
            <a:spLocks noChangeArrowheads="1"/>
          </p:cNvSpPr>
          <p:nvPr/>
        </p:nvSpPr>
        <p:spPr bwMode="auto">
          <a:xfrm>
            <a:off x="6096000" y="4471021"/>
            <a:ext cx="29986860" cy="410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309511246"/>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76200" y="114300"/>
            <a:ext cx="17907000" cy="1257300"/>
          </a:xfrm>
        </p:spPr>
        <p:txBody>
          <a:bodyPr/>
          <a:lstStyle/>
          <a:p>
            <a:pPr eaLnBrk="1" hangingPunct="1">
              <a:defRPr/>
            </a:pPr>
            <a:r>
              <a:rPr lang="en-US" sz="6600" b="1">
                <a:latin typeface="Arial Bold" panose="020B0704020202020204" pitchFamily="34" charset="0"/>
                <a:cs typeface="Arial Bold" panose="020B0704020202020204" pitchFamily="34" charset="0"/>
              </a:rPr>
              <a:t> </a:t>
            </a:r>
            <a:r>
              <a:rPr lang="en-US" sz="8000">
                <a:solidFill>
                  <a:srgbClr val="000000"/>
                </a:solidFill>
                <a:latin typeface="Arial Bold" panose="020B0704020202020204" pitchFamily="34" charset="0"/>
                <a:ea typeface="Times New Roman" panose="02020603050405020304" pitchFamily="18" charset="0"/>
                <a:cs typeface="Arial Bold" panose="020B0704020202020204" pitchFamily="34" charset="0"/>
              </a:rPr>
              <a:t> </a:t>
            </a:r>
            <a:r>
              <a:rPr lang="en-US" sz="4000" b="1">
                <a:solidFill>
                  <a:srgbClr val="990033"/>
                </a:solidFill>
                <a:latin typeface="Arial Bold" panose="020B0704020202020204" pitchFamily="34" charset="0"/>
                <a:ea typeface="Times New Roman" panose="02020603050405020304" pitchFamily="18" charset="0"/>
                <a:cs typeface="Arial Bold" panose="020B0704020202020204" pitchFamily="34" charset="0"/>
              </a:rPr>
              <a:t>XÁC ĐỊNH MỨC TRỪ 1 TỶ ĐỐI VỚI CNKD </a:t>
            </a:r>
            <a:br>
              <a:rPr lang="en-US" sz="4000" b="1">
                <a:solidFill>
                  <a:srgbClr val="990033"/>
                </a:solidFill>
                <a:latin typeface="Arial Bold" panose="020B0704020202020204" pitchFamily="34" charset="0"/>
                <a:ea typeface="Times New Roman" panose="02020603050405020304" pitchFamily="18" charset="0"/>
                <a:cs typeface="Arial Bold" panose="020B0704020202020204" pitchFamily="34" charset="0"/>
              </a:rPr>
            </a:br>
            <a:r>
              <a:rPr lang="en-US" sz="4000" b="1">
                <a:solidFill>
                  <a:srgbClr val="990033"/>
                </a:solidFill>
                <a:latin typeface="Arial Bold" panose="020B0704020202020204" pitchFamily="34" charset="0"/>
                <a:ea typeface="Times New Roman" panose="02020603050405020304" pitchFamily="18" charset="0"/>
                <a:cs typeface="Arial Bold" panose="020B0704020202020204" pitchFamily="34" charset="0"/>
              </a:rPr>
              <a:t>K3 ĐIỀU 7 LUẬT THUẾ TNCN</a:t>
            </a:r>
            <a:endPar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endParaRP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457200" y="2019300"/>
            <a:ext cx="17373600" cy="8432758"/>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571500" indent="-571500" algn="just">
              <a:lnSpc>
                <a:spcPct val="130000"/>
              </a:lnSpc>
              <a:spcBef>
                <a:spcPts val="800"/>
              </a:spcBef>
              <a:buFont typeface="Wingdings" panose="05000000000000000000" pitchFamily="2" charset="2"/>
              <a:buChar char="q"/>
            </a:pP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nhiều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nghề</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nhau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nhiều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ĐĐKD </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a:solidFill>
                  <a:srgbClr val="002060"/>
                </a:solidFill>
                <a:latin typeface="Calibri" panose="020F0502020204030204" pitchFamily="34" charset="0"/>
                <a:ea typeface="Calibri" panose="020F0502020204030204" pitchFamily="34" charset="0"/>
                <a:cs typeface="Calibri" panose="020F0502020204030204" pitchFamily="34" charset="0"/>
              </a:rPr>
              <a:t>1 tỷ</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trước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tính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một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một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nghề</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ĐĐKD </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do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lựa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chọn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phương</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án</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có</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lợi</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nhất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nhưng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tổng</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mức</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trừ</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không</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vượt</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err="1">
                <a:solidFill>
                  <a:srgbClr val="FF0000"/>
                </a:solidFill>
                <a:effectLst/>
                <a:latin typeface="Calibri" panose="020F0502020204030204" pitchFamily="34" charset="0"/>
                <a:ea typeface="Calibri" panose="020F0502020204030204" pitchFamily="34" charset="0"/>
                <a:cs typeface="Calibri" panose="020F0502020204030204" pitchFamily="34" charset="0"/>
              </a:rPr>
              <a:t>quá</a:t>
            </a:r>
            <a:r>
              <a:rPr lang="en-US" sz="3600" b="1">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a:solidFill>
                  <a:srgbClr val="FF0000"/>
                </a:solidFill>
                <a:latin typeface="Calibri" panose="020F0502020204030204" pitchFamily="34" charset="0"/>
                <a:ea typeface="Calibri" panose="020F0502020204030204" pitchFamily="34" charset="0"/>
                <a:cs typeface="Calibri" panose="020F0502020204030204" pitchFamily="34" charset="0"/>
              </a:rPr>
              <a:t>1 tỷ</a:t>
            </a:r>
            <a:r>
              <a:rPr lang="en-US" sz="3600" b="1">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đồng</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trong</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một</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toàn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bộ</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30000"/>
              </a:lnSpc>
              <a:spcBef>
                <a:spcPts val="800"/>
              </a:spcBef>
              <a:buFont typeface="Wingdings" panose="05000000000000000000" pitchFamily="2" charset="2"/>
              <a:buChar char="q"/>
            </a:pP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Trường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hợp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nghề</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ĐĐKD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lựa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chọn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chưa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đủ</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a:solidFill>
                  <a:srgbClr val="002060"/>
                </a:solidFill>
                <a:latin typeface="Calibri" panose="020F0502020204030204" pitchFamily="34" charset="0"/>
                <a:ea typeface="Calibri" panose="020F0502020204030204" pitchFamily="34" charset="0"/>
                <a:cs typeface="Calibri" panose="020F0502020204030204" pitchFamily="34" charset="0"/>
              </a:rPr>
              <a:t>1 tỷ</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đồng </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tiếp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chưa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hết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một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một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nghề</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ĐĐKD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đến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tổng</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mức</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trừ</a:t>
            </a:r>
            <a:r>
              <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err="1">
                <a:solidFill>
                  <a:srgbClr val="FF0000"/>
                </a:solidFill>
                <a:effectLst/>
                <a:latin typeface="Calibri" panose="020F0502020204030204" pitchFamily="34" charset="0"/>
                <a:ea typeface="Calibri" panose="020F0502020204030204" pitchFamily="34" charset="0"/>
                <a:cs typeface="Calibri" panose="020F0502020204030204" pitchFamily="34" charset="0"/>
              </a:rPr>
              <a:t>đủ</a:t>
            </a:r>
            <a:r>
              <a:rPr lang="en-US" sz="3600" b="1">
                <a:solidFill>
                  <a:srgbClr val="FF0000"/>
                </a:solidFill>
                <a:effectLst/>
                <a:latin typeface="Calibri" panose="020F0502020204030204" pitchFamily="34" charset="0"/>
                <a:ea typeface="Calibri" panose="020F0502020204030204" pitchFamily="34" charset="0"/>
                <a:cs typeface="Calibri" panose="020F0502020204030204" pitchFamily="34" charset="0"/>
              </a:rPr>
              <a:t> 1 tỷ đồng</a:t>
            </a:r>
            <a:endParaRPr lang="en-US"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30000"/>
              </a:lnSpc>
              <a:spcBef>
                <a:spcPts val="800"/>
              </a:spcBef>
            </a:pP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Khoản</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3 Điều 4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Nghị</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định</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a:t>
            </a:r>
            <a:endPar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pPr marL="800100" indent="-457200" algn="just">
              <a:lnSpc>
                <a:spcPct val="110000"/>
              </a:lnSpc>
              <a:spcBef>
                <a:spcPts val="600"/>
              </a:spcBef>
              <a:spcAft>
                <a:spcPts val="600"/>
              </a:spcAft>
              <a:buFont typeface="Courier New" panose="02070309020205020404" pitchFamily="49" charset="0"/>
              <a:buChar char="o"/>
            </a:pPr>
            <a:endParaRPr lang="en-US" sz="3600" dirty="0">
              <a:solidFill>
                <a:srgbClr val="002060"/>
              </a:solidFill>
              <a:latin typeface="+mj-lt"/>
              <a:ea typeface="Times New Roman" panose="02020603050405020304" pitchFamily="18" charset="0"/>
            </a:endParaRPr>
          </a:p>
          <a:p>
            <a:pPr marL="0" indent="0" defTabSz="1828800" eaLnBrk="0" fontAlgn="base" hangingPunct="0">
              <a:lnSpc>
                <a:spcPct val="150000"/>
              </a:lnSpc>
              <a:spcBef>
                <a:spcPct val="0"/>
              </a:spcBef>
              <a:spcAft>
                <a:spcPct val="0"/>
              </a:spcAft>
              <a:defRPr/>
            </a:pPr>
            <a:endParaRPr lang="en-US" altLang="en-US" sz="4400" b="1" dirty="0">
              <a:solidFill>
                <a:srgbClr val="760427"/>
              </a:solidFill>
              <a:ea typeface="Microsoft YaHei"/>
            </a:endParaRPr>
          </a:p>
        </p:txBody>
      </p:sp>
    </p:spTree>
    <p:extLst>
      <p:ext uri="{BB962C8B-B14F-4D97-AF65-F5344CB8AC3E}">
        <p14:creationId xmlns:p14="http://schemas.microsoft.com/office/powerpoint/2010/main" val="315263326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381000" y="114300"/>
            <a:ext cx="18516600" cy="1257300"/>
          </a:xfrm>
        </p:spPr>
        <p:txBody>
          <a:bodyPr/>
          <a:lstStyle/>
          <a:p>
            <a:pPr eaLnBrk="1" hangingPunct="1">
              <a:defRPr/>
            </a:pPr>
            <a:r>
              <a:rPr lang="en-US" sz="6600" b="1" dirty="0">
                <a:latin typeface="Times New Roman" pitchFamily="18" charset="0"/>
                <a:cs typeface="Times New Roman" pitchFamily="18" charset="0"/>
              </a:rPr>
              <a:t> </a:t>
            </a:r>
            <a:r>
              <a:rPr lang="en-US" sz="8000" dirty="0">
                <a:solidFill>
                  <a:srgbClr val="000000"/>
                </a:solidFill>
                <a:latin typeface="Times New Roman" panose="02020603050405020304" pitchFamily="18" charset="0"/>
                <a:ea typeface="Times New Roman" panose="02020603050405020304" pitchFamily="18" charset="0"/>
              </a:rPr>
              <a:t> </a:t>
            </a:r>
            <a:r>
              <a:rPr lang="en-US" sz="4000" b="1"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PHƯƠNG PHÁP TÍNH THUẾ THU NHẬP CÁ NHÂN (</a:t>
            </a:r>
            <a:r>
              <a:rPr lang="en-US" sz="4000" b="1"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khoản</a:t>
            </a:r>
            <a:r>
              <a:rPr lang="en-US" sz="4000" b="1"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5 Điều 4 NĐ)</a:t>
            </a:r>
            <a:endPar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endParaRP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457200" y="1790700"/>
            <a:ext cx="17373600" cy="10545516"/>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571500" indent="-571500" algn="just">
              <a:lnSpc>
                <a:spcPct val="107000"/>
              </a:lnSpc>
              <a:spcBef>
                <a:spcPts val="600"/>
              </a:spcBef>
              <a:spcAft>
                <a:spcPts val="800"/>
              </a:spcAft>
              <a:buFont typeface="Wingdings" panose="05000000000000000000" pitchFamily="2" charset="2"/>
              <a:buChar char="q"/>
            </a:pP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Phương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pháp</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suất</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nhân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(x)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doanh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tính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CNKD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a:solidFill>
                  <a:srgbClr val="990033"/>
                </a:solidFill>
                <a:effectLst/>
                <a:latin typeface="Calibri" panose="020F0502020204030204" pitchFamily="34" charset="0"/>
                <a:ea typeface="Calibri" panose="020F0502020204030204" pitchFamily="34" charset="0"/>
                <a:cs typeface="Calibri" panose="020F0502020204030204" pitchFamily="34" charset="0"/>
              </a:rPr>
              <a:t>trên 1 t</a:t>
            </a:r>
            <a:r>
              <a:rPr lang="en-US" sz="3200" u="sng">
                <a:solidFill>
                  <a:srgbClr val="990033"/>
                </a:solidFill>
                <a:latin typeface="Calibri" panose="020F0502020204030204" pitchFamily="34" charset="0"/>
                <a:ea typeface="Calibri" panose="020F0502020204030204" pitchFamily="34" charset="0"/>
                <a:cs typeface="Calibri" panose="020F0502020204030204" pitchFamily="34" charset="0"/>
              </a:rPr>
              <a:t>ỷ</a:t>
            </a:r>
            <a:r>
              <a:rPr lang="en-US" sz="3200" u="sng">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đến</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03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tỷ</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tại</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khoản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3 Điều 7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a:t>
            </a:r>
          </a:p>
          <a:p>
            <a:pPr marL="571500" indent="-571500" algn="just">
              <a:lnSpc>
                <a:spcPct val="107000"/>
              </a:lnSpc>
              <a:spcBef>
                <a:spcPts val="600"/>
              </a:spcBef>
              <a:spcAft>
                <a:spcPts val="800"/>
              </a:spcAft>
              <a:buFont typeface="Wingdings" panose="05000000000000000000" pitchFamily="2" charset="2"/>
              <a:buChar char="q"/>
            </a:pP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Phương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pháp</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nhập</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tính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nhân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(x)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suất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CNKD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trên</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03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tỷ</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trường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hợp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a:solidFill>
                  <a:srgbClr val="990033"/>
                </a:solidFill>
                <a:effectLst/>
                <a:latin typeface="Calibri" panose="020F0502020204030204" pitchFamily="34" charset="0"/>
                <a:ea typeface="Calibri" panose="020F0502020204030204" pitchFamily="34" charset="0"/>
                <a:cs typeface="Calibri" panose="020F0502020204030204" pitchFamily="34" charset="0"/>
              </a:rPr>
              <a:t>trên</a:t>
            </a:r>
            <a:r>
              <a:rPr lang="en-US" sz="3200" u="sng">
                <a:solidFill>
                  <a:srgbClr val="990033"/>
                </a:solidFill>
                <a:latin typeface="Calibri" panose="020F0502020204030204" pitchFamily="34" charset="0"/>
                <a:ea typeface="Calibri" panose="020F0502020204030204" pitchFamily="34" charset="0"/>
                <a:cs typeface="Calibri" panose="020F0502020204030204" pitchFamily="34" charset="0"/>
              </a:rPr>
              <a:t> 1 tỷ</a:t>
            </a:r>
            <a:r>
              <a:rPr lang="en-US" sz="3200" u="sng">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đến</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03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tỷ</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lựa</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chọn</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phương</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pháp</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này</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Thu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nhập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tính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xác</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bằng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hàng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hóa</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dịch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vụ</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ra</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 chi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phí</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liên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quan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đến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sản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xuất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trong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kỳ</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tính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tại</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khoản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2 Điều 7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a:t>
            </a:r>
          </a:p>
          <a:p>
            <a:pPr marL="571500" indent="-571500" algn="just">
              <a:lnSpc>
                <a:spcPct val="107000"/>
              </a:lnSpc>
              <a:spcBef>
                <a:spcPts val="600"/>
              </a:spcBef>
              <a:spcAft>
                <a:spcPts val="800"/>
              </a:spcAft>
              <a:buFont typeface="Wingdings" panose="05000000000000000000" pitchFamily="2" charset="2"/>
              <a:buChar char="q"/>
            </a:pP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trên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03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tỷ</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trên</a:t>
            </a:r>
            <a:r>
              <a:rPr lang="en-US" sz="3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a:solidFill>
                  <a:srgbClr val="002060"/>
                </a:solidFill>
                <a:latin typeface="Calibri" panose="020F0502020204030204" pitchFamily="34" charset="0"/>
                <a:ea typeface="Calibri" panose="020F0502020204030204" pitchFamily="34" charset="0"/>
                <a:cs typeface="Calibri" panose="020F0502020204030204" pitchFamily="34" charset="0"/>
              </a:rPr>
              <a:t>1 tỷ</a:t>
            </a:r>
            <a:r>
              <a:rPr lang="en-US" sz="3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đến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03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tỷ</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đang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pp TNTT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nhân</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(x)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suất</a:t>
            </a:r>
            <a:r>
              <a:rPr lang="en-US" sz="3200"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thì</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hiện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ổn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pp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tính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trong</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02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liên</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tục</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kể</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đầu</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tiên</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u="sng"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p>
          <a:p>
            <a:pPr marL="571500" indent="-571500" algn="just">
              <a:lnSpc>
                <a:spcPct val="107000"/>
              </a:lnSpc>
              <a:spcBef>
                <a:spcPts val="600"/>
              </a:spcBef>
              <a:spcAft>
                <a:spcPts val="800"/>
              </a:spcAft>
              <a:buFont typeface="Wingdings" panose="05000000000000000000" pitchFamily="2" charset="2"/>
              <a:buChar char="q"/>
            </a:pP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trên</a:t>
            </a:r>
            <a:r>
              <a:rPr lang="en-US" sz="3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a:solidFill>
                  <a:srgbClr val="002060"/>
                </a:solidFill>
                <a:latin typeface="Calibri" panose="020F0502020204030204" pitchFamily="34" charset="0"/>
                <a:ea typeface="Calibri" panose="020F0502020204030204" pitchFamily="34" charset="0"/>
                <a:cs typeface="Calibri" panose="020F0502020204030204" pitchFamily="34" charset="0"/>
              </a:rPr>
              <a:t>1 tỷ</a:t>
            </a:r>
            <a:r>
              <a:rPr lang="en-US" sz="3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đến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03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tỷ</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đang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pp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(x) DTTT,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nếu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hết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xác</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trên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03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tỷ</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thì</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tiếp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phải</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chuyển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sang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phương</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pháp</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TNTT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(x)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r>
              <a:rPr lang="en-US" sz="32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07000"/>
              </a:lnSpc>
              <a:spcBef>
                <a:spcPts val="600"/>
              </a:spcBef>
              <a:spcAft>
                <a:spcPts val="800"/>
              </a:spcAft>
              <a:buFont typeface="Wingdings" panose="05000000000000000000" pitchFamily="2" charset="2"/>
              <a:buChar char="q"/>
            </a:pP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600"/>
              </a:spcBef>
              <a:spcAft>
                <a:spcPts val="800"/>
              </a:spcAft>
            </a:pPr>
            <a:endParaRPr lang="en-US" sz="3600" i="1" dirty="0">
              <a:solidFill>
                <a:srgbClr val="990033"/>
              </a:solidFill>
              <a:latin typeface="+mj-lt"/>
              <a:ea typeface="Times New Roman" panose="02020603050405020304" pitchFamily="18" charset="0"/>
            </a:endParaRPr>
          </a:p>
          <a:p>
            <a:pPr marL="0" indent="0" defTabSz="1828800" eaLnBrk="0" fontAlgn="base" hangingPunct="0">
              <a:lnSpc>
                <a:spcPct val="150000"/>
              </a:lnSpc>
              <a:spcBef>
                <a:spcPct val="0"/>
              </a:spcBef>
              <a:spcAft>
                <a:spcPct val="0"/>
              </a:spcAft>
              <a:defRPr/>
            </a:pPr>
            <a:endParaRPr lang="en-US" altLang="en-US" sz="4400" b="1" dirty="0">
              <a:solidFill>
                <a:srgbClr val="760427"/>
              </a:solidFill>
              <a:ea typeface="Microsoft YaHei"/>
            </a:endParaRPr>
          </a:p>
        </p:txBody>
      </p:sp>
    </p:spTree>
    <p:extLst>
      <p:ext uri="{BB962C8B-B14F-4D97-AF65-F5344CB8AC3E}">
        <p14:creationId xmlns:p14="http://schemas.microsoft.com/office/powerpoint/2010/main" val="2869428556"/>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685800" y="342900"/>
            <a:ext cx="15316200" cy="1257300"/>
          </a:xfrm>
        </p:spPr>
        <p:txBody>
          <a:bodyPr/>
          <a:lstStyle/>
          <a:p>
            <a:pPr eaLnBrk="1" hangingPunct="1">
              <a:defRPr/>
            </a:pPr>
            <a:r>
              <a:rPr lang="en-US" sz="4000" b="1" dirty="0">
                <a:latin typeface="Arial Bold" panose="020B0704020202020204" pitchFamily="34" charset="0"/>
                <a:cs typeface="Arial Bold" panose="020B0704020202020204" pitchFamily="34" charset="0"/>
              </a:rPr>
              <a:t> </a:t>
            </a:r>
            <a:r>
              <a:rPr lang="en-US" sz="4000" dirty="0">
                <a:solidFill>
                  <a:srgbClr val="000000"/>
                </a:solidFill>
                <a:latin typeface="Arial Bold" panose="020B0704020202020204" pitchFamily="34" charset="0"/>
                <a:ea typeface="Times New Roman" panose="02020603050405020304" pitchFamily="18" charset="0"/>
                <a:cs typeface="Arial Bold" panose="020B0704020202020204" pitchFamily="34" charset="0"/>
              </a:rPr>
              <a:t> </a:t>
            </a:r>
            <a:r>
              <a:rPr lang="en-US" sz="4000" b="1"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DOANH THU XÁC ĐỊNH THUẾ TNCN</a:t>
            </a:r>
            <a:endPar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endParaRP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457200" y="2019300"/>
            <a:ext cx="17373600" cy="10058844"/>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indent="457200" algn="just">
              <a:lnSpc>
                <a:spcPct val="110000"/>
              </a:lnSpc>
              <a:spcBef>
                <a:spcPts val="600"/>
              </a:spcBef>
              <a:spcAft>
                <a:spcPts val="600"/>
              </a:spcAft>
            </a:pPr>
            <a:r>
              <a:rPr lang="en-US" sz="3600" b="1"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là</a:t>
            </a:r>
            <a:r>
              <a:rPr lang="en-US" sz="36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toàn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bộ</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hàng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công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cung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ứng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dịch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vụ</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kể</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phụ</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phụ</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trội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CNKD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hưởng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không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biệt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hay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chưa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bao </a:t>
            </a:r>
            <a:r>
              <a:rPr lang="en-US" sz="3600" b="1"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gồm</a:t>
            </a:r>
            <a:r>
              <a:rPr lang="en-US" sz="36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cả</a:t>
            </a:r>
            <a:r>
              <a:rPr lang="en-US" sz="36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914400" indent="-571500" algn="just">
              <a:lnSpc>
                <a:spcPct val="110000"/>
              </a:lnSpc>
              <a:spcBef>
                <a:spcPts val="600"/>
              </a:spcBef>
              <a:spcAft>
                <a:spcPts val="600"/>
              </a:spcAft>
              <a:buFont typeface="Courier New" panose="02070309020205020404" pitchFamily="49" charset="0"/>
              <a:buChar char="o"/>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khoản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thưởng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nhận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914400" indent="-571500" algn="just">
              <a:lnSpc>
                <a:spcPct val="110000"/>
              </a:lnSpc>
              <a:spcBef>
                <a:spcPts val="600"/>
              </a:spcBef>
              <a:spcAft>
                <a:spcPts val="600"/>
              </a:spcAft>
              <a:buFont typeface="Courier New" panose="02070309020205020404" pitchFamily="49" charset="0"/>
              <a:buChar char="o"/>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hoản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nhận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hỗ</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khuyến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mại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chiết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khấu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toán</a:t>
            </a: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914400" indent="-571500" algn="just">
              <a:lnSpc>
                <a:spcPct val="110000"/>
              </a:lnSpc>
              <a:spcBef>
                <a:spcPts val="600"/>
              </a:spcBef>
              <a:spcAft>
                <a:spcPts val="600"/>
              </a:spcAft>
              <a:buFont typeface="Courier New" panose="02070309020205020404" pitchFamily="49" charset="0"/>
              <a:buChar char="o"/>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hoản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hỗ</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nhận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bằng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không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bằng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800100" indent="-457200" algn="just">
              <a:lnSpc>
                <a:spcPct val="110000"/>
              </a:lnSpc>
              <a:spcBef>
                <a:spcPts val="600"/>
              </a:spcBef>
              <a:spcAft>
                <a:spcPts val="600"/>
              </a:spcAft>
              <a:buFont typeface="Courier New" panose="02070309020205020404" pitchFamily="49" charset="0"/>
              <a:buChar char="o"/>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khoản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bồi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thường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vi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phạm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hợp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bồi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thường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liên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quan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đến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p>
          <a:p>
            <a:pPr marL="800100" indent="-457200" algn="just">
              <a:lnSpc>
                <a:spcPct val="110000"/>
              </a:lnSpc>
              <a:spcBef>
                <a:spcPts val="600"/>
              </a:spcBef>
              <a:spcAft>
                <a:spcPts val="600"/>
              </a:spcAft>
              <a:buFont typeface="Courier New" panose="02070309020205020404" pitchFamily="49" charset="0"/>
              <a:buChar char="o"/>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D</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CNKD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nhận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không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biệt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hay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chưa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hông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bao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gồm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Chiết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khấu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thương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mại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giảm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hàng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trị</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hàng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bị</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lại</a:t>
            </a: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10000"/>
              </a:lnSpc>
              <a:spcBef>
                <a:spcPts val="600"/>
              </a:spcBef>
              <a:spcAft>
                <a:spcPts val="600"/>
              </a:spcAft>
            </a:pPr>
            <a:r>
              <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6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1 Điều 6 </a:t>
            </a:r>
            <a:r>
              <a:rPr lang="en-US" sz="36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Nghị</a:t>
            </a:r>
            <a:r>
              <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định</a:t>
            </a:r>
            <a:r>
              <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800100" indent="-457200" algn="just">
              <a:lnSpc>
                <a:spcPct val="110000"/>
              </a:lnSpc>
              <a:spcBef>
                <a:spcPts val="600"/>
              </a:spcBef>
              <a:spcAft>
                <a:spcPts val="600"/>
              </a:spcAft>
              <a:buFont typeface="Courier New" panose="02070309020205020404" pitchFamily="49" charset="0"/>
              <a:buChar char="o"/>
            </a:pP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defTabSz="1828800" eaLnBrk="0" fontAlgn="base" hangingPunct="0">
              <a:lnSpc>
                <a:spcPct val="150000"/>
              </a:lnSpc>
              <a:spcBef>
                <a:spcPct val="0"/>
              </a:spcBef>
              <a:spcAft>
                <a:spcPct val="0"/>
              </a:spcAft>
              <a:defRPr/>
            </a:pPr>
            <a:endParaRPr lang="en-US" altLang="en-US" sz="4400" b="1" dirty="0">
              <a:solidFill>
                <a:srgbClr val="760427"/>
              </a:solidFill>
              <a:ea typeface="Microsoft YaHei"/>
            </a:endParaRPr>
          </a:p>
        </p:txBody>
      </p:sp>
    </p:spTree>
    <p:extLst>
      <p:ext uri="{BB962C8B-B14F-4D97-AF65-F5344CB8AC3E}">
        <p14:creationId xmlns:p14="http://schemas.microsoft.com/office/powerpoint/2010/main" val="4155510184"/>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152400" y="571500"/>
            <a:ext cx="18135600"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CÁC KHOẢN CHI ĐƯỢC TRỪ KHI XÁC ĐỊNH THUẾ TNCN ĐỐI VỚI PHƯƠNG PHÁP TNTT x THUẾ SUẤT (</a:t>
            </a:r>
            <a:r>
              <a:rPr lang="en-US" sz="4000" b="1" dirty="0" err="1">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khoản</a:t>
            </a:r>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 1 Điều 6 NĐ)</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04800" y="1828800"/>
            <a:ext cx="17526000" cy="8458199"/>
          </a:xfrm>
        </p:spPr>
        <p:txBody>
          <a:bodyPr/>
          <a:lstStyle/>
          <a:p>
            <a:pPr marL="0" indent="0" algn="just">
              <a:spcBef>
                <a:spcPts val="600"/>
              </a:spcBef>
              <a:spcAft>
                <a:spcPts val="600"/>
              </a:spcAft>
            </a:pP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Là</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khoản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CP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tế</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phát</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sinh</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liên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quan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đến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SXKD,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đủ</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hóa</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đơn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chứng</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chứng</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thanh</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toán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không</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dùng</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mặt</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khoản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thanh</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toán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từng</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lần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giá</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trị</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05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triệu</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trở</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lên</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pháp</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luật</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về</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GTGT,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cụ</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thể</a:t>
            </a:r>
            <a:r>
              <a:rPr lang="en-US" sz="34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spcBef>
                <a:spcPts val="600"/>
              </a:spcBef>
              <a:spcAft>
                <a:spcPts val="600"/>
              </a:spcAft>
              <a:buFont typeface="Wingdings" panose="05000000000000000000" pitchFamily="2" charset="2"/>
              <a:buChar char="ü"/>
            </a:pP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CP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nguyên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liệu</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VL,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nhiên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liệu</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năng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lượng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HH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sử</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dụng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vào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SXKD</a:t>
            </a:r>
          </a:p>
          <a:p>
            <a:pPr marL="571500" indent="-571500" algn="just">
              <a:spcBef>
                <a:spcPts val="600"/>
              </a:spcBef>
              <a:spcAft>
                <a:spcPts val="600"/>
              </a:spcAft>
              <a:buFont typeface="Wingdings" panose="05000000000000000000" pitchFamily="2" charset="2"/>
              <a:buChar char="ü"/>
            </a:pP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CP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lương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công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thưởng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phụ</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cấp</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bảo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hiểm</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bắt</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buộc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trả</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cho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NLĐ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có</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đóng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BH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bắt</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buộc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theo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phí</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lương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công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phụ</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cấp</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trả</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cho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NLĐ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dưới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1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tháng</a:t>
            </a:r>
            <a:endPar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spcBef>
                <a:spcPts val="600"/>
              </a:spcBef>
              <a:spcAft>
                <a:spcPts val="600"/>
              </a:spcAft>
              <a:buFont typeface="Wingdings" panose="05000000000000000000" pitchFamily="2" charset="2"/>
              <a:buChar char="ü"/>
            </a:pP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CP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khấu</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hao TSCĐ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phục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vụ</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SXKD </a:t>
            </a:r>
          </a:p>
          <a:p>
            <a:pPr marL="571500" indent="-571500" algn="just">
              <a:spcBef>
                <a:spcPts val="600"/>
              </a:spcBef>
              <a:spcAft>
                <a:spcPts val="600"/>
              </a:spcAft>
              <a:buFont typeface="Wingdings" panose="05000000000000000000" pitchFamily="2" charset="2"/>
              <a:buChar char="ü"/>
            </a:pP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CP DV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mua</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ngoài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như</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điện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nước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điện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thoại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internet,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vận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chuyển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thuê</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TS,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sửa</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chữa</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bảo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dưỡng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có</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hóa</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đơn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chứng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từ</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theo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endPar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spcBef>
                <a:spcPts val="600"/>
              </a:spcBef>
              <a:spcAft>
                <a:spcPts val="600"/>
              </a:spcAft>
              <a:buFont typeface="Wingdings" panose="05000000000000000000" pitchFamily="2" charset="2"/>
              <a:buChar char="ü"/>
            </a:pP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CP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trả</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lãi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vay</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vốn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SXKD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của</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TCTD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theo</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lãi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suất</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thực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tế</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CP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trả</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lãi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vay</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vốn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SXKD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của</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đối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tượng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không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phải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là</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TCTD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không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vượt</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quá</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mức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tại</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Bộ</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luật</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Dân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sự</a:t>
            </a:r>
            <a:endPar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spcBef>
                <a:spcPts val="600"/>
              </a:spcBef>
              <a:spcAft>
                <a:spcPts val="600"/>
              </a:spcAft>
              <a:buFont typeface="Wingdings" panose="05000000000000000000" pitchFamily="2" charset="2"/>
              <a:buChar char="ü"/>
            </a:pP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khác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phục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vụ</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trực</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tiếp</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hoạt</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4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động</a:t>
            </a:r>
            <a:r>
              <a:rPr lang="en-US" sz="3400" dirty="0">
                <a:solidFill>
                  <a:srgbClr val="002060"/>
                </a:solidFill>
                <a:latin typeface="Calibri" panose="020F0502020204030204" pitchFamily="34" charset="0"/>
                <a:ea typeface="Calibri" panose="020F0502020204030204" pitchFamily="34" charset="0"/>
                <a:cs typeface="Calibri" panose="020F0502020204030204" pitchFamily="34" charset="0"/>
              </a:rPr>
              <a:t> SXKD</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1887790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304800" y="571500"/>
            <a:ext cx="17983200"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CÁC KHOẢN CHI KHÔNG ĐƯỢC TRỪ KHI XÁC ĐỊNH THUẾ TNCN ĐỐI VỚI PHƯƠNG PHÁP TNTT x THUẾ SUẤT (</a:t>
            </a:r>
            <a:r>
              <a:rPr lang="en-US" sz="4000" b="1" dirty="0" err="1">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khoản</a:t>
            </a:r>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 2 Điều 6 NĐ)</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04800" y="1828800"/>
            <a:ext cx="17526000" cy="8458199"/>
          </a:xfrm>
        </p:spPr>
        <p:txBody>
          <a:bodyPr/>
          <a:lstStyle/>
          <a:p>
            <a:pPr marL="571500" indent="-571500" algn="just">
              <a:spcBef>
                <a:spcPts val="600"/>
              </a:spcBef>
              <a:spcAft>
                <a:spcPts val="600"/>
              </a:spcAft>
              <a:buFont typeface="Wingdings" panose="05000000000000000000" pitchFamily="2" charset="2"/>
              <a:buChar char="ü"/>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không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đủ</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hóa</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đơn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chứng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từ</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spcBef>
                <a:spcPts val="600"/>
              </a:spcBef>
              <a:spcAft>
                <a:spcPts val="600"/>
              </a:spcAft>
              <a:buFont typeface="Wingdings" panose="05000000000000000000" pitchFamily="2" charset="2"/>
              <a:buChar char="ü"/>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lương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công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tính</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chất</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lương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CNKD,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nhóm</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CNKD,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thành</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viên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trong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HKD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trừ</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đóng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góp</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BHBB;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lương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công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khoản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tính</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chất</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lương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tính</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vào</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CP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nhưng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thực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tế</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không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chi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trả</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không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chứng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từ</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thanh</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toán</a:t>
            </a: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spcBef>
                <a:spcPts val="600"/>
              </a:spcBef>
              <a:spcAft>
                <a:spcPts val="600"/>
              </a:spcAft>
              <a:buFont typeface="Wingdings" panose="05000000000000000000" pitchFamily="2" charset="2"/>
              <a:buChar char="ü"/>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Phần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CP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khấu</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hao TSCĐ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vượt</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mức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định</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khấu</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hao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đối</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với</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TSCĐ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không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sử</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dụng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cho</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SXKD </a:t>
            </a:r>
          </a:p>
          <a:p>
            <a:pPr marL="571500" indent="-571500" algn="just">
              <a:spcBef>
                <a:spcPts val="600"/>
              </a:spcBef>
              <a:spcAft>
                <a:spcPts val="600"/>
              </a:spcAft>
              <a:buFont typeface="Wingdings" panose="05000000000000000000" pitchFamily="2" charset="2"/>
              <a:buChar char="ü"/>
            </a:pPr>
            <a:r>
              <a:rPr lang="en-US" sz="3600" dirty="0" err="1">
                <a:effectLst/>
                <a:latin typeface="Calibri" panose="020F0502020204030204" pitchFamily="34" charset="0"/>
                <a:ea typeface="Calibri" panose="020F0502020204030204" pitchFamily="34" charset="0"/>
                <a:cs typeface="Calibri" panose="020F0502020204030204" pitchFamily="34" charset="0"/>
              </a:rPr>
              <a:t>Các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khoản</a:t>
            </a:r>
            <a:r>
              <a:rPr lang="en-US" sz="3600" dirty="0">
                <a:effectLst/>
                <a:latin typeface="Calibri" panose="020F0502020204030204" pitchFamily="34" charset="0"/>
                <a:ea typeface="Calibri" panose="020F0502020204030204" pitchFamily="34" charset="0"/>
                <a:cs typeface="Calibri" panose="020F0502020204030204" pitchFamily="34" charset="0"/>
              </a:rPr>
              <a:t> chi </a:t>
            </a:r>
            <a:r>
              <a:rPr lang="en-US" sz="3600" dirty="0" err="1">
                <a:effectLst/>
                <a:latin typeface="Calibri" panose="020F0502020204030204" pitchFamily="34" charset="0"/>
                <a:ea typeface="Calibri" panose="020F0502020204030204" pitchFamily="34" charset="0"/>
                <a:cs typeface="Calibri" panose="020F0502020204030204" pitchFamily="34" charset="0"/>
              </a:rPr>
              <a:t>phạt</a:t>
            </a:r>
            <a:r>
              <a:rPr lang="en-US" sz="3600" dirty="0">
                <a:effectLst/>
                <a:latin typeface="Calibri" panose="020F0502020204030204" pitchFamily="34" charset="0"/>
                <a:ea typeface="Calibri" panose="020F0502020204030204" pitchFamily="34" charset="0"/>
                <a:cs typeface="Calibri" panose="020F0502020204030204" pitchFamily="34" charset="0"/>
              </a:rPr>
              <a:t> VPHC, </a:t>
            </a:r>
            <a:r>
              <a:rPr lang="en-US" sz="3600" dirty="0" err="1">
                <a:effectLst/>
                <a:latin typeface="Calibri" panose="020F0502020204030204" pitchFamily="34" charset="0"/>
                <a:ea typeface="Calibri" panose="020F0502020204030204" pitchFamily="34" charset="0"/>
                <a:cs typeface="Calibri" panose="020F0502020204030204" pitchFamily="34" charset="0"/>
              </a:rPr>
              <a:t>phạt</a:t>
            </a:r>
            <a:r>
              <a:rPr lang="en-US" sz="3600" dirty="0">
                <a:effectLst/>
                <a:latin typeface="Calibri" panose="020F0502020204030204" pitchFamily="34" charset="0"/>
                <a:ea typeface="Calibri" panose="020F0502020204030204" pitchFamily="34" charset="0"/>
                <a:cs typeface="Calibri" panose="020F0502020204030204" pitchFamily="34" charset="0"/>
              </a:rPr>
              <a:t> VP </a:t>
            </a:r>
            <a:r>
              <a:rPr lang="en-US" sz="3600" dirty="0" err="1">
                <a:effectLst/>
                <a:latin typeface="Calibri" panose="020F0502020204030204" pitchFamily="34" charset="0"/>
                <a:ea typeface="Calibri" panose="020F0502020204030204" pitchFamily="34" charset="0"/>
                <a:cs typeface="Calibri" panose="020F0502020204030204" pitchFamily="34" charset="0"/>
              </a:rPr>
              <a:t>hợp</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đồng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tiền</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bồi</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thường</a:t>
            </a:r>
            <a:r>
              <a:rPr lang="en-US" sz="3600" dirty="0">
                <a:effectLst/>
                <a:latin typeface="Calibri" panose="020F0502020204030204" pitchFamily="34" charset="0"/>
                <a:ea typeface="Calibri" panose="020F0502020204030204" pitchFamily="34" charset="0"/>
                <a:cs typeface="Calibri" panose="020F0502020204030204" pitchFamily="34" charset="0"/>
              </a:rPr>
              <a:t> do </a:t>
            </a:r>
            <a:r>
              <a:rPr lang="en-US" sz="3600" dirty="0" err="1">
                <a:effectLst/>
                <a:latin typeface="Calibri" panose="020F0502020204030204" pitchFamily="34" charset="0"/>
                <a:ea typeface="Calibri" panose="020F0502020204030204" pitchFamily="34" charset="0"/>
                <a:cs typeface="Calibri" panose="020F0502020204030204" pitchFamily="34" charset="0"/>
              </a:rPr>
              <a:t>lỗi</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của</a:t>
            </a:r>
            <a:r>
              <a:rPr lang="en-US" sz="3600" dirty="0">
                <a:effectLst/>
                <a:latin typeface="Calibri" panose="020F0502020204030204" pitchFamily="34" charset="0"/>
                <a:ea typeface="Calibri" panose="020F0502020204030204" pitchFamily="34" charset="0"/>
                <a:cs typeface="Calibri" panose="020F0502020204030204" pitchFamily="34" charset="0"/>
              </a:rPr>
              <a:t> CNKD</a:t>
            </a:r>
          </a:p>
          <a:p>
            <a:pPr marL="571500" indent="-571500" algn="just">
              <a:spcBef>
                <a:spcPts val="600"/>
              </a:spcBef>
              <a:spcAft>
                <a:spcPts val="600"/>
              </a:spcAft>
              <a:buFont typeface="Wingdings" panose="05000000000000000000" pitchFamily="2" charset="2"/>
              <a:buChar char="ü"/>
            </a:pPr>
            <a:r>
              <a:rPr lang="en-US" sz="3600" dirty="0" err="1">
                <a:effectLst/>
                <a:latin typeface="Calibri" panose="020F0502020204030204" pitchFamily="34" charset="0"/>
                <a:ea typeface="Calibri" panose="020F0502020204030204" pitchFamily="34" charset="0"/>
                <a:cs typeface="Calibri" panose="020F0502020204030204" pitchFamily="34" charset="0"/>
              </a:rPr>
              <a:t>Đất</a:t>
            </a:r>
            <a:r>
              <a:rPr lang="en-US" sz="3600" dirty="0">
                <a:effectLst/>
                <a:latin typeface="Calibri" panose="020F0502020204030204" pitchFamily="34" charset="0"/>
                <a:ea typeface="Calibri" panose="020F0502020204030204" pitchFamily="34" charset="0"/>
                <a:cs typeface="Calibri" panose="020F0502020204030204" pitchFamily="34" charset="0"/>
              </a:rPr>
              <a:t> ở </a:t>
            </a:r>
            <a:r>
              <a:rPr lang="en-US" sz="3600" dirty="0" err="1">
                <a:effectLst/>
                <a:latin typeface="Calibri" panose="020F0502020204030204" pitchFamily="34" charset="0"/>
                <a:ea typeface="Calibri" panose="020F0502020204030204" pitchFamily="34" charset="0"/>
                <a:cs typeface="Calibri" panose="020F0502020204030204" pitchFamily="34" charset="0"/>
              </a:rPr>
              <a:t>và</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công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trình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phục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vụ</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sinh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hoạt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trên</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đất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xe</a:t>
            </a:r>
            <a:r>
              <a:rPr lang="en-US" sz="3600" dirty="0">
                <a:effectLst/>
                <a:latin typeface="Calibri" panose="020F0502020204030204" pitchFamily="34" charset="0"/>
                <a:ea typeface="Calibri" panose="020F0502020204030204" pitchFamily="34" charset="0"/>
                <a:cs typeface="Calibri" panose="020F0502020204030204" pitchFamily="34" charset="0"/>
              </a:rPr>
              <a:t> ô </a:t>
            </a:r>
            <a:r>
              <a:rPr lang="en-US" sz="3600" dirty="0" err="1">
                <a:effectLst/>
                <a:latin typeface="Calibri" panose="020F0502020204030204" pitchFamily="34" charset="0"/>
                <a:ea typeface="Calibri" panose="020F0502020204030204" pitchFamily="34" charset="0"/>
                <a:cs typeface="Calibri" panose="020F0502020204030204" pitchFamily="34" charset="0"/>
              </a:rPr>
              <a:t>tô</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và</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các</a:t>
            </a:r>
            <a:r>
              <a:rPr lang="en-US" sz="3600" dirty="0">
                <a:effectLst/>
                <a:latin typeface="Calibri" panose="020F0502020204030204" pitchFamily="34" charset="0"/>
                <a:ea typeface="Calibri" panose="020F0502020204030204" pitchFamily="34" charset="0"/>
                <a:cs typeface="Calibri" panose="020F0502020204030204" pitchFamily="34" charset="0"/>
              </a:rPr>
              <a:t> TS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đăng</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ký</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sở</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hữu</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hoặc</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đăng</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ký</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sử</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dụng</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mang</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tên</a:t>
            </a:r>
            <a:r>
              <a:rPr lang="en-US" sz="3600" spc="20" dirty="0">
                <a:effectLst/>
                <a:latin typeface="Calibri" panose="020F0502020204030204" pitchFamily="34" charset="0"/>
                <a:ea typeface="Calibri" panose="020F0502020204030204" pitchFamily="34" charset="0"/>
                <a:cs typeface="Calibri" panose="020F0502020204030204" pitchFamily="34" charset="0"/>
              </a:rPr>
              <a:t> CN,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trừ</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xe</a:t>
            </a:r>
            <a:r>
              <a:rPr lang="en-US" sz="3600" spc="20" dirty="0">
                <a:effectLst/>
                <a:latin typeface="Calibri" panose="020F0502020204030204" pitchFamily="34" charset="0"/>
                <a:ea typeface="Calibri" panose="020F0502020204030204" pitchFamily="34" charset="0"/>
                <a:cs typeface="Calibri" panose="020F0502020204030204" pitchFamily="34" charset="0"/>
              </a:rPr>
              <a:t> ô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tô</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và</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các</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tài</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sản</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đăng</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ký</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sở</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hữu</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hoặc</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đăng</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ký</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sử</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dụng</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với</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mục</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đích</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kinh</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doanh</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vận</a:t>
            </a:r>
            <a:r>
              <a:rPr lang="en-US" sz="3600" spc="20" dirty="0">
                <a:effectLst/>
                <a:latin typeface="Calibri" panose="020F0502020204030204" pitchFamily="34" charset="0"/>
                <a:ea typeface="Calibri" panose="020F0502020204030204" pitchFamily="34" charset="0"/>
                <a:cs typeface="Calibri" panose="020F0502020204030204" pitchFamily="34" charset="0"/>
              </a:rPr>
              <a:t>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tải</a:t>
            </a:r>
            <a:r>
              <a:rPr lang="en-US" sz="3600" spc="20" dirty="0">
                <a:effectLst/>
                <a:latin typeface="Calibri" panose="020F0502020204030204" pitchFamily="34" charset="0"/>
                <a:ea typeface="Calibri" panose="020F0502020204030204" pitchFamily="34" charset="0"/>
                <a:cs typeface="Calibri" panose="020F0502020204030204" pitchFamily="34" charset="0"/>
              </a:rPr>
              <a:t>, du </a:t>
            </a:r>
            <a:r>
              <a:rPr lang="en-US" sz="3600" spc="20" dirty="0" err="1">
                <a:effectLst/>
                <a:latin typeface="Calibri" panose="020F0502020204030204" pitchFamily="34" charset="0"/>
                <a:ea typeface="Calibri" panose="020F0502020204030204" pitchFamily="34" charset="0"/>
                <a:cs typeface="Calibri" panose="020F0502020204030204" pitchFamily="34" charset="0"/>
              </a:rPr>
              <a:t>lịch</a:t>
            </a:r>
            <a:endParaRPr lang="en-US" sz="3600" spc="20" dirty="0">
              <a:latin typeface="Calibri" panose="020F0502020204030204" pitchFamily="34" charset="0"/>
              <a:ea typeface="Calibri" panose="020F0502020204030204" pitchFamily="34" charset="0"/>
              <a:cs typeface="Calibri" panose="020F0502020204030204" pitchFamily="34" charset="0"/>
            </a:endParaRPr>
          </a:p>
          <a:p>
            <a:pPr marL="571500" indent="-571500" algn="just">
              <a:spcBef>
                <a:spcPts val="600"/>
              </a:spcBef>
              <a:spcAft>
                <a:spcPts val="600"/>
              </a:spcAft>
              <a:buFont typeface="Wingdings" panose="05000000000000000000" pitchFamily="2" charset="2"/>
              <a:buChar char="ü"/>
            </a:pPr>
            <a:r>
              <a:rPr lang="en-US" sz="3600" dirty="0" err="1">
                <a:effectLst/>
                <a:latin typeface="Calibri" panose="020F0502020204030204" pitchFamily="34" charset="0"/>
                <a:ea typeface="Calibri" panose="020F0502020204030204" pitchFamily="34" charset="0"/>
                <a:cs typeface="Calibri" panose="020F0502020204030204" pitchFamily="34" charset="0"/>
              </a:rPr>
              <a:t>Các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khoản</a:t>
            </a:r>
            <a:r>
              <a:rPr lang="en-US" sz="3600" dirty="0">
                <a:effectLst/>
                <a:latin typeface="Calibri" panose="020F0502020204030204" pitchFamily="34" charset="0"/>
                <a:ea typeface="Calibri" panose="020F0502020204030204" pitchFamily="34" charset="0"/>
                <a:cs typeface="Calibri" panose="020F0502020204030204" pitchFamily="34" charset="0"/>
              </a:rPr>
              <a:t> CP </a:t>
            </a:r>
            <a:r>
              <a:rPr lang="en-US" sz="3600" dirty="0" err="1">
                <a:effectLst/>
                <a:latin typeface="Calibri" panose="020F0502020204030204" pitchFamily="34" charset="0"/>
                <a:ea typeface="Calibri" panose="020F0502020204030204" pitchFamily="34" charset="0"/>
                <a:cs typeface="Calibri" panose="020F0502020204030204" pitchFamily="34" charset="0"/>
              </a:rPr>
              <a:t>phục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vụ</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nhu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cầu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cá</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nhân</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gia</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đình</a:t>
            </a:r>
            <a:r>
              <a:rPr lang="en-US" sz="3600" dirty="0">
                <a:effectLst/>
                <a:latin typeface="Calibri" panose="020F0502020204030204" pitchFamily="34" charset="0"/>
                <a:ea typeface="Calibri" panose="020F0502020204030204" pitchFamily="34" charset="0"/>
                <a:cs typeface="Calibri" panose="020F0502020204030204" pitchFamily="34" charset="0"/>
              </a:rPr>
              <a:t>. CNKD </a:t>
            </a:r>
            <a:r>
              <a:rPr lang="en-US" sz="3600" dirty="0" err="1">
                <a:effectLst/>
                <a:latin typeface="Calibri" panose="020F0502020204030204" pitchFamily="34" charset="0"/>
                <a:ea typeface="Calibri" panose="020F0502020204030204" pitchFamily="34" charset="0"/>
                <a:cs typeface="Calibri" panose="020F0502020204030204" pitchFamily="34" charset="0"/>
              </a:rPr>
              <a:t>có</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trách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nhiệm</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theo</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dõi</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riêng</a:t>
            </a:r>
            <a:r>
              <a:rPr lang="en-US" sz="3600" dirty="0">
                <a:effectLst/>
                <a:latin typeface="Calibri" panose="020F0502020204030204" pitchFamily="34" charset="0"/>
                <a:ea typeface="Calibri" panose="020F0502020204030204" pitchFamily="34" charset="0"/>
                <a:cs typeface="Calibri" panose="020F0502020204030204" pitchFamily="34" charset="0"/>
              </a:rPr>
              <a:t> chi </a:t>
            </a:r>
            <a:r>
              <a:rPr lang="en-US" sz="3600" dirty="0" err="1">
                <a:effectLst/>
                <a:latin typeface="Calibri" panose="020F0502020204030204" pitchFamily="34" charset="0"/>
                <a:ea typeface="Calibri" panose="020F0502020204030204" pitchFamily="34" charset="0"/>
                <a:cs typeface="Calibri" panose="020F0502020204030204" pitchFamily="34" charset="0"/>
              </a:rPr>
              <a:t>phí</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phục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vụ</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hoạt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động</a:t>
            </a:r>
            <a:r>
              <a:rPr lang="en-US" sz="3600" dirty="0">
                <a:effectLst/>
                <a:latin typeface="Calibri" panose="020F0502020204030204" pitchFamily="34" charset="0"/>
                <a:ea typeface="Calibri" panose="020F0502020204030204" pitchFamily="34" charset="0"/>
                <a:cs typeface="Calibri" panose="020F0502020204030204" pitchFamily="34" charset="0"/>
              </a:rPr>
              <a:t> KD </a:t>
            </a:r>
            <a:r>
              <a:rPr lang="en-US" sz="3600" dirty="0" err="1">
                <a:effectLst/>
                <a:latin typeface="Calibri" panose="020F0502020204030204" pitchFamily="34" charset="0"/>
                <a:ea typeface="Calibri" panose="020F0502020204030204" pitchFamily="34" charset="0"/>
                <a:cs typeface="Calibri" panose="020F0502020204030204" pitchFamily="34" charset="0"/>
              </a:rPr>
              <a:t>và</a:t>
            </a:r>
            <a:r>
              <a:rPr lang="en-US" sz="3600" dirty="0">
                <a:effectLst/>
                <a:latin typeface="Calibri" panose="020F0502020204030204" pitchFamily="34" charset="0"/>
                <a:ea typeface="Calibri" panose="020F0502020204030204" pitchFamily="34" charset="0"/>
                <a:cs typeface="Calibri" panose="020F0502020204030204" pitchFamily="34" charset="0"/>
              </a:rPr>
              <a:t> chi </a:t>
            </a:r>
            <a:r>
              <a:rPr lang="en-US" sz="3600" dirty="0" err="1">
                <a:effectLst/>
                <a:latin typeface="Calibri" panose="020F0502020204030204" pitchFamily="34" charset="0"/>
                <a:ea typeface="Calibri" panose="020F0502020204030204" pitchFamily="34" charset="0"/>
                <a:cs typeface="Calibri" panose="020F0502020204030204" pitchFamily="34" charset="0"/>
              </a:rPr>
              <a:t>phí</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phục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vụ</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nhu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cầu</a:t>
            </a:r>
            <a:r>
              <a:rPr lang="en-US" sz="3600" dirty="0">
                <a:effectLst/>
                <a:latin typeface="Calibri" panose="020F0502020204030204" pitchFamily="34" charset="0"/>
                <a:ea typeface="Calibri" panose="020F0502020204030204" pitchFamily="34" charset="0"/>
                <a:cs typeface="Calibri" panose="020F0502020204030204" pitchFamily="34" charset="0"/>
              </a:rPr>
              <a:t> CN, </a:t>
            </a:r>
            <a:r>
              <a:rPr lang="en-US" sz="3600" dirty="0" err="1">
                <a:effectLst/>
                <a:latin typeface="Calibri" panose="020F0502020204030204" pitchFamily="34" charset="0"/>
                <a:ea typeface="Calibri" panose="020F0502020204030204" pitchFamily="34" charset="0"/>
                <a:cs typeface="Calibri" panose="020F0502020204030204" pitchFamily="34" charset="0"/>
              </a:rPr>
              <a:t>gia</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đình</a:t>
            </a:r>
            <a:r>
              <a:rPr lang="en-US" sz="3600" dirty="0">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spcBef>
                <a:spcPts val="600"/>
              </a:spcBef>
              <a:spcAft>
                <a:spcPts val="600"/>
              </a:spcAft>
              <a:buFont typeface="Wingdings" panose="05000000000000000000" pitchFamily="2" charset="2"/>
              <a:buChar char="ü"/>
            </a:pPr>
            <a:endParaRPr lang="en-US" sz="34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4124825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KHAI</a:t>
            </a:r>
            <a:r>
              <a:rPr lang="en-US" sz="44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 NỘP THUẾ</a:t>
            </a:r>
            <a:endParaRPr lang="en-US" sz="44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04800" y="1828800"/>
            <a:ext cx="17526000" cy="8458199"/>
          </a:xfrm>
        </p:spPr>
        <p:txBody>
          <a:bodyPr/>
          <a:lstStyle/>
          <a:p>
            <a:pPr marL="1085850" indent="-571500" algn="just">
              <a:lnSpc>
                <a:spcPct val="150000"/>
              </a:lnSpc>
              <a:spcBef>
                <a:spcPts val="600"/>
              </a:spcBef>
              <a:spcAft>
                <a:spcPts val="600"/>
              </a:spcAft>
              <a:buFont typeface="Wingdings" panose="05000000000000000000" pitchFamily="2" charset="2"/>
              <a:buChar char="q"/>
            </a:pPr>
            <a:r>
              <a:rPr lang="en-US" sz="3600" dirty="0">
                <a:effectLst/>
                <a:latin typeface="Calibri" panose="020F0502020204030204" pitchFamily="34" charset="0"/>
                <a:ea typeface="Calibri" panose="020F0502020204030204" pitchFamily="34" charset="0"/>
                <a:cs typeface="Calibri" panose="020F0502020204030204" pitchFamily="34" charset="0"/>
              </a:rPr>
              <a:t>HKD CNKD </a:t>
            </a:r>
            <a:r>
              <a:rPr lang="en-US" sz="3600" dirty="0" err="1">
                <a:effectLst/>
                <a:latin typeface="Calibri" panose="020F0502020204030204" pitchFamily="34" charset="0"/>
                <a:ea typeface="Calibri" panose="020F0502020204030204" pitchFamily="34" charset="0"/>
                <a:cs typeface="Calibri" panose="020F0502020204030204" pitchFamily="34" charset="0"/>
              </a:rPr>
              <a:t>tự</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xác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định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có</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mức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doanh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năm</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từ</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hoạt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động</a:t>
            </a:r>
            <a:r>
              <a:rPr lang="en-US" sz="3600" dirty="0">
                <a:effectLst/>
                <a:latin typeface="Calibri" panose="020F0502020204030204" pitchFamily="34" charset="0"/>
                <a:ea typeface="Calibri" panose="020F0502020204030204" pitchFamily="34" charset="0"/>
                <a:cs typeface="Calibri" panose="020F0502020204030204" pitchFamily="34" charset="0"/>
              </a:rPr>
              <a:t> SXKD HHDV </a:t>
            </a:r>
            <a:r>
              <a:rPr lang="en-US" sz="3600" err="1">
                <a:effectLst/>
                <a:latin typeface="Calibri" panose="020F0502020204030204" pitchFamily="34" charset="0"/>
                <a:ea typeface="Calibri" panose="020F0502020204030204" pitchFamily="34" charset="0"/>
                <a:cs typeface="Calibri" panose="020F0502020204030204" pitchFamily="34" charset="0"/>
              </a:rPr>
              <a:t>từ</a:t>
            </a:r>
            <a:r>
              <a:rPr lang="en-US" sz="3600">
                <a:effectLst/>
                <a:latin typeface="Calibri" panose="020F0502020204030204" pitchFamily="34" charset="0"/>
                <a:ea typeface="Calibri" panose="020F0502020204030204" pitchFamily="34" charset="0"/>
                <a:cs typeface="Calibri" panose="020F0502020204030204" pitchFamily="34" charset="0"/>
              </a:rPr>
              <a:t> </a:t>
            </a:r>
            <a:r>
              <a:rPr lang="en-US" sz="3600">
                <a:latin typeface="Calibri" panose="020F0502020204030204" pitchFamily="34" charset="0"/>
                <a:ea typeface="Calibri" panose="020F0502020204030204" pitchFamily="34" charset="0"/>
                <a:cs typeface="Calibri" panose="020F0502020204030204" pitchFamily="34" charset="0"/>
              </a:rPr>
              <a:t>1 tỷ</a:t>
            </a:r>
            <a:r>
              <a:rPr lang="en-US" sz="360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đồng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trở</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xuống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thực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hiện</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thông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báo</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doanh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thực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tế</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phát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sinh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trong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năm</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và</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kê</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khai</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các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loại</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thuế</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khác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theo</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mẫu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số</a:t>
            </a:r>
            <a:r>
              <a:rPr lang="en-US" sz="3600" dirty="0">
                <a:effectLst/>
                <a:latin typeface="Calibri" panose="020F0502020204030204" pitchFamily="34" charset="0"/>
                <a:ea typeface="Calibri" panose="020F0502020204030204" pitchFamily="34" charset="0"/>
                <a:cs typeface="Calibri" panose="020F0502020204030204" pitchFamily="34" charset="0"/>
              </a:rPr>
              <a:t> 01/TKN-CNKD </a:t>
            </a:r>
            <a:r>
              <a:rPr lang="en-US" sz="3600" dirty="0" err="1">
                <a:effectLst/>
                <a:latin typeface="Calibri" panose="020F0502020204030204" pitchFamily="34" charset="0"/>
                <a:ea typeface="Calibri" panose="020F0502020204030204" pitchFamily="34" charset="0"/>
                <a:cs typeface="Calibri" panose="020F0502020204030204" pitchFamily="34" charset="0"/>
              </a:rPr>
              <a:t>với</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cơ</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quan</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thuế</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chậm</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nhất</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là</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ngày</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31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tháng</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01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của</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năm</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dương</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lịch</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tiếp</a:t>
            </a:r>
            <a:r>
              <a:rPr lang="en-US" sz="36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effectLst/>
                <a:latin typeface="Calibri" panose="020F0502020204030204" pitchFamily="34" charset="0"/>
                <a:ea typeface="Calibri" panose="020F0502020204030204" pitchFamily="34" charset="0"/>
                <a:cs typeface="Calibri" panose="020F0502020204030204" pitchFamily="34" charset="0"/>
              </a:rPr>
              <a:t>; </a:t>
            </a:r>
          </a:p>
          <a:p>
            <a:pPr marL="1085850" indent="-571500" algn="just">
              <a:lnSpc>
                <a:spcPct val="150000"/>
              </a:lnSpc>
              <a:spcBef>
                <a:spcPts val="600"/>
              </a:spcBef>
              <a:spcAft>
                <a:spcPts val="600"/>
              </a:spcAft>
              <a:buFont typeface="Wingdings" panose="05000000000000000000" pitchFamily="2" charset="2"/>
              <a:buChar char="q"/>
            </a:pPr>
            <a:r>
              <a:rPr lang="en-US" sz="3600" dirty="0">
                <a:effectLst/>
                <a:latin typeface="Calibri" panose="020F0502020204030204" pitchFamily="34" charset="0"/>
                <a:ea typeface="Calibri" panose="020F0502020204030204" pitchFamily="34" charset="0"/>
                <a:cs typeface="Calibri" panose="020F0502020204030204" pitchFamily="34" charset="0"/>
              </a:rPr>
              <a:t>Trường </a:t>
            </a:r>
            <a:r>
              <a:rPr lang="en-US" sz="3600" dirty="0" err="1">
                <a:effectLst/>
                <a:latin typeface="Calibri" panose="020F0502020204030204" pitchFamily="34" charset="0"/>
                <a:ea typeface="Calibri" panose="020F0502020204030204" pitchFamily="34" charset="0"/>
                <a:cs typeface="Calibri" panose="020F0502020204030204" pitchFamily="34" charset="0"/>
              </a:rPr>
              <a:t>hợp</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phát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sinh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doanh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thực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tế</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err="1">
                <a:effectLst/>
                <a:latin typeface="Calibri" panose="020F0502020204030204" pitchFamily="34" charset="0"/>
                <a:ea typeface="Calibri" panose="020F0502020204030204" pitchFamily="34" charset="0"/>
                <a:cs typeface="Calibri" panose="020F0502020204030204" pitchFamily="34" charset="0"/>
              </a:rPr>
              <a:t>trên</a:t>
            </a:r>
            <a:r>
              <a:rPr lang="en-US" sz="3600">
                <a:effectLst/>
                <a:latin typeface="Calibri" panose="020F0502020204030204" pitchFamily="34" charset="0"/>
                <a:ea typeface="Calibri" panose="020F0502020204030204" pitchFamily="34" charset="0"/>
                <a:cs typeface="Calibri" panose="020F0502020204030204" pitchFamily="34" charset="0"/>
              </a:rPr>
              <a:t> </a:t>
            </a:r>
            <a:r>
              <a:rPr lang="en-US" sz="3600">
                <a:latin typeface="Calibri" panose="020F0502020204030204" pitchFamily="34" charset="0"/>
                <a:ea typeface="Calibri" panose="020F0502020204030204" pitchFamily="34" charset="0"/>
                <a:cs typeface="Calibri" panose="020F0502020204030204" pitchFamily="34" charset="0"/>
              </a:rPr>
              <a:t>1 tỷ</a:t>
            </a:r>
            <a:r>
              <a:rPr lang="en-US" sz="360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đồng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trong</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năm</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thì</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thực</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hiện</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khai</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thuế</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nộp</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thuế</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kể</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từ</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quý</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phát</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sinh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doanh</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thu</a:t>
            </a:r>
            <a:r>
              <a:rPr lang="en-US" sz="3600" dirty="0">
                <a:effectLst/>
                <a:latin typeface="Calibri" panose="020F0502020204030204" pitchFamily="34" charset="0"/>
                <a:ea typeface="Calibri" panose="020F0502020204030204" pitchFamily="34" charset="0"/>
                <a:cs typeface="Calibri" panose="020F0502020204030204" pitchFamily="34" charset="0"/>
              </a:rPr>
              <a:t> </a:t>
            </a:r>
            <a:r>
              <a:rPr lang="en-US" sz="3600" err="1">
                <a:effectLst/>
                <a:latin typeface="Calibri" panose="020F0502020204030204" pitchFamily="34" charset="0"/>
                <a:ea typeface="Calibri" panose="020F0502020204030204" pitchFamily="34" charset="0"/>
                <a:cs typeface="Calibri" panose="020F0502020204030204" pitchFamily="34" charset="0"/>
              </a:rPr>
              <a:t>trên</a:t>
            </a:r>
            <a:r>
              <a:rPr lang="en-US" sz="3600">
                <a:effectLst/>
                <a:latin typeface="Calibri" panose="020F0502020204030204" pitchFamily="34" charset="0"/>
                <a:ea typeface="Calibri" panose="020F0502020204030204" pitchFamily="34" charset="0"/>
                <a:cs typeface="Calibri" panose="020F0502020204030204" pitchFamily="34" charset="0"/>
              </a:rPr>
              <a:t> </a:t>
            </a:r>
            <a:r>
              <a:rPr lang="en-US" sz="3600">
                <a:latin typeface="Calibri" panose="020F0502020204030204" pitchFamily="34" charset="0"/>
                <a:ea typeface="Calibri" panose="020F0502020204030204" pitchFamily="34" charset="0"/>
                <a:cs typeface="Calibri" panose="020F0502020204030204" pitchFamily="34" charset="0"/>
              </a:rPr>
              <a:t>1 tỷ</a:t>
            </a:r>
            <a:r>
              <a:rPr lang="en-US" sz="3600">
                <a:effectLst/>
                <a:latin typeface="Calibri" panose="020F0502020204030204" pitchFamily="34" charset="0"/>
                <a:ea typeface="Calibri" panose="020F0502020204030204" pitchFamily="34" charset="0"/>
                <a:cs typeface="Calibri" panose="020F0502020204030204" pitchFamily="34" charset="0"/>
              </a:rPr>
              <a:t> </a:t>
            </a:r>
            <a:r>
              <a:rPr lang="en-US" sz="3600" dirty="0" err="1">
                <a:effectLst/>
                <a:latin typeface="Calibri" panose="020F0502020204030204" pitchFamily="34" charset="0"/>
                <a:ea typeface="Calibri" panose="020F0502020204030204" pitchFamily="34" charset="0"/>
                <a:cs typeface="Calibri" panose="020F0502020204030204" pitchFamily="34" charset="0"/>
              </a:rPr>
              <a:t>đồng</a:t>
            </a:r>
            <a:r>
              <a:rPr lang="en-US" sz="3600" dirty="0">
                <a:effectLst/>
                <a:latin typeface="Calibri" panose="020F0502020204030204" pitchFamily="34" charset="0"/>
                <a:ea typeface="Calibri" panose="020F0502020204030204" pitchFamily="34" charset="0"/>
                <a:cs typeface="Calibri" panose="020F0502020204030204" pitchFamily="34" charset="0"/>
              </a:rPr>
              <a:t>.</a:t>
            </a:r>
          </a:p>
          <a:p>
            <a:pPr indent="0" algn="just">
              <a:lnSpc>
                <a:spcPct val="150000"/>
              </a:lnSpc>
              <a:spcBef>
                <a:spcPts val="600"/>
              </a:spcBef>
              <a:spcAft>
                <a:spcPts val="600"/>
              </a:spcAft>
            </a:pP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Điểm</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a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Khoản</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1 Điều 8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Nghị</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định</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a:t>
            </a:r>
            <a:endPar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3168442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KHAI, NỘP THUẾ</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03213" y="1790700"/>
            <a:ext cx="17526000" cy="8458199"/>
          </a:xfrm>
        </p:spPr>
        <p:txBody>
          <a:bodyPr/>
          <a:lstStyle/>
          <a:p>
            <a:pPr marL="1085850" indent="-571500" algn="just">
              <a:lnSpc>
                <a:spcPct val="180000"/>
              </a:lnSpc>
              <a:spcBef>
                <a:spcPts val="600"/>
              </a:spcBef>
              <a:spcAft>
                <a:spcPts val="600"/>
              </a:spcAft>
              <a:buFont typeface="Wingdings" panose="05000000000000000000" pitchFamily="2" charset="2"/>
              <a:buChar char="q"/>
            </a:pP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tự</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sản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xuất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hàng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hóa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dịch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vụ</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err="1">
                <a:solidFill>
                  <a:srgbClr val="990033"/>
                </a:solidFill>
                <a:effectLst/>
                <a:latin typeface="Calibri" panose="020F0502020204030204" pitchFamily="34" charset="0"/>
                <a:ea typeface="Calibri" panose="020F0502020204030204" pitchFamily="34" charset="0"/>
                <a:cs typeface="Calibri" panose="020F0502020204030204" pitchFamily="34" charset="0"/>
              </a:rPr>
              <a:t>trên</a:t>
            </a:r>
            <a:r>
              <a:rPr lang="en-US" sz="3600" b="1">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a:solidFill>
                  <a:srgbClr val="990033"/>
                </a:solidFill>
                <a:latin typeface="Calibri" panose="020F0502020204030204" pitchFamily="34" charset="0"/>
                <a:ea typeface="Calibri" panose="020F0502020204030204" pitchFamily="34" charset="0"/>
                <a:cs typeface="Calibri" panose="020F0502020204030204" pitchFamily="34" charset="0"/>
              </a:rPr>
              <a:t>1 tỷ </a:t>
            </a:r>
            <a:r>
              <a:rPr lang="en-US" sz="3600" b="1">
                <a:solidFill>
                  <a:srgbClr val="990033"/>
                </a:solidFill>
                <a:effectLst/>
                <a:latin typeface="Calibri" panose="020F0502020204030204" pitchFamily="34" charset="0"/>
                <a:ea typeface="Calibri" panose="020F0502020204030204" pitchFamily="34" charset="0"/>
                <a:cs typeface="Calibri" panose="020F0502020204030204" pitchFamily="34" charset="0"/>
              </a:rPr>
              <a:t>đồng </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bao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gồm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tổ</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khấu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khai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p>
          <a:p>
            <a:pPr marL="1085850" indent="-571500" algn="just">
              <a:lnSpc>
                <a:spcPct val="180000"/>
              </a:lnSpc>
              <a:spcBef>
                <a:spcPts val="600"/>
              </a:spcBef>
              <a:spcAft>
                <a:spcPts val="600"/>
              </a:spcAft>
              <a:buFont typeface="Wingdings" panose="05000000000000000000" pitchFamily="2" charset="2"/>
              <a:buChar char="q"/>
            </a:pP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T</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rường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hợp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thu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a:solidFill>
                  <a:srgbClr val="002060"/>
                </a:solidFill>
                <a:latin typeface="Calibri" panose="020F0502020204030204" pitchFamily="34" charset="0"/>
                <a:ea typeface="Calibri" panose="020F0502020204030204" pitchFamily="34" charset="0"/>
                <a:cs typeface="Calibri" panose="020F0502020204030204" pitchFamily="34" charset="0"/>
              </a:rPr>
              <a:t>1 tỷ</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đến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03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tỷ</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đồng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lựa</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chọn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phương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(x) DTTT</a:t>
            </a:r>
          </a:p>
          <a:p>
            <a:pPr marL="1085850" indent="-571500" algn="just">
              <a:lnSpc>
                <a:spcPct val="180000"/>
              </a:lnSpc>
              <a:spcBef>
                <a:spcPts val="600"/>
              </a:spcBef>
              <a:spcAft>
                <a:spcPts val="600"/>
              </a:spcAft>
              <a:buFont typeface="Wingdings" panose="05000000000000000000" pitchFamily="2" charset="2"/>
              <a:buChar char="à"/>
            </a:pP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K</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hai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GTGT,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loại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quý</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mẫu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01/CNKD.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Thời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hạn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hồ</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khai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chậm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nhất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cuối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cùng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tháng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đầu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tiên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quý</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tiếp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2295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KHAI, NỘP THUẾ</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04800" y="1828800"/>
            <a:ext cx="17526000" cy="8458199"/>
          </a:xfrm>
        </p:spPr>
        <p:txBody>
          <a:bodyPr/>
          <a:lstStyle/>
          <a:p>
            <a:pPr marL="1085850" indent="-571500" algn="just">
              <a:lnSpc>
                <a:spcPct val="150000"/>
              </a:lnSpc>
              <a:spcBef>
                <a:spcPts val="0"/>
              </a:spcBef>
              <a:spcAft>
                <a:spcPts val="0"/>
              </a:spcAft>
              <a:buFont typeface="Wingdings" panose="05000000000000000000" pitchFamily="2" charset="2"/>
              <a:buChar char="q"/>
            </a:pP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thuộc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tượng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phương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TNTT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(x)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1085850" indent="-571500" algn="just">
              <a:lnSpc>
                <a:spcPct val="150000"/>
              </a:lnSpc>
              <a:spcBef>
                <a:spcPts val="0"/>
              </a:spcBef>
              <a:spcAft>
                <a:spcPts val="0"/>
              </a:spcAft>
              <a:buFont typeface="Wingdings" panose="05000000000000000000" pitchFamily="2" charset="2"/>
              <a:buChar char="ü"/>
            </a:pP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Khai</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n</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GTGT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loại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theo</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tháng</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tạm</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nộp</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TNCN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theo</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tháng</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nếu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thu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trên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50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tỷ</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hai</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n</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GTGT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loại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tạm</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nộp</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TNCN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quý</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nếu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thu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50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tỷ</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trở</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xuống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mẫu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01/CNKD</a:t>
            </a:r>
          </a:p>
          <a:p>
            <a:pPr marL="1085850" indent="-571500" algn="just">
              <a:lnSpc>
                <a:spcPct val="150000"/>
              </a:lnSpc>
              <a:spcBef>
                <a:spcPts val="0"/>
              </a:spcBef>
              <a:spcAft>
                <a:spcPts val="0"/>
              </a:spcAft>
              <a:buFont typeface="Wingdings" panose="05000000000000000000" pitchFamily="2" charset="2"/>
              <a:buChar char="ü"/>
            </a:pP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bằng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suất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(x)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thu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tính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tháng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quý</a:t>
            </a: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1085850" indent="-571500" algn="just">
              <a:lnSpc>
                <a:spcPct val="150000"/>
              </a:lnSpc>
              <a:spcBef>
                <a:spcPts val="0"/>
              </a:spcBef>
              <a:spcAft>
                <a:spcPts val="0"/>
              </a:spcAft>
              <a:buFont typeface="Wingdings" panose="05000000000000000000" pitchFamily="2" charset="2"/>
              <a:buChar char="ü"/>
            </a:pP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K</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hai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quyết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toán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mẫu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02/CNKD-TNCN-QTT,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thời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hạn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chậm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nhất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31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tháng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3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dương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lịch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tiếp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endPar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4975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KHAI, NỘP THUẾ</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03213" y="1866900"/>
            <a:ext cx="17526000" cy="8305800"/>
          </a:xfrm>
        </p:spPr>
        <p:txBody>
          <a:bodyPr/>
          <a:lstStyle/>
          <a:p>
            <a:pPr algn="just">
              <a:lnSpc>
                <a:spcPct val="150000"/>
              </a:lnSpc>
              <a:spcBef>
                <a:spcPts val="600"/>
              </a:spcBef>
              <a:spcAft>
                <a:spcPts val="600"/>
              </a:spcAft>
            </a:pPr>
            <a:r>
              <a:rPr lang="vi-VN" sz="3600" b="1" dirty="0">
                <a:solidFill>
                  <a:srgbClr val="990033"/>
                </a:solidFill>
                <a:latin typeface="Calibri" panose="020F0502020204030204" pitchFamily="34" charset="0"/>
                <a:ea typeface="Calibri" panose="020F0502020204030204" pitchFamily="34" charset="0"/>
                <a:cs typeface="Calibri" panose="020F0502020204030204" pitchFamily="34" charset="0"/>
              </a:rPr>
              <a:t>Lưu ý:</a:t>
            </a:r>
            <a:r>
              <a:rPr lang="vi-VN"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lnSpc>
                <a:spcPct val="150000"/>
              </a:lnSpc>
              <a:spcBef>
                <a:spcPts val="600"/>
              </a:spcBef>
              <a:spcAft>
                <a:spcPts val="600"/>
              </a:spcAft>
              <a:buFont typeface="Wingdings" panose="05000000000000000000" pitchFamily="2" charset="2"/>
              <a:buChar char="q"/>
            </a:pP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T</a:t>
            </a:r>
            <a:r>
              <a:rPr lang="vi-VN" sz="3600" dirty="0">
                <a:solidFill>
                  <a:srgbClr val="002060"/>
                </a:solidFill>
                <a:latin typeface="Calibri" panose="020F0502020204030204" pitchFamily="34" charset="0"/>
                <a:ea typeface="Calibri" panose="020F0502020204030204" pitchFamily="34" charset="0"/>
                <a:cs typeface="Calibri" panose="020F0502020204030204" pitchFamily="34" charset="0"/>
              </a:rPr>
              <a:t>rường hợp số thuế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TNCN </a:t>
            </a:r>
            <a:r>
              <a:rPr lang="vi-VN" sz="3600" dirty="0">
                <a:solidFill>
                  <a:srgbClr val="002060"/>
                </a:solidFill>
                <a:latin typeface="Calibri" panose="020F0502020204030204" pitchFamily="34" charset="0"/>
                <a:ea typeface="Calibri" panose="020F0502020204030204" pitchFamily="34" charset="0"/>
                <a:cs typeface="Calibri" panose="020F0502020204030204" pitchFamily="34" charset="0"/>
              </a:rPr>
              <a:t>đã tạm nộp ít hơn số thuế đã khai tạm nộp, số thuế tạm nộp ít hơn số thuế phải nộp khi quyết toán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600" dirty="0" err="1">
                <a:solidFill>
                  <a:srgbClr val="990033"/>
                </a:solidFill>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thực</a:t>
            </a:r>
            <a:r>
              <a:rPr lang="vi-VN" sz="3600" dirty="0">
                <a:solidFill>
                  <a:srgbClr val="990033"/>
                </a:solidFill>
                <a:latin typeface="Calibri" panose="020F0502020204030204" pitchFamily="34" charset="0"/>
                <a:ea typeface="Calibri" panose="020F0502020204030204" pitchFamily="34" charset="0"/>
                <a:cs typeface="Calibri" panose="020F0502020204030204" pitchFamily="34" charset="0"/>
              </a:rPr>
              <a:t> hiện nộp bổ sung và không phải tính tiền chậm nộp</a:t>
            </a: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lnSpc>
                <a:spcPct val="150000"/>
              </a:lnSpc>
              <a:spcBef>
                <a:spcPts val="600"/>
              </a:spcBef>
              <a:spcAft>
                <a:spcPts val="600"/>
              </a:spcAft>
              <a:buFont typeface="Wingdings" panose="05000000000000000000" pitchFamily="2" charset="2"/>
              <a:buChar char="q"/>
            </a:pPr>
            <a:r>
              <a:rPr lang="vi-VN" sz="3600" dirty="0">
                <a:solidFill>
                  <a:srgbClr val="002060"/>
                </a:solidFill>
                <a:latin typeface="Calibri" panose="020F0502020204030204" pitchFamily="34" charset="0"/>
                <a:ea typeface="Calibri" panose="020F0502020204030204" pitchFamily="34" charset="0"/>
                <a:cs typeface="Calibri" panose="020F0502020204030204" pitchFamily="34" charset="0"/>
              </a:rPr>
              <a:t>Trường hợp số thuế thu nhập cá nhân tạm nộp nhiều hơn số thuế phải nộp khi quyết toán thì thực hiện thủ tục xử lý tiền thuế nộp thừa theo quy định tại Điều 12 Nghị định</a:t>
            </a: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7160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latin typeface="Arial Bold" panose="020B0704020202020204" pitchFamily="34" charset="0"/>
                <a:cs typeface="Arial Bold" panose="020B0704020202020204" pitchFamily="34" charset="0"/>
              </a:rPr>
              <a:t>ĐỊA ĐIỂM KHAI THUẾ, NỘP THUẾ</a:t>
            </a: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04800" y="1828800"/>
            <a:ext cx="17526000" cy="8458199"/>
          </a:xfrm>
        </p:spPr>
        <p:txBody>
          <a:bodyPr/>
          <a:lstStyle/>
          <a:p>
            <a:pPr algn="just">
              <a:lnSpc>
                <a:spcPct val="107000"/>
              </a:lnSpc>
              <a:spcBef>
                <a:spcPts val="1200"/>
              </a:spcBef>
              <a:buFont typeface="Wingdings" panose="05000000000000000000" pitchFamily="2" charset="2"/>
              <a:buChar char="q"/>
            </a:pPr>
            <a:r>
              <a:rPr lang="en-US" sz="3400" dirty="0">
                <a:effectLst/>
                <a:latin typeface="Calibri" panose="020F0502020204030204" pitchFamily="34" charset="0"/>
                <a:ea typeface="Calibri" panose="020F0502020204030204" pitchFamily="34" charset="0"/>
                <a:cs typeface="Calibri" panose="020F0502020204030204" pitchFamily="34" charset="0"/>
              </a:rPr>
              <a:t>HKD, CNKD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hồ</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sơ</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bằng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phương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thức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tử</a:t>
            </a:r>
            <a:r>
              <a:rPr lang="en-US" sz="3400" dirty="0">
                <a:effectLst/>
                <a:latin typeface="Calibri" panose="020F0502020204030204" pitchFamily="34" charset="0"/>
                <a:ea typeface="Calibri" panose="020F0502020204030204" pitchFamily="34" charset="0"/>
                <a:cs typeface="Calibri" panose="020F0502020204030204" pitchFamily="34" charset="0"/>
              </a:rPr>
              <a:t>. Trường </a:t>
            </a:r>
            <a:r>
              <a:rPr lang="en-US" sz="3400" dirty="0" err="1">
                <a:effectLst/>
                <a:latin typeface="Calibri" panose="020F0502020204030204" pitchFamily="34" charset="0"/>
                <a:ea typeface="Calibri" panose="020F0502020204030204" pitchFamily="34" charset="0"/>
                <a:cs typeface="Calibri" panose="020F0502020204030204" pitchFamily="34" charset="0"/>
              </a:rPr>
              <a:t>hợp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người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thuộc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đối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tượng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có</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hoàn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cảnh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đặc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biệt</a:t>
            </a:r>
            <a:r>
              <a:rPr lang="en-US" sz="3400" dirty="0">
                <a:effectLst/>
                <a:latin typeface="Calibri" panose="020F0502020204030204" pitchFamily="34" charset="0"/>
                <a:ea typeface="Calibri" panose="020F0502020204030204" pitchFamily="34" charset="0"/>
                <a:cs typeface="Calibri" panose="020F0502020204030204" pitchFamily="34" charset="0"/>
              </a:rPr>
              <a:t>, bao </a:t>
            </a:r>
            <a:r>
              <a:rPr lang="en-US" sz="3400" dirty="0" err="1">
                <a:effectLst/>
                <a:latin typeface="Calibri" panose="020F0502020204030204" pitchFamily="34" charset="0"/>
                <a:ea typeface="Calibri" panose="020F0502020204030204" pitchFamily="34" charset="0"/>
                <a:cs typeface="Calibri" panose="020F0502020204030204" pitchFamily="34" charset="0"/>
              </a:rPr>
              <a:t>gồm</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người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cao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tuổi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người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khuyết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tật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người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thuộc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bảo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trợ</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xã</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hội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người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cư</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trú</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tại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địa</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bàn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có</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điều</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kiện</a:t>
            </a:r>
            <a:r>
              <a:rPr lang="en-US" sz="3400" dirty="0">
                <a:effectLst/>
                <a:latin typeface="Calibri" panose="020F0502020204030204" pitchFamily="34" charset="0"/>
                <a:ea typeface="Calibri" panose="020F0502020204030204" pitchFamily="34" charset="0"/>
                <a:cs typeface="Calibri" panose="020F0502020204030204" pitchFamily="34" charset="0"/>
              </a:rPr>
              <a:t> KTXH </a:t>
            </a:r>
            <a:r>
              <a:rPr lang="en-US" sz="3400" dirty="0" err="1">
                <a:effectLst/>
                <a:latin typeface="Calibri" panose="020F0502020204030204" pitchFamily="34" charset="0"/>
                <a:ea typeface="Calibri" panose="020F0502020204030204" pitchFamily="34" charset="0"/>
                <a:cs typeface="Calibri" panose="020F0502020204030204" pitchFamily="34" charset="0"/>
              </a:rPr>
              <a:t>đặc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biệt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khó</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khăn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hoặc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thuộc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trường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hợp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bất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khả</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kháng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khác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không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thể</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thực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giao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dịch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tử</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thì</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hồ</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sơ</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trực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tiếp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hoặc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gửi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hồ</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sơ</a:t>
            </a:r>
            <a:r>
              <a:rPr lang="en-US" sz="3400" dirty="0">
                <a:effectLst/>
                <a:latin typeface="Calibri" panose="020F0502020204030204" pitchFamily="34" charset="0"/>
                <a:ea typeface="Calibri" panose="020F0502020204030204" pitchFamily="34" charset="0"/>
                <a:cs typeface="Calibri" panose="020F0502020204030204" pitchFamily="34" charset="0"/>
              </a:rPr>
              <a:t> qua DVBC </a:t>
            </a:r>
            <a:r>
              <a:rPr lang="en-US" sz="3400" dirty="0" err="1">
                <a:effectLst/>
                <a:latin typeface="Calibri" panose="020F0502020204030204" pitchFamily="34" charset="0"/>
                <a:ea typeface="Calibri" panose="020F0502020204030204" pitchFamily="34" charset="0"/>
                <a:cs typeface="Calibri" panose="020F0502020204030204" pitchFamily="34" charset="0"/>
              </a:rPr>
              <a:t>đến</a:t>
            </a:r>
            <a:r>
              <a:rPr lang="en-US" sz="3400" dirty="0">
                <a:effectLst/>
                <a:latin typeface="Calibri" panose="020F0502020204030204" pitchFamily="34" charset="0"/>
                <a:ea typeface="Calibri" panose="020F0502020204030204" pitchFamily="34" charset="0"/>
                <a:cs typeface="Calibri" panose="020F0502020204030204" pitchFamily="34" charset="0"/>
              </a:rPr>
              <a:t> TT Phục </a:t>
            </a:r>
            <a:r>
              <a:rPr lang="en-US" sz="3400" dirty="0" err="1">
                <a:effectLst/>
                <a:latin typeface="Calibri" panose="020F0502020204030204" pitchFamily="34" charset="0"/>
                <a:ea typeface="Calibri" panose="020F0502020204030204" pitchFamily="34" charset="0"/>
                <a:cs typeface="Calibri" panose="020F0502020204030204" pitchFamily="34" charset="0"/>
              </a:rPr>
              <a:t>vụ</a:t>
            </a:r>
            <a:r>
              <a:rPr lang="en-US" sz="3400" dirty="0">
                <a:effectLst/>
                <a:latin typeface="Calibri" panose="020F0502020204030204" pitchFamily="34" charset="0"/>
                <a:ea typeface="Calibri" panose="020F0502020204030204" pitchFamily="34" charset="0"/>
                <a:cs typeface="Calibri" panose="020F0502020204030204" pitchFamily="34" charset="0"/>
              </a:rPr>
              <a:t> HCC </a:t>
            </a:r>
            <a:r>
              <a:rPr lang="en-US" sz="3400" dirty="0" err="1">
                <a:effectLst/>
                <a:latin typeface="Calibri" panose="020F0502020204030204" pitchFamily="34" charset="0"/>
                <a:ea typeface="Calibri" panose="020F0502020204030204" pitchFamily="34" charset="0"/>
                <a:cs typeface="Calibri" panose="020F0502020204030204" pitchFamily="34" charset="0"/>
              </a:rPr>
              <a:t>cấp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xã</a:t>
            </a:r>
            <a:r>
              <a:rPr lang="en-US" sz="3400" dirty="0">
                <a:effectLst/>
                <a:latin typeface="Calibri" panose="020F0502020204030204" pitchFamily="34" charset="0"/>
                <a:ea typeface="Calibri" panose="020F0502020204030204" pitchFamily="34" charset="0"/>
                <a:cs typeface="Calibri" panose="020F0502020204030204" pitchFamily="34" charset="0"/>
              </a:rPr>
              <a:t>;</a:t>
            </a:r>
            <a:endParaRPr lang="en-US" sz="3400" dirty="0">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Bef>
                <a:spcPts val="1200"/>
              </a:spcBef>
              <a:buFont typeface="Wingdings" panose="05000000000000000000" pitchFamily="2" charset="2"/>
              <a:buChar char="q"/>
            </a:pPr>
            <a:r>
              <a:rPr lang="en-US" sz="3400" dirty="0">
                <a:effectLst/>
                <a:latin typeface="Calibri" panose="020F0502020204030204" pitchFamily="34" charset="0"/>
                <a:ea typeface="Calibri" panose="020F0502020204030204" pitchFamily="34" charset="0"/>
                <a:cs typeface="Calibri" panose="020F0502020204030204" pitchFamily="34" charset="0"/>
              </a:rPr>
              <a:t>HKD, CNKD bao </a:t>
            </a:r>
            <a:r>
              <a:rPr lang="en-US" sz="3400" dirty="0" err="1">
                <a:effectLst/>
                <a:latin typeface="Calibri" panose="020F0502020204030204" pitchFamily="34" charset="0"/>
                <a:ea typeface="Calibri" panose="020F0502020204030204" pitchFamily="34" charset="0"/>
                <a:cs typeface="Calibri" panose="020F0502020204030204" pitchFamily="34" charset="0"/>
              </a:rPr>
              <a:t>gồm</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cả</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kinh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doanh</a:t>
            </a:r>
            <a:r>
              <a:rPr lang="en-US" sz="3400" dirty="0">
                <a:effectLst/>
                <a:latin typeface="Calibri" panose="020F0502020204030204" pitchFamily="34" charset="0"/>
                <a:ea typeface="Calibri" panose="020F0502020204030204" pitchFamily="34" charset="0"/>
                <a:cs typeface="Calibri" panose="020F0502020204030204" pitchFamily="34" charset="0"/>
              </a:rPr>
              <a:t> TMĐT </a:t>
            </a:r>
            <a:r>
              <a:rPr lang="en-US" sz="3400" dirty="0" err="1">
                <a:effectLst/>
                <a:latin typeface="Calibri" panose="020F0502020204030204" pitchFamily="34" charset="0"/>
                <a:ea typeface="Calibri" panose="020F0502020204030204" pitchFamily="34" charset="0"/>
                <a:cs typeface="Calibri" panose="020F0502020204030204" pitchFamily="34" charset="0"/>
              </a:rPr>
              <a:t>có</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nhiều</a:t>
            </a:r>
            <a:r>
              <a:rPr lang="en-US" sz="3400" dirty="0">
                <a:effectLst/>
                <a:latin typeface="Calibri" panose="020F0502020204030204" pitchFamily="34" charset="0"/>
                <a:ea typeface="Calibri" panose="020F0502020204030204" pitchFamily="34" charset="0"/>
                <a:cs typeface="Calibri" panose="020F0502020204030204" pitchFamily="34" charset="0"/>
              </a:rPr>
              <a:t> ĐĐKD (</a:t>
            </a:r>
            <a:r>
              <a:rPr lang="en-US" sz="3400" dirty="0" err="1">
                <a:effectLst/>
                <a:latin typeface="Calibri" panose="020F0502020204030204" pitchFamily="34" charset="0"/>
                <a:ea typeface="Calibri" panose="020F0502020204030204" pitchFamily="34" charset="0"/>
                <a:cs typeface="Calibri" panose="020F0502020204030204" pitchFamily="34" charset="0"/>
              </a:rPr>
              <a:t>cửa</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hàng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hoạt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động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trên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cùng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địa</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bàn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một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tỉnh</a:t>
            </a:r>
            <a:r>
              <a:rPr lang="en-US" sz="3400" dirty="0">
                <a:effectLst/>
                <a:latin typeface="Calibri" panose="020F0502020204030204" pitchFamily="34" charset="0"/>
                <a:ea typeface="Calibri" panose="020F0502020204030204" pitchFamily="34" charset="0"/>
                <a:cs typeface="Calibri" panose="020F0502020204030204" pitchFamily="34" charset="0"/>
              </a:rPr>
              <a:t>, TP </a:t>
            </a:r>
            <a:r>
              <a:rPr lang="en-US" sz="3400" dirty="0" err="1">
                <a:effectLst/>
                <a:latin typeface="Calibri" panose="020F0502020204030204" pitchFamily="34" charset="0"/>
                <a:ea typeface="Calibri" panose="020F0502020204030204" pitchFamily="34" charset="0"/>
                <a:cs typeface="Calibri" panose="020F0502020204030204" pitchFamily="34" charset="0"/>
              </a:rPr>
              <a:t>hoặc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khác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tỉnh</a:t>
            </a:r>
            <a:r>
              <a:rPr lang="en-US" sz="3400" dirty="0">
                <a:effectLst/>
                <a:latin typeface="Calibri" panose="020F0502020204030204" pitchFamily="34" charset="0"/>
                <a:ea typeface="Calibri" panose="020F0502020204030204" pitchFamily="34" charset="0"/>
                <a:cs typeface="Calibri" panose="020F0502020204030204" pitchFamily="34" charset="0"/>
              </a:rPr>
              <a:t>, TP, </a:t>
            </a:r>
            <a:r>
              <a:rPr lang="en-US" sz="3400" dirty="0" err="1">
                <a:effectLst/>
                <a:latin typeface="Calibri" panose="020F0502020204030204" pitchFamily="34" charset="0"/>
                <a:ea typeface="Calibri" panose="020F0502020204030204" pitchFamily="34" charset="0"/>
                <a:cs typeface="Calibri" panose="020F0502020204030204" pitchFamily="34" charset="0"/>
              </a:rPr>
              <a:t>thực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tổng</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hợp</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chung</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cho</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các</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ĐĐKD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trên</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01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hồ</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sơ</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khai</a:t>
            </a:r>
            <a:r>
              <a:rPr lang="en-US" sz="34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để</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cho</a:t>
            </a:r>
            <a:r>
              <a:rPr lang="en-US" sz="3400" dirty="0">
                <a:effectLst/>
                <a:latin typeface="Calibri" panose="020F0502020204030204" pitchFamily="34" charset="0"/>
                <a:ea typeface="Calibri" panose="020F0502020204030204" pitchFamily="34" charset="0"/>
                <a:cs typeface="Calibri" panose="020F0502020204030204" pitchFamily="34" charset="0"/>
              </a:rPr>
              <a:t> CQT </a:t>
            </a:r>
            <a:r>
              <a:rPr lang="en-US" sz="3400" dirty="0" err="1">
                <a:effectLst/>
                <a:latin typeface="Calibri" panose="020F0502020204030204" pitchFamily="34" charset="0"/>
                <a:ea typeface="Calibri" panose="020F0502020204030204" pitchFamily="34" charset="0"/>
                <a:cs typeface="Calibri" panose="020F0502020204030204" pitchFamily="34" charset="0"/>
              </a:rPr>
              <a:t>quản</a:t>
            </a:r>
            <a:r>
              <a:rPr lang="en-US" sz="3400" dirty="0">
                <a:effectLst/>
                <a:latin typeface="Calibri" panose="020F0502020204030204" pitchFamily="34" charset="0"/>
                <a:ea typeface="Calibri" panose="020F0502020204030204" pitchFamily="34" charset="0"/>
                <a:cs typeface="Calibri" panose="020F0502020204030204" pitchFamily="34" charset="0"/>
              </a:rPr>
              <a:t> lý </a:t>
            </a:r>
            <a:r>
              <a:rPr lang="en-US" sz="3400" dirty="0" err="1">
                <a:effectLst/>
                <a:latin typeface="Calibri" panose="020F0502020204030204" pitchFamily="34" charset="0"/>
                <a:ea typeface="Calibri" panose="020F0502020204030204" pitchFamily="34" charset="0"/>
                <a:cs typeface="Calibri" panose="020F0502020204030204" pitchFamily="34" charset="0"/>
              </a:rPr>
              <a:t>trực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tiếp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trụ</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sở</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của</a:t>
            </a:r>
            <a:r>
              <a:rPr lang="en-US" sz="3400" dirty="0">
                <a:effectLst/>
                <a:latin typeface="Calibri" panose="020F0502020204030204" pitchFamily="34" charset="0"/>
                <a:ea typeface="Calibri" panose="020F0502020204030204" pitchFamily="34" charset="0"/>
                <a:cs typeface="Calibri" panose="020F0502020204030204" pitchFamily="34" charset="0"/>
              </a:rPr>
              <a:t> HKD, CNKD; </a:t>
            </a:r>
            <a:r>
              <a:rPr lang="en-US" sz="3400" dirty="0" err="1">
                <a:effectLst/>
                <a:latin typeface="Calibri" panose="020F0502020204030204" pitchFamily="34" charset="0"/>
                <a:ea typeface="Calibri" panose="020F0502020204030204" pitchFamily="34" charset="0"/>
                <a:cs typeface="Calibri" panose="020F0502020204030204" pitchFamily="34" charset="0"/>
              </a:rPr>
              <a:t>thực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cho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từng</a:t>
            </a:r>
            <a:r>
              <a:rPr lang="en-US" sz="3400" dirty="0">
                <a:effectLst/>
                <a:latin typeface="Calibri" panose="020F0502020204030204" pitchFamily="34" charset="0"/>
                <a:ea typeface="Calibri" panose="020F0502020204030204" pitchFamily="34" charset="0"/>
                <a:cs typeface="Calibri" panose="020F0502020204030204" pitchFamily="34" charset="0"/>
              </a:rPr>
              <a:t> ĐĐKD. </a:t>
            </a:r>
            <a:endParaRPr lang="en-US" sz="3400" dirty="0">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Bef>
                <a:spcPts val="1200"/>
              </a:spcBef>
              <a:buFont typeface="Wingdings" panose="05000000000000000000" pitchFamily="2" charset="2"/>
              <a:buChar char="q"/>
            </a:pPr>
            <a:r>
              <a:rPr lang="en-US" sz="3400" dirty="0">
                <a:effectLst/>
                <a:latin typeface="Calibri" panose="020F0502020204030204" pitchFamily="34" charset="0"/>
                <a:ea typeface="Calibri" panose="020F0502020204030204" pitchFamily="34" charset="0"/>
                <a:cs typeface="Calibri" panose="020F0502020204030204" pitchFamily="34" charset="0"/>
              </a:rPr>
              <a:t>HKD, CNKD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TNCN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phương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pháp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suất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nhân</a:t>
            </a:r>
            <a:r>
              <a:rPr lang="en-US" sz="3400" dirty="0">
                <a:effectLst/>
                <a:latin typeface="Calibri" panose="020F0502020204030204" pitchFamily="34" charset="0"/>
                <a:ea typeface="Calibri" panose="020F0502020204030204" pitchFamily="34" charset="0"/>
                <a:cs typeface="Calibri" panose="020F0502020204030204" pitchFamily="34" charset="0"/>
              </a:rPr>
              <a:t> (x) DTTT </a:t>
            </a:r>
            <a:r>
              <a:rPr lang="en-US" sz="34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kê</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doanh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và</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số</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GTGT,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TNCN </a:t>
            </a:r>
            <a:r>
              <a:rPr lang="en-US" sz="3400" dirty="0" err="1">
                <a:effectLst/>
                <a:latin typeface="Calibri" panose="020F0502020204030204" pitchFamily="34" charset="0"/>
                <a:ea typeface="Calibri" panose="020F0502020204030204" pitchFamily="34" charset="0"/>
                <a:cs typeface="Calibri" panose="020F0502020204030204" pitchFamily="34" charset="0"/>
              </a:rPr>
              <a:t>phải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từng</a:t>
            </a:r>
            <a:r>
              <a:rPr lang="en-US" sz="3400" dirty="0">
                <a:effectLst/>
                <a:latin typeface="Calibri" panose="020F0502020204030204" pitchFamily="34" charset="0"/>
                <a:ea typeface="Calibri" panose="020F0502020204030204" pitchFamily="34" charset="0"/>
                <a:cs typeface="Calibri" panose="020F0502020204030204" pitchFamily="34" charset="0"/>
              </a:rPr>
              <a:t> ĐĐKD </a:t>
            </a:r>
          </a:p>
          <a:p>
            <a:pPr algn="just">
              <a:lnSpc>
                <a:spcPct val="107000"/>
              </a:lnSpc>
              <a:spcBef>
                <a:spcPts val="1200"/>
              </a:spcBef>
              <a:buFont typeface="Wingdings" panose="05000000000000000000" pitchFamily="2" charset="2"/>
              <a:buChar char="q"/>
            </a:pPr>
            <a:r>
              <a:rPr lang="en-US" sz="3400" dirty="0">
                <a:effectLst/>
                <a:latin typeface="Calibri" panose="020F0502020204030204" pitchFamily="34" charset="0"/>
                <a:ea typeface="Calibri" panose="020F0502020204030204" pitchFamily="34" charset="0"/>
                <a:cs typeface="Calibri" panose="020F0502020204030204" pitchFamily="34" charset="0"/>
              </a:rPr>
              <a:t>HKD, CNKD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TNCN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phương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pháp</a:t>
            </a:r>
            <a:r>
              <a:rPr lang="en-US" sz="3400" dirty="0">
                <a:effectLst/>
                <a:latin typeface="Calibri" panose="020F0502020204030204" pitchFamily="34" charset="0"/>
                <a:ea typeface="Calibri" panose="020F0502020204030204" pitchFamily="34" charset="0"/>
                <a:cs typeface="Calibri" panose="020F0502020204030204" pitchFamily="34" charset="0"/>
              </a:rPr>
              <a:t> TNTT </a:t>
            </a:r>
            <a:r>
              <a:rPr lang="en-US" sz="3400" dirty="0" err="1">
                <a:effectLst/>
                <a:latin typeface="Calibri" panose="020F0502020204030204" pitchFamily="34" charset="0"/>
                <a:ea typeface="Calibri" panose="020F0502020204030204" pitchFamily="34" charset="0"/>
                <a:cs typeface="Calibri" panose="020F0502020204030204" pitchFamily="34" charset="0"/>
              </a:rPr>
              <a:t>nhân</a:t>
            </a:r>
            <a:r>
              <a:rPr lang="en-US" sz="3400" dirty="0">
                <a:effectLst/>
                <a:latin typeface="Calibri" panose="020F0502020204030204" pitchFamily="34" charset="0"/>
                <a:ea typeface="Calibri" panose="020F0502020204030204" pitchFamily="34" charset="0"/>
                <a:cs typeface="Calibri" panose="020F0502020204030204" pitchFamily="34" charset="0"/>
              </a:rPr>
              <a:t> (x)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suất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kê</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doanh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từng</a:t>
            </a:r>
            <a:r>
              <a:rPr lang="en-US" sz="3400" dirty="0">
                <a:effectLst/>
                <a:latin typeface="Calibri" panose="020F0502020204030204" pitchFamily="34" charset="0"/>
                <a:ea typeface="Calibri" panose="020F0502020204030204" pitchFamily="34" charset="0"/>
                <a:cs typeface="Calibri" panose="020F0502020204030204" pitchFamily="34" charset="0"/>
              </a:rPr>
              <a:t> ĐĐKD </a:t>
            </a:r>
            <a:r>
              <a:rPr lang="en-US" sz="3400" dirty="0" err="1">
                <a:effectLst/>
                <a:latin typeface="Calibri" panose="020F0502020204030204" pitchFamily="34" charset="0"/>
                <a:ea typeface="Calibri" panose="020F0502020204030204" pitchFamily="34" charset="0"/>
                <a:cs typeface="Calibri" panose="020F0502020204030204" pitchFamily="34" charset="0"/>
              </a:rPr>
              <a:t>và</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thực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GTGT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từng</a:t>
            </a:r>
            <a:r>
              <a:rPr lang="en-US" sz="3400" dirty="0">
                <a:effectLst/>
                <a:latin typeface="Calibri" panose="020F0502020204030204" pitchFamily="34" charset="0"/>
                <a:ea typeface="Calibri" panose="020F0502020204030204" pitchFamily="34" charset="0"/>
                <a:cs typeface="Calibri" panose="020F0502020204030204" pitchFamily="34" charset="0"/>
              </a:rPr>
              <a:t> ĐĐKD,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TNCN </a:t>
            </a:r>
            <a:r>
              <a:rPr lang="en-US" sz="3400" dirty="0" err="1">
                <a:effectLst/>
                <a:latin typeface="Calibri" panose="020F0502020204030204" pitchFamily="34" charset="0"/>
                <a:ea typeface="Calibri" panose="020F0502020204030204" pitchFamily="34" charset="0"/>
                <a:cs typeface="Calibri" panose="020F0502020204030204" pitchFamily="34" charset="0"/>
              </a:rPr>
              <a:t>tại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trụ</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sở</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chính</a:t>
            </a:r>
            <a:r>
              <a:rPr lang="en-US" sz="3400" dirty="0">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spcBef>
                <a:spcPts val="600"/>
              </a:spcBef>
              <a:spcAft>
                <a:spcPts val="600"/>
              </a:spcAft>
              <a:buFont typeface="Wingdings" panose="05000000000000000000" pitchFamily="2" charset="2"/>
              <a:buChar char="ü"/>
            </a:pPr>
            <a:endParaRPr lang="en-US" sz="34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1618012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THÔNG BÁO ĐỊA ĐIỂM KINH DOANH</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marL="1085850" indent="-571500" algn="just">
              <a:lnSpc>
                <a:spcPct val="130000"/>
              </a:lnSpc>
              <a:spcBef>
                <a:spcPts val="0"/>
              </a:spcBef>
              <a:spcAft>
                <a:spcPts val="0"/>
              </a:spcAft>
              <a:buFont typeface="Wingdings" panose="05000000000000000000" pitchFamily="2" charset="2"/>
              <a:buChar char="q"/>
            </a:pPr>
            <a:r>
              <a:rPr lang="en-US" sz="3500" dirty="0">
                <a:solidFill>
                  <a:srgbClr val="002060"/>
                </a:solidFill>
                <a:latin typeface="Calibri" panose="020F0502020204030204" pitchFamily="34" charset="0"/>
                <a:ea typeface="Calibri" panose="020F0502020204030204" pitchFamily="34" charset="0"/>
                <a:cs typeface="Calibri" panose="020F0502020204030204" pitchFamily="34" charset="0"/>
              </a:rPr>
              <a:t>HKD, CNKD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ĐĐKD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ngoài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trụ</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sở</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chính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đổi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tin,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ngừng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chấm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dứt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ĐĐKD </a:t>
            </a:r>
          </a:p>
          <a:p>
            <a:pPr indent="0" algn="just">
              <a:lnSpc>
                <a:spcPct val="130000"/>
              </a:lnSpc>
              <a:spcBef>
                <a:spcPts val="0"/>
              </a:spcBef>
              <a:spcAft>
                <a:spcPts val="0"/>
              </a:spcAft>
            </a:pP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báo</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CQT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quản</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lý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trực</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tiếp</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trụ</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sở</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HKD, CNKD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trong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thời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hạn</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10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làm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việc</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kể</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ĐĐKD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vào</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kể</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đổi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tin,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ngừng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chấm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dứt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1085850" indent="-571500" algn="just">
              <a:lnSpc>
                <a:spcPct val="130000"/>
              </a:lnSpc>
              <a:spcBef>
                <a:spcPts val="0"/>
              </a:spcBef>
              <a:spcAft>
                <a:spcPts val="0"/>
              </a:spcAft>
              <a:buFont typeface="Wingdings" panose="05000000000000000000" pitchFamily="2" charset="2"/>
              <a:buChar char="à"/>
            </a:pP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gửi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báo</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về</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việc</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thành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lập</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địa</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điểm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đổi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tin,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tạm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ngừng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chấm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dứt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địa</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điểm</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mẫu</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01/TB-ĐĐKD. </a:t>
            </a:r>
          </a:p>
          <a:p>
            <a:pPr marL="1085850" indent="-571500" algn="just">
              <a:lnSpc>
                <a:spcPct val="130000"/>
              </a:lnSpc>
              <a:spcBef>
                <a:spcPts val="0"/>
              </a:spcBef>
              <a:spcAft>
                <a:spcPts val="0"/>
              </a:spcAft>
              <a:buFont typeface="Wingdings" panose="05000000000000000000" pitchFamily="2" charset="2"/>
              <a:buChar char="q"/>
            </a:pP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CQT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gửi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thông</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báo</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cho</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người</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biết</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theo</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mẫu</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5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02/TB-ĐĐKD.</a:t>
            </a:r>
          </a:p>
          <a:p>
            <a:pPr indent="457200" algn="just">
              <a:lnSpc>
                <a:spcPct val="130000"/>
              </a:lnSpc>
              <a:spcBef>
                <a:spcPts val="0"/>
              </a:spcBef>
              <a:spcAft>
                <a:spcPts val="0"/>
              </a:spcAft>
            </a:pPr>
            <a:r>
              <a:rPr lang="en-US" sz="35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5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Điểm</a:t>
            </a:r>
            <a:r>
              <a:rPr lang="en-US" sz="35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đ </a:t>
            </a:r>
            <a:r>
              <a:rPr lang="en-US" sz="35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5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4 Điều 8 </a:t>
            </a:r>
            <a:r>
              <a:rPr lang="en-US" sz="35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Nghị</a:t>
            </a:r>
            <a:r>
              <a:rPr lang="en-US" sz="35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5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định</a:t>
            </a:r>
            <a:r>
              <a:rPr lang="en-US" sz="35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5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và</a:t>
            </a:r>
            <a:r>
              <a:rPr lang="en-US" sz="35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Điều 3 </a:t>
            </a:r>
            <a:r>
              <a:rPr lang="en-US" sz="35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Thông</a:t>
            </a:r>
            <a:r>
              <a:rPr lang="en-US" sz="35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5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tư</a:t>
            </a:r>
            <a:r>
              <a:rPr lang="en-US" sz="35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678592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KHAI, NỘP THUẾ ĐỐI VỚI HKD, CNKD MỚI RA KINH DOANH</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marL="971550" indent="-457200" algn="just">
              <a:lnSpc>
                <a:spcPct val="107000"/>
              </a:lnSpc>
              <a:spcBef>
                <a:spcPts val="600"/>
              </a:spcBef>
              <a:spcAft>
                <a:spcPts val="600"/>
              </a:spcAft>
              <a:buFont typeface="Wingdings" panose="05000000000000000000" pitchFamily="2" charset="2"/>
              <a:buChar char="q"/>
            </a:pPr>
            <a:r>
              <a:rPr lang="en-US" sz="3200" dirty="0">
                <a:effectLst/>
                <a:latin typeface="Calibri" panose="020F0502020204030204" pitchFamily="34" charset="0"/>
                <a:ea typeface="Calibri" panose="020F0502020204030204" pitchFamily="34" charset="0"/>
                <a:cs typeface="Calibri" panose="020F0502020204030204" pitchFamily="34" charset="0"/>
              </a:rPr>
              <a:t>HKD, CNKD </a:t>
            </a:r>
            <a:r>
              <a:rPr lang="en-US" sz="3200" dirty="0" err="1">
                <a:effectLst/>
                <a:latin typeface="Calibri" panose="020F0502020204030204" pitchFamily="34" charset="0"/>
                <a:ea typeface="Calibri" panose="020F0502020204030204" pitchFamily="34" charset="0"/>
                <a:cs typeface="Calibri" panose="020F0502020204030204" pitchFamily="34" charset="0"/>
              </a:rPr>
              <a:t>bắt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đầu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hoạt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động</a:t>
            </a:r>
            <a:r>
              <a:rPr lang="en-US" sz="3200" dirty="0">
                <a:effectLst/>
                <a:latin typeface="Calibri" panose="020F0502020204030204" pitchFamily="34" charset="0"/>
                <a:ea typeface="Calibri" panose="020F0502020204030204" pitchFamily="34" charset="0"/>
                <a:cs typeface="Calibri" panose="020F0502020204030204" pitchFamily="34" charset="0"/>
              </a:rPr>
              <a:t> SXKD </a:t>
            </a:r>
            <a:r>
              <a:rPr lang="en-US" sz="3200" dirty="0" err="1">
                <a:effectLst/>
                <a:latin typeface="Calibri" panose="020F0502020204030204" pitchFamily="34" charset="0"/>
                <a:ea typeface="Calibri" panose="020F0502020204030204" pitchFamily="34" charset="0"/>
                <a:cs typeface="Calibri" panose="020F0502020204030204" pitchFamily="34" charset="0"/>
              </a:rPr>
              <a:t>trong</a:t>
            </a:r>
            <a:r>
              <a:rPr lang="en-US" sz="3200" dirty="0">
                <a:effectLst/>
                <a:latin typeface="Calibri" panose="020F0502020204030204" pitchFamily="34" charset="0"/>
                <a:ea typeface="Calibri" panose="020F0502020204030204" pitchFamily="34" charset="0"/>
                <a:cs typeface="Calibri" panose="020F0502020204030204" pitchFamily="34" charset="0"/>
              </a:rPr>
              <a:t> 06 </a:t>
            </a:r>
            <a:r>
              <a:rPr lang="en-US" sz="3200" dirty="0" err="1">
                <a:effectLst/>
                <a:latin typeface="Calibri" panose="020F0502020204030204" pitchFamily="34" charset="0"/>
                <a:ea typeface="Calibri" panose="020F0502020204030204" pitchFamily="34" charset="0"/>
                <a:cs typeface="Calibri" panose="020F0502020204030204" pitchFamily="34" charset="0"/>
              </a:rPr>
              <a:t>tháng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đầu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năm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nếu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thực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err="1">
                <a:effectLst/>
                <a:latin typeface="Calibri" panose="020F0502020204030204" pitchFamily="34" charset="0"/>
                <a:ea typeface="Calibri" panose="020F0502020204030204" pitchFamily="34" charset="0"/>
                <a:cs typeface="Calibri" panose="020F0502020204030204" pitchFamily="34" charset="0"/>
              </a:rPr>
              <a:t>từ</a:t>
            </a:r>
            <a:r>
              <a:rPr lang="en-US" sz="3200">
                <a:effectLst/>
                <a:latin typeface="Calibri" panose="020F0502020204030204" pitchFamily="34" charset="0"/>
                <a:ea typeface="Calibri" panose="020F0502020204030204" pitchFamily="34" charset="0"/>
                <a:cs typeface="Calibri" panose="020F0502020204030204" pitchFamily="34" charset="0"/>
              </a:rPr>
              <a:t> </a:t>
            </a:r>
            <a:r>
              <a:rPr lang="en-US" sz="3200">
                <a:latin typeface="Calibri" panose="020F0502020204030204" pitchFamily="34" charset="0"/>
                <a:ea typeface="Calibri" panose="020F0502020204030204" pitchFamily="34" charset="0"/>
                <a:cs typeface="Calibri" panose="020F0502020204030204" pitchFamily="34" charset="0"/>
              </a:rPr>
              <a:t>1 tỷ </a:t>
            </a:r>
            <a:r>
              <a:rPr lang="en-US" sz="3200">
                <a:effectLst/>
                <a:latin typeface="Calibri" panose="020F0502020204030204" pitchFamily="34" charset="0"/>
                <a:ea typeface="Calibri" panose="020F0502020204030204" pitchFamily="34" charset="0"/>
                <a:cs typeface="Calibri" panose="020F0502020204030204" pitchFamily="34" charset="0"/>
              </a:rPr>
              <a:t>đồng </a:t>
            </a:r>
            <a:r>
              <a:rPr lang="en-US" sz="3200" dirty="0" err="1">
                <a:effectLst/>
                <a:latin typeface="Calibri" panose="020F0502020204030204" pitchFamily="34" charset="0"/>
                <a:ea typeface="Calibri" panose="020F0502020204030204" pitchFamily="34" charset="0"/>
                <a:cs typeface="Calibri" panose="020F0502020204030204" pitchFamily="34" charset="0"/>
              </a:rPr>
              <a:t>trở</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xuống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thông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báo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thực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phát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sinh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và</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kê</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khai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các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loại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khác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kể</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từ</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bắt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đầu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hoạt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động</a:t>
            </a:r>
            <a:r>
              <a:rPr lang="en-US" sz="3200" dirty="0">
                <a:effectLst/>
                <a:latin typeface="Calibri" panose="020F0502020204030204" pitchFamily="34" charset="0"/>
                <a:ea typeface="Calibri" panose="020F0502020204030204" pitchFamily="34" charset="0"/>
                <a:cs typeface="Calibri" panose="020F0502020204030204" pitchFamily="34" charset="0"/>
              </a:rPr>
              <a:t> SXKD </a:t>
            </a:r>
            <a:r>
              <a:rPr lang="en-US" sz="3200" dirty="0" err="1">
                <a:effectLst/>
                <a:latin typeface="Calibri" panose="020F0502020204030204" pitchFamily="34" charset="0"/>
                <a:ea typeface="Calibri" panose="020F0502020204030204" pitchFamily="34" charset="0"/>
                <a:cs typeface="Calibri" panose="020F0502020204030204" pitchFamily="34" charset="0"/>
              </a:rPr>
              <a:t>đến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hết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ngày</a:t>
            </a:r>
            <a:r>
              <a:rPr lang="en-US" sz="3200" dirty="0">
                <a:effectLst/>
                <a:latin typeface="Calibri" panose="020F0502020204030204" pitchFamily="34" charset="0"/>
                <a:ea typeface="Calibri" panose="020F0502020204030204" pitchFamily="34" charset="0"/>
                <a:cs typeface="Calibri" panose="020F0502020204030204" pitchFamily="34" charset="0"/>
              </a:rPr>
              <a:t> 30 </a:t>
            </a:r>
            <a:r>
              <a:rPr lang="en-US" sz="3200" dirty="0" err="1">
                <a:effectLst/>
                <a:latin typeface="Calibri" panose="020F0502020204030204" pitchFamily="34" charset="0"/>
                <a:ea typeface="Calibri" panose="020F0502020204030204" pitchFamily="34" charset="0"/>
                <a:cs typeface="Calibri" panose="020F0502020204030204" pitchFamily="34" charset="0"/>
              </a:rPr>
              <a:t>tháng</a:t>
            </a:r>
            <a:r>
              <a:rPr lang="en-US" sz="3200" dirty="0">
                <a:effectLst/>
                <a:latin typeface="Calibri" panose="020F0502020204030204" pitchFamily="34" charset="0"/>
                <a:ea typeface="Calibri" panose="020F0502020204030204" pitchFamily="34" charset="0"/>
                <a:cs typeface="Calibri" panose="020F0502020204030204" pitchFamily="34" charset="0"/>
              </a:rPr>
              <a:t> 6 </a:t>
            </a:r>
            <a:r>
              <a:rPr lang="en-US" sz="3200" dirty="0" err="1">
                <a:effectLst/>
                <a:latin typeface="Calibri" panose="020F0502020204030204" pitchFamily="34" charset="0"/>
                <a:ea typeface="Calibri" panose="020F0502020204030204" pitchFamily="34" charset="0"/>
                <a:cs typeface="Calibri" panose="020F0502020204030204" pitchFamily="34" charset="0"/>
              </a:rPr>
              <a:t>với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a:latin typeface="Calibri" panose="020F0502020204030204" pitchFamily="34" charset="0"/>
                <a:ea typeface="Calibri" panose="020F0502020204030204" pitchFamily="34" charset="0"/>
                <a:cs typeface="Calibri" panose="020F0502020204030204" pitchFamily="34" charset="0"/>
              </a:rPr>
              <a:t>CQT </a:t>
            </a:r>
            <a:r>
              <a:rPr lang="en-US" sz="3200" dirty="0" err="1">
                <a:effectLst/>
                <a:latin typeface="Calibri" panose="020F0502020204030204" pitchFamily="34" charset="0"/>
                <a:ea typeface="Calibri" panose="020F0502020204030204" pitchFamily="34" charset="0"/>
                <a:cs typeface="Calibri" panose="020F0502020204030204" pitchFamily="34" charset="0"/>
              </a:rPr>
              <a:t>quản</a:t>
            </a:r>
            <a:r>
              <a:rPr lang="en-US" sz="3200" dirty="0">
                <a:effectLst/>
                <a:latin typeface="Calibri" panose="020F0502020204030204" pitchFamily="34" charset="0"/>
                <a:ea typeface="Calibri" panose="020F0502020204030204" pitchFamily="34" charset="0"/>
                <a:cs typeface="Calibri" panose="020F0502020204030204" pitchFamily="34" charset="0"/>
              </a:rPr>
              <a:t> lý </a:t>
            </a:r>
            <a:r>
              <a:rPr lang="en-US" sz="3200" dirty="0" err="1">
                <a:effectLst/>
                <a:latin typeface="Calibri" panose="020F0502020204030204" pitchFamily="34" charset="0"/>
                <a:ea typeface="Calibri" panose="020F0502020204030204" pitchFamily="34" charset="0"/>
                <a:cs typeface="Calibri" panose="020F0502020204030204" pitchFamily="34" charset="0"/>
              </a:rPr>
              <a:t>trực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tiếp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chậm</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nhất</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là</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ngày</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31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tháng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7</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và</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thông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báo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thực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phát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sinh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trong</a:t>
            </a:r>
            <a:r>
              <a:rPr lang="en-US" sz="3200" dirty="0">
                <a:effectLst/>
                <a:latin typeface="Calibri" panose="020F0502020204030204" pitchFamily="34" charset="0"/>
                <a:ea typeface="Calibri" panose="020F0502020204030204" pitchFamily="34" charset="0"/>
                <a:cs typeface="Calibri" panose="020F0502020204030204" pitchFamily="34" charset="0"/>
              </a:rPr>
              <a:t> 06 </a:t>
            </a:r>
            <a:r>
              <a:rPr lang="en-US" sz="3200" dirty="0" err="1">
                <a:effectLst/>
                <a:latin typeface="Calibri" panose="020F0502020204030204" pitchFamily="34" charset="0"/>
                <a:ea typeface="Calibri" panose="020F0502020204030204" pitchFamily="34" charset="0"/>
                <a:cs typeface="Calibri" panose="020F0502020204030204" pitchFamily="34" charset="0"/>
              </a:rPr>
              <a:t>tháng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cuối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năm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chậm</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nhất</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là</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ngày</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31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tháng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01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của</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năm</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dương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lịch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tiếp</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theo</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theo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mẫu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số</a:t>
            </a:r>
            <a:r>
              <a:rPr lang="en-US" sz="3200" dirty="0">
                <a:effectLst/>
                <a:latin typeface="Calibri" panose="020F0502020204030204" pitchFamily="34" charset="0"/>
                <a:ea typeface="Calibri" panose="020F0502020204030204" pitchFamily="34" charset="0"/>
                <a:cs typeface="Calibri" panose="020F0502020204030204" pitchFamily="34" charset="0"/>
              </a:rPr>
              <a:t> 01/TKN-CNKD.</a:t>
            </a:r>
          </a:p>
          <a:p>
            <a:pPr marL="971550" indent="-457200" algn="just">
              <a:lnSpc>
                <a:spcPct val="107000"/>
              </a:lnSpc>
              <a:spcBef>
                <a:spcPts val="600"/>
              </a:spcBef>
              <a:spcAft>
                <a:spcPts val="600"/>
              </a:spcAft>
              <a:buFont typeface="Wingdings" panose="05000000000000000000" pitchFamily="2" charset="2"/>
              <a:buChar char="q"/>
            </a:pPr>
            <a:r>
              <a:rPr lang="en-US" sz="3200" dirty="0" err="1">
                <a:effectLst/>
                <a:latin typeface="Calibri" panose="020F0502020204030204" pitchFamily="34" charset="0"/>
                <a:ea typeface="Calibri" panose="020F0502020204030204" pitchFamily="34" charset="0"/>
                <a:cs typeface="Calibri" panose="020F0502020204030204" pitchFamily="34" charset="0"/>
              </a:rPr>
              <a:t>Bắt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đầu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hoạt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động</a:t>
            </a:r>
            <a:r>
              <a:rPr lang="en-US" sz="3200" dirty="0">
                <a:effectLst/>
                <a:latin typeface="Calibri" panose="020F0502020204030204" pitchFamily="34" charset="0"/>
                <a:ea typeface="Calibri" panose="020F0502020204030204" pitchFamily="34" charset="0"/>
                <a:cs typeface="Calibri" panose="020F0502020204030204" pitchFamily="34" charset="0"/>
              </a:rPr>
              <a:t> SXKD </a:t>
            </a:r>
            <a:r>
              <a:rPr lang="en-US" sz="3200" dirty="0" err="1">
                <a:effectLst/>
                <a:latin typeface="Calibri" panose="020F0502020204030204" pitchFamily="34" charset="0"/>
                <a:ea typeface="Calibri" panose="020F0502020204030204" pitchFamily="34" charset="0"/>
                <a:cs typeface="Calibri" panose="020F0502020204030204" pitchFamily="34" charset="0"/>
              </a:rPr>
              <a:t>trong</a:t>
            </a:r>
            <a:r>
              <a:rPr lang="en-US" sz="3200" dirty="0">
                <a:effectLst/>
                <a:latin typeface="Calibri" panose="020F0502020204030204" pitchFamily="34" charset="0"/>
                <a:ea typeface="Calibri" panose="020F0502020204030204" pitchFamily="34" charset="0"/>
                <a:cs typeface="Calibri" panose="020F0502020204030204" pitchFamily="34" charset="0"/>
              </a:rPr>
              <a:t> 06 </a:t>
            </a:r>
            <a:r>
              <a:rPr lang="en-US" sz="3200" dirty="0" err="1">
                <a:effectLst/>
                <a:latin typeface="Calibri" panose="020F0502020204030204" pitchFamily="34" charset="0"/>
                <a:ea typeface="Calibri" panose="020F0502020204030204" pitchFamily="34" charset="0"/>
                <a:cs typeface="Calibri" panose="020F0502020204030204" pitchFamily="34" charset="0"/>
              </a:rPr>
              <a:t>tháng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cuối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năm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nếu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thực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err="1">
                <a:effectLst/>
                <a:latin typeface="Calibri" panose="020F0502020204030204" pitchFamily="34" charset="0"/>
                <a:ea typeface="Calibri" panose="020F0502020204030204" pitchFamily="34" charset="0"/>
                <a:cs typeface="Calibri" panose="020F0502020204030204" pitchFamily="34" charset="0"/>
              </a:rPr>
              <a:t>từ</a:t>
            </a:r>
            <a:r>
              <a:rPr lang="en-US" sz="3200">
                <a:effectLst/>
                <a:latin typeface="Calibri" panose="020F0502020204030204" pitchFamily="34" charset="0"/>
                <a:ea typeface="Calibri" panose="020F0502020204030204" pitchFamily="34" charset="0"/>
                <a:cs typeface="Calibri" panose="020F0502020204030204" pitchFamily="34" charset="0"/>
              </a:rPr>
              <a:t> </a:t>
            </a:r>
            <a:r>
              <a:rPr lang="en-US" sz="3200">
                <a:latin typeface="Calibri" panose="020F0502020204030204" pitchFamily="34" charset="0"/>
                <a:ea typeface="Calibri" panose="020F0502020204030204" pitchFamily="34" charset="0"/>
                <a:cs typeface="Calibri" panose="020F0502020204030204" pitchFamily="34" charset="0"/>
              </a:rPr>
              <a:t>1 tỷ</a:t>
            </a:r>
            <a:r>
              <a:rPr lang="en-US" sz="320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trở</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xuống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thông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báo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thực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phát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sinh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và</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kê</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khai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các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loại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khác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chậm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nhất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là</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ngày</a:t>
            </a:r>
            <a:r>
              <a:rPr lang="en-US" sz="3200" dirty="0">
                <a:effectLst/>
                <a:latin typeface="Calibri" panose="020F0502020204030204" pitchFamily="34" charset="0"/>
                <a:ea typeface="Calibri" panose="020F0502020204030204" pitchFamily="34" charset="0"/>
                <a:cs typeface="Calibri" panose="020F0502020204030204" pitchFamily="34" charset="0"/>
              </a:rPr>
              <a:t> 31 </a:t>
            </a:r>
            <a:r>
              <a:rPr lang="en-US" sz="3200" dirty="0" err="1">
                <a:effectLst/>
                <a:latin typeface="Calibri" panose="020F0502020204030204" pitchFamily="34" charset="0"/>
                <a:ea typeface="Calibri" panose="020F0502020204030204" pitchFamily="34" charset="0"/>
                <a:cs typeface="Calibri" panose="020F0502020204030204" pitchFamily="34" charset="0"/>
              </a:rPr>
              <a:t>tháng</a:t>
            </a:r>
            <a:r>
              <a:rPr lang="en-US" sz="3200" dirty="0">
                <a:effectLst/>
                <a:latin typeface="Calibri" panose="020F0502020204030204" pitchFamily="34" charset="0"/>
                <a:ea typeface="Calibri" panose="020F0502020204030204" pitchFamily="34" charset="0"/>
                <a:cs typeface="Calibri" panose="020F0502020204030204" pitchFamily="34" charset="0"/>
              </a:rPr>
              <a:t> 01 </a:t>
            </a:r>
            <a:r>
              <a:rPr lang="en-US" sz="3200" dirty="0" err="1">
                <a:effectLst/>
                <a:latin typeface="Calibri" panose="020F0502020204030204" pitchFamily="34" charset="0"/>
                <a:ea typeface="Calibri" panose="020F0502020204030204" pitchFamily="34" charset="0"/>
                <a:cs typeface="Calibri" panose="020F0502020204030204" pitchFamily="34" charset="0"/>
              </a:rPr>
              <a:t>của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năm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dương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lịch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tiếp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theo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theo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mẫu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số</a:t>
            </a:r>
            <a:r>
              <a:rPr lang="en-US" sz="3200" dirty="0">
                <a:effectLst/>
                <a:latin typeface="Calibri" panose="020F0502020204030204" pitchFamily="34" charset="0"/>
                <a:ea typeface="Calibri" panose="020F0502020204030204" pitchFamily="34" charset="0"/>
                <a:cs typeface="Calibri" panose="020F0502020204030204" pitchFamily="34" charset="0"/>
              </a:rPr>
              <a:t> 01/TKN-CNKD. </a:t>
            </a:r>
          </a:p>
          <a:p>
            <a:pPr marL="971550" indent="-457200" algn="just">
              <a:lnSpc>
                <a:spcPct val="107000"/>
              </a:lnSpc>
              <a:spcBef>
                <a:spcPts val="600"/>
              </a:spcBef>
              <a:spcAft>
                <a:spcPts val="600"/>
              </a:spcAft>
              <a:buFont typeface="Wingdings" panose="05000000000000000000" pitchFamily="2" charset="2"/>
              <a:buChar char="q"/>
            </a:pPr>
            <a:r>
              <a:rPr lang="en-US" sz="3200" dirty="0">
                <a:effectLst/>
                <a:latin typeface="Calibri" panose="020F0502020204030204" pitchFamily="34" charset="0"/>
                <a:ea typeface="Calibri" panose="020F0502020204030204" pitchFamily="34" charset="0"/>
                <a:cs typeface="Calibri" panose="020F0502020204030204" pitchFamily="34" charset="0"/>
              </a:rPr>
              <a:t>Khi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lũy</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err="1">
                <a:effectLst/>
                <a:latin typeface="Calibri" panose="020F0502020204030204" pitchFamily="34" charset="0"/>
                <a:ea typeface="Calibri" panose="020F0502020204030204" pitchFamily="34" charset="0"/>
                <a:cs typeface="Calibri" panose="020F0502020204030204" pitchFamily="34" charset="0"/>
              </a:rPr>
              <a:t>trên</a:t>
            </a:r>
            <a:r>
              <a:rPr lang="en-US" sz="3200">
                <a:effectLst/>
                <a:latin typeface="Calibri" panose="020F0502020204030204" pitchFamily="34" charset="0"/>
                <a:ea typeface="Calibri" panose="020F0502020204030204" pitchFamily="34" charset="0"/>
                <a:cs typeface="Calibri" panose="020F0502020204030204" pitchFamily="34" charset="0"/>
              </a:rPr>
              <a:t> </a:t>
            </a:r>
            <a:r>
              <a:rPr lang="en-US" sz="3200">
                <a:latin typeface="Calibri" panose="020F0502020204030204" pitchFamily="34" charset="0"/>
                <a:ea typeface="Calibri" panose="020F0502020204030204" pitchFamily="34" charset="0"/>
                <a:cs typeface="Calibri" panose="020F0502020204030204" pitchFamily="34" charset="0"/>
              </a:rPr>
              <a:t>1 tỷ</a:t>
            </a:r>
            <a:r>
              <a:rPr lang="en-US" sz="320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khai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theo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quý</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kể</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từ</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quý</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phát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sinh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err="1">
                <a:effectLst/>
                <a:latin typeface="Calibri" panose="020F0502020204030204" pitchFamily="34" charset="0"/>
                <a:ea typeface="Calibri" panose="020F0502020204030204" pitchFamily="34" charset="0"/>
                <a:cs typeface="Calibri" panose="020F0502020204030204" pitchFamily="34" charset="0"/>
              </a:rPr>
              <a:t>trên</a:t>
            </a:r>
            <a:r>
              <a:rPr lang="en-US" sz="3200">
                <a:effectLst/>
                <a:latin typeface="Calibri" panose="020F0502020204030204" pitchFamily="34" charset="0"/>
                <a:ea typeface="Calibri" panose="020F0502020204030204" pitchFamily="34" charset="0"/>
                <a:cs typeface="Calibri" panose="020F0502020204030204" pitchFamily="34" charset="0"/>
              </a:rPr>
              <a:t> </a:t>
            </a:r>
            <a:r>
              <a:rPr lang="en-US" sz="3200">
                <a:latin typeface="Calibri" panose="020F0502020204030204" pitchFamily="34" charset="0"/>
                <a:ea typeface="Calibri" panose="020F0502020204030204" pitchFamily="34" charset="0"/>
                <a:cs typeface="Calibri" panose="020F0502020204030204" pitchFamily="34" charset="0"/>
              </a:rPr>
              <a:t>1 tỷ</a:t>
            </a:r>
            <a:r>
              <a:rPr lang="en-US" sz="320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theo</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mẫu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số</a:t>
            </a:r>
            <a:r>
              <a:rPr lang="en-US" sz="3200" dirty="0">
                <a:effectLst/>
                <a:latin typeface="Calibri" panose="020F0502020204030204" pitchFamily="34" charset="0"/>
                <a:ea typeface="Calibri" panose="020F0502020204030204" pitchFamily="34" charset="0"/>
                <a:cs typeface="Calibri" panose="020F0502020204030204" pitchFamily="34" charset="0"/>
              </a:rPr>
              <a:t> 01/CNKD.</a:t>
            </a:r>
          </a:p>
          <a:p>
            <a:pPr indent="457200" algn="just">
              <a:lnSpc>
                <a:spcPct val="107000"/>
              </a:lnSpc>
              <a:spcBef>
                <a:spcPts val="600"/>
              </a:spcBef>
              <a:spcAft>
                <a:spcPts val="600"/>
              </a:spcAft>
            </a:pPr>
            <a:r>
              <a:rPr lang="en-US" sz="32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200" i="1">
                <a:solidFill>
                  <a:srgbClr val="990033"/>
                </a:solidFill>
                <a:effectLst/>
                <a:latin typeface="Calibri" panose="020F0502020204030204" pitchFamily="34" charset="0"/>
                <a:ea typeface="Calibri" panose="020F0502020204030204" pitchFamily="34" charset="0"/>
                <a:cs typeface="Calibri" panose="020F0502020204030204" pitchFamily="34" charset="0"/>
              </a:rPr>
              <a:t>Điều 8,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4 Điều 13 Nghị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và</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1 Điều 4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Thông</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tư</a:t>
            </a:r>
            <a:r>
              <a:rPr lang="en-US" sz="32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2557708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SỬ DỤNG HÓA ĐƠN ĐIỆN TỬ</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indent="457200" algn="just">
              <a:lnSpc>
                <a:spcPct val="107000"/>
              </a:lnSpc>
              <a:spcBef>
                <a:spcPts val="600"/>
              </a:spcBef>
              <a:spcAft>
                <a:spcPts val="600"/>
              </a:spcAft>
            </a:pPr>
            <a:r>
              <a:rPr lang="en-US" sz="3200" dirty="0">
                <a:latin typeface="Calibri" panose="020F0502020204030204" pitchFamily="34" charset="0"/>
                <a:ea typeface="Calibri" panose="020F0502020204030204" pitchFamily="34" charset="0"/>
                <a:cs typeface="Calibri" panose="020F0502020204030204" pitchFamily="34" charset="0"/>
              </a:rPr>
              <a:t>HKD, CNKD</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tính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GTGT </a:t>
            </a:r>
            <a:r>
              <a:rPr lang="en-US" sz="3200" dirty="0" err="1">
                <a:effectLst/>
                <a:latin typeface="Calibri" panose="020F0502020204030204" pitchFamily="34" charset="0"/>
                <a:ea typeface="Calibri" panose="020F0502020204030204" pitchFamily="34" charset="0"/>
                <a:cs typeface="Calibri" panose="020F0502020204030204" pitchFamily="34" charset="0"/>
              </a:rPr>
              <a:t>hằng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năm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từ</a:t>
            </a:r>
            <a:r>
              <a:rPr lang="en-US" sz="3200" dirty="0">
                <a:effectLst/>
                <a:latin typeface="Calibri" panose="020F0502020204030204" pitchFamily="34" charset="0"/>
                <a:ea typeface="Calibri" panose="020F0502020204030204" pitchFamily="34" charset="0"/>
                <a:cs typeface="Calibri" panose="020F0502020204030204" pitchFamily="34" charset="0"/>
              </a:rPr>
              <a:t> 01 </a:t>
            </a:r>
            <a:r>
              <a:rPr lang="en-US" sz="3200" dirty="0" err="1">
                <a:effectLst/>
                <a:latin typeface="Calibri" panose="020F0502020204030204" pitchFamily="34" charset="0"/>
                <a:ea typeface="Calibri" panose="020F0502020204030204" pitchFamily="34" charset="0"/>
                <a:cs typeface="Calibri" panose="020F0502020204030204" pitchFamily="34" charset="0"/>
              </a:rPr>
              <a:t>tỷ</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trở</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lên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phải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áp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dụng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hóa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đơn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điện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tử</a:t>
            </a:r>
            <a:r>
              <a:rPr lang="en-US" sz="3200" dirty="0">
                <a:effectLst/>
                <a:latin typeface="Calibri" panose="020F0502020204030204" pitchFamily="34" charset="0"/>
                <a:ea typeface="Calibri" panose="020F0502020204030204" pitchFamily="34" charset="0"/>
                <a:cs typeface="Calibri" panose="020F0502020204030204" pitchFamily="34" charset="0"/>
              </a:rPr>
              <a:t> </a:t>
            </a:r>
          </a:p>
          <a:p>
            <a:pPr indent="457200" algn="just">
              <a:lnSpc>
                <a:spcPct val="107000"/>
              </a:lnSpc>
              <a:spcBef>
                <a:spcPts val="600"/>
              </a:spcBef>
              <a:spcAft>
                <a:spcPts val="600"/>
              </a:spcAft>
            </a:pP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Trường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hợp</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có</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nhiều</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ĐĐKD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thì</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sử</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dụng</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MST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của</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HKD, CNKD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cho</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tất</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cả</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các</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cửa</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hàng</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và</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phải</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ghi</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rõ</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địa</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chỉ</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của</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từng</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ĐĐKD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trên</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hóa</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đơn</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indent="457200" algn="just">
              <a:lnSpc>
                <a:spcPct val="107000"/>
              </a:lnSpc>
              <a:spcBef>
                <a:spcPts val="600"/>
              </a:spcBef>
              <a:spcAft>
                <a:spcPts val="600"/>
              </a:spcAft>
            </a:pPr>
            <a:r>
              <a:rPr lang="en-US" sz="3200" dirty="0">
                <a:latin typeface="Calibri" panose="020F0502020204030204" pitchFamily="34" charset="0"/>
                <a:ea typeface="Calibri" panose="020F0502020204030204" pitchFamily="34" charset="0"/>
                <a:cs typeface="Calibri" panose="020F0502020204030204" pitchFamily="34" charset="0"/>
              </a:rPr>
              <a:t>HKD, CNKD</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tính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GTGT </a:t>
            </a:r>
            <a:r>
              <a:rPr lang="en-US" sz="3200" err="1">
                <a:effectLst/>
                <a:latin typeface="Calibri" panose="020F0502020204030204" pitchFamily="34" charset="0"/>
                <a:ea typeface="Calibri" panose="020F0502020204030204" pitchFamily="34" charset="0"/>
                <a:cs typeface="Calibri" panose="020F0502020204030204" pitchFamily="34" charset="0"/>
              </a:rPr>
              <a:t>năm</a:t>
            </a:r>
            <a:r>
              <a:rPr lang="en-US" sz="3200">
                <a:effectLst/>
                <a:latin typeface="Calibri" panose="020F0502020204030204" pitchFamily="34" charset="0"/>
                <a:ea typeface="Calibri" panose="020F0502020204030204" pitchFamily="34" charset="0"/>
                <a:cs typeface="Calibri" panose="020F0502020204030204" pitchFamily="34" charset="0"/>
              </a:rPr>
              <a:t> dưới </a:t>
            </a:r>
            <a:r>
              <a:rPr lang="en-US" sz="3200" dirty="0">
                <a:effectLst/>
                <a:latin typeface="Calibri" panose="020F0502020204030204" pitchFamily="34" charset="0"/>
                <a:ea typeface="Calibri" panose="020F0502020204030204" pitchFamily="34" charset="0"/>
                <a:cs typeface="Calibri" panose="020F0502020204030204" pitchFamily="34" charset="0"/>
              </a:rPr>
              <a:t>01 </a:t>
            </a:r>
            <a:r>
              <a:rPr lang="en-US" sz="3200" dirty="0" err="1">
                <a:effectLst/>
                <a:latin typeface="Calibri" panose="020F0502020204030204" pitchFamily="34" charset="0"/>
                <a:ea typeface="Calibri" panose="020F0502020204030204" pitchFamily="34" charset="0"/>
                <a:cs typeface="Calibri" panose="020F0502020204030204" pitchFamily="34" charset="0"/>
              </a:rPr>
              <a:t>tỷ</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không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bắt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buộc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dụng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hóa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đơn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điện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tử</a:t>
            </a:r>
            <a:r>
              <a:rPr lang="en-US" sz="3200" dirty="0">
                <a:effectLst/>
                <a:latin typeface="Calibri" panose="020F0502020204030204" pitchFamily="34" charset="0"/>
                <a:ea typeface="Calibri" panose="020F0502020204030204" pitchFamily="34" charset="0"/>
                <a:cs typeface="Calibri" panose="020F0502020204030204" pitchFamily="34" charset="0"/>
              </a:rPr>
              <a:t>. Trường </a:t>
            </a:r>
            <a:r>
              <a:rPr lang="en-US" sz="3200" dirty="0" err="1">
                <a:effectLst/>
                <a:latin typeface="Calibri" panose="020F0502020204030204" pitchFamily="34" charset="0"/>
                <a:ea typeface="Calibri" panose="020F0502020204030204" pitchFamily="34" charset="0"/>
                <a:cs typeface="Calibri" panose="020F0502020204030204" pitchFamily="34" charset="0"/>
              </a:rPr>
              <a:t>hợp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đáp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ứng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điều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kiện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và</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cầu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dụng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đăng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ký</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dụng</a:t>
            </a:r>
            <a:r>
              <a:rPr lang="en-US" sz="3200" dirty="0">
                <a:effectLst/>
                <a:latin typeface="Calibri" panose="020F0502020204030204" pitchFamily="34" charset="0"/>
                <a:ea typeface="Calibri" panose="020F0502020204030204" pitchFamily="34" charset="0"/>
                <a:cs typeface="Calibri" panose="020F0502020204030204" pitchFamily="34" charset="0"/>
              </a:rPr>
              <a:t>. Trường </a:t>
            </a:r>
            <a:r>
              <a:rPr lang="en-US" sz="3200" dirty="0" err="1">
                <a:effectLst/>
                <a:latin typeface="Calibri" panose="020F0502020204030204" pitchFamily="34" charset="0"/>
                <a:ea typeface="Calibri" panose="020F0502020204030204" pitchFamily="34" charset="0"/>
                <a:cs typeface="Calibri" panose="020F0502020204030204" pitchFamily="34" charset="0"/>
              </a:rPr>
              <a:t>hợp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không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đăng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ký</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cầu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dụng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khai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và</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nộp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trước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khi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được</a:t>
            </a:r>
            <a:r>
              <a:rPr lang="en-US" sz="3200" dirty="0">
                <a:effectLst/>
                <a:latin typeface="Calibri" panose="020F0502020204030204" pitchFamily="34" charset="0"/>
                <a:ea typeface="Calibri" panose="020F0502020204030204" pitchFamily="34" charset="0"/>
                <a:cs typeface="Calibri" panose="020F0502020204030204" pitchFamily="34" charset="0"/>
              </a:rPr>
              <a:t> CQT </a:t>
            </a:r>
            <a:r>
              <a:rPr lang="en-US" sz="3200" dirty="0" err="1">
                <a:effectLst/>
                <a:latin typeface="Calibri" panose="020F0502020204030204" pitchFamily="34" charset="0"/>
                <a:ea typeface="Calibri" panose="020F0502020204030204" pitchFamily="34" charset="0"/>
                <a:cs typeface="Calibri" panose="020F0502020204030204" pitchFamily="34" charset="0"/>
              </a:rPr>
              <a:t>cấp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hóa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đơn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điện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mã</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của</a:t>
            </a:r>
            <a:r>
              <a:rPr lang="en-US" sz="3200" spc="20" dirty="0">
                <a:effectLst/>
                <a:latin typeface="Calibri" panose="020F0502020204030204" pitchFamily="34" charset="0"/>
                <a:ea typeface="Calibri" panose="020F0502020204030204" pitchFamily="34" charset="0"/>
                <a:cs typeface="Calibri" panose="020F0502020204030204" pitchFamily="34" charset="0"/>
              </a:rPr>
              <a:t> CQT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theo</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từng</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lần</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phát</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sinh</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giao</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dịch</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bán</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hàng</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hóa</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cung</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cấp</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dịch</a:t>
            </a:r>
            <a:r>
              <a:rPr lang="en-US" sz="3200" spc="20" dirty="0">
                <a:effectLst/>
                <a:latin typeface="Calibri" panose="020F0502020204030204" pitchFamily="34" charset="0"/>
                <a:ea typeface="Calibri" panose="020F0502020204030204" pitchFamily="34" charset="0"/>
                <a:cs typeface="Calibri" panose="020F0502020204030204" pitchFamily="34" charset="0"/>
              </a:rPr>
              <a:t> </a:t>
            </a:r>
            <a:r>
              <a:rPr lang="en-US" sz="3200" spc="20" dirty="0" err="1">
                <a:effectLst/>
                <a:latin typeface="Calibri" panose="020F0502020204030204" pitchFamily="34" charset="0"/>
                <a:ea typeface="Calibri" panose="020F0502020204030204" pitchFamily="34" charset="0"/>
                <a:cs typeface="Calibri" panose="020F0502020204030204" pitchFamily="34" charset="0"/>
              </a:rPr>
              <a:t>vụ</a:t>
            </a:r>
            <a:r>
              <a:rPr lang="en-US" sz="3200" spc="20" dirty="0">
                <a:effectLst/>
                <a:latin typeface="Calibri" panose="020F0502020204030204" pitchFamily="34" charset="0"/>
                <a:ea typeface="Calibri" panose="020F0502020204030204" pitchFamily="34" charset="0"/>
                <a:cs typeface="Calibri" panose="020F0502020204030204" pitchFamily="34" charset="0"/>
              </a:rPr>
              <a:t>.</a:t>
            </a:r>
            <a:endParaRPr lang="en-US" sz="3200" dirty="0">
              <a:effectLst/>
              <a:latin typeface="Calibri" panose="020F0502020204030204" pitchFamily="34" charset="0"/>
              <a:ea typeface="Calibri" panose="020F0502020204030204" pitchFamily="34" charset="0"/>
              <a:cs typeface="Calibri" panose="020F0502020204030204" pitchFamily="34" charset="0"/>
            </a:endParaRPr>
          </a:p>
          <a:p>
            <a:pPr indent="457200" algn="just">
              <a:lnSpc>
                <a:spcPct val="107000"/>
              </a:lnSpc>
              <a:spcBef>
                <a:spcPts val="600"/>
              </a:spcBef>
              <a:spcAft>
                <a:spcPts val="600"/>
              </a:spcAft>
            </a:pPr>
            <a:r>
              <a:rPr lang="en-US" sz="3200" dirty="0">
                <a:effectLst/>
                <a:latin typeface="Calibri" panose="020F0502020204030204" pitchFamily="34" charset="0"/>
                <a:ea typeface="Calibri" panose="020F0502020204030204" pitchFamily="34" charset="0"/>
                <a:cs typeface="Calibri" panose="020F0502020204030204" pitchFamily="34" charset="0"/>
              </a:rPr>
              <a:t>HKD, CNKD </a:t>
            </a:r>
            <a:r>
              <a:rPr lang="en-US" sz="3200" dirty="0" err="1">
                <a:effectLst/>
                <a:latin typeface="Calibri" panose="020F0502020204030204" pitchFamily="34" charset="0"/>
                <a:ea typeface="Calibri" panose="020F0502020204030204" pitchFamily="34" charset="0"/>
                <a:cs typeface="Calibri" panose="020F0502020204030204" pitchFamily="34" charset="0"/>
              </a:rPr>
              <a:t>mới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ra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kinh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hoặc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tính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GTGT </a:t>
            </a:r>
            <a:r>
              <a:rPr lang="en-US" sz="3200" dirty="0" err="1">
                <a:effectLst/>
                <a:latin typeface="Calibri" panose="020F0502020204030204" pitchFamily="34" charset="0"/>
                <a:ea typeface="Calibri" panose="020F0502020204030204" pitchFamily="34" charset="0"/>
                <a:cs typeface="Calibri" panose="020F0502020204030204" pitchFamily="34" charset="0"/>
              </a:rPr>
              <a:t>năm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trước</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chưa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đến</a:t>
            </a:r>
            <a:r>
              <a:rPr lang="en-US" sz="3200" dirty="0">
                <a:effectLst/>
                <a:latin typeface="Calibri" panose="020F0502020204030204" pitchFamily="34" charset="0"/>
                <a:ea typeface="Calibri" panose="020F0502020204030204" pitchFamily="34" charset="0"/>
                <a:cs typeface="Calibri" panose="020F0502020204030204" pitchFamily="34" charset="0"/>
              </a:rPr>
              <a:t> 01 </a:t>
            </a:r>
            <a:r>
              <a:rPr lang="en-US" sz="3200" dirty="0" err="1">
                <a:effectLst/>
                <a:latin typeface="Calibri" panose="020F0502020204030204" pitchFamily="34" charset="0"/>
                <a:ea typeface="Calibri" panose="020F0502020204030204" pitchFamily="34" charset="0"/>
                <a:cs typeface="Calibri" panose="020F0502020204030204" pitchFamily="34" charset="0"/>
              </a:rPr>
              <a:t>tỷ</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nhưng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trong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năm</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tính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tính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GTGT </a:t>
            </a:r>
            <a:r>
              <a:rPr lang="en-US" sz="3200" dirty="0" err="1">
                <a:effectLst/>
                <a:latin typeface="Calibri" panose="020F0502020204030204" pitchFamily="34" charset="0"/>
                <a:ea typeface="Calibri" panose="020F0502020204030204" pitchFamily="34" charset="0"/>
                <a:cs typeface="Calibri" panose="020F0502020204030204" pitchFamily="34" charset="0"/>
              </a:rPr>
              <a:t>từ</a:t>
            </a:r>
            <a:r>
              <a:rPr lang="en-US" sz="3200" dirty="0">
                <a:effectLst/>
                <a:latin typeface="Calibri" panose="020F0502020204030204" pitchFamily="34" charset="0"/>
                <a:ea typeface="Calibri" panose="020F0502020204030204" pitchFamily="34" charset="0"/>
                <a:cs typeface="Calibri" panose="020F0502020204030204" pitchFamily="34" charset="0"/>
              </a:rPr>
              <a:t> 01 </a:t>
            </a:r>
            <a:r>
              <a:rPr lang="en-US" sz="3200" dirty="0" err="1">
                <a:effectLst/>
                <a:latin typeface="Calibri" panose="020F0502020204030204" pitchFamily="34" charset="0"/>
                <a:ea typeface="Calibri" panose="020F0502020204030204" pitchFamily="34" charset="0"/>
                <a:cs typeface="Calibri" panose="020F0502020204030204" pitchFamily="34" charset="0"/>
              </a:rPr>
              <a:t>tỷ</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trở</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lên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thì</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phải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áp</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dụng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hóa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đơn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điện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đăng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ký</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sử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dụng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hóa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đơn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điện</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tử</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trong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thời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gian</a:t>
            </a:r>
            <a:r>
              <a:rPr lang="en-US" sz="3200" dirty="0">
                <a:effectLst/>
                <a:latin typeface="Calibri" panose="020F0502020204030204" pitchFamily="34" charset="0"/>
                <a:ea typeface="Calibri" panose="020F0502020204030204" pitchFamily="34" charset="0"/>
                <a:cs typeface="Calibri" panose="020F0502020204030204" pitchFamily="34" charset="0"/>
              </a:rPr>
              <a:t> 30 </a:t>
            </a:r>
            <a:r>
              <a:rPr lang="en-US" sz="3200" dirty="0" err="1">
                <a:effectLst/>
                <a:latin typeface="Calibri" panose="020F0502020204030204" pitchFamily="34" charset="0"/>
                <a:ea typeface="Calibri" panose="020F0502020204030204" pitchFamily="34" charset="0"/>
                <a:cs typeface="Calibri" panose="020F0502020204030204" pitchFamily="34" charset="0"/>
              </a:rPr>
              <a:t>ngày</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kể</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từ</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ngày</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cuối</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cùng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của</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tính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có</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doanh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tính</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thuế</a:t>
            </a:r>
            <a:r>
              <a:rPr lang="en-US" sz="3200" dirty="0">
                <a:effectLst/>
                <a:latin typeface="Calibri" panose="020F0502020204030204" pitchFamily="34" charset="0"/>
                <a:ea typeface="Calibri" panose="020F0502020204030204" pitchFamily="34" charset="0"/>
                <a:cs typeface="Calibri" panose="020F0502020204030204" pitchFamily="34" charset="0"/>
              </a:rPr>
              <a:t> GTGT </a:t>
            </a:r>
            <a:r>
              <a:rPr lang="en-US" sz="3200" dirty="0" err="1">
                <a:effectLst/>
                <a:latin typeface="Calibri" panose="020F0502020204030204" pitchFamily="34" charset="0"/>
                <a:ea typeface="Calibri" panose="020F0502020204030204" pitchFamily="34" charset="0"/>
                <a:cs typeface="Calibri" panose="020F0502020204030204" pitchFamily="34" charset="0"/>
              </a:rPr>
              <a:t>lũy</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kế</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từ</a:t>
            </a:r>
            <a:r>
              <a:rPr lang="en-US" sz="3200" dirty="0">
                <a:effectLst/>
                <a:latin typeface="Calibri" panose="020F0502020204030204" pitchFamily="34" charset="0"/>
                <a:ea typeface="Calibri" panose="020F0502020204030204" pitchFamily="34" charset="0"/>
                <a:cs typeface="Calibri" panose="020F0502020204030204" pitchFamily="34" charset="0"/>
              </a:rPr>
              <a:t> 01 </a:t>
            </a:r>
            <a:r>
              <a:rPr lang="en-US" sz="3200" dirty="0" err="1">
                <a:effectLst/>
                <a:latin typeface="Calibri" panose="020F0502020204030204" pitchFamily="34" charset="0"/>
                <a:ea typeface="Calibri" panose="020F0502020204030204" pitchFamily="34" charset="0"/>
                <a:cs typeface="Calibri" panose="020F0502020204030204" pitchFamily="34" charset="0"/>
              </a:rPr>
              <a:t>tỷ</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đồng</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trở</a:t>
            </a:r>
            <a:r>
              <a:rPr lang="en-US" sz="3200" dirty="0">
                <a:effectLst/>
                <a:latin typeface="Calibri" panose="020F0502020204030204" pitchFamily="34" charset="0"/>
                <a:ea typeface="Calibri" panose="020F0502020204030204" pitchFamily="34" charset="0"/>
                <a:cs typeface="Calibri" panose="020F0502020204030204" pitchFamily="34" charset="0"/>
              </a:rPr>
              <a:t> </a:t>
            </a:r>
            <a:r>
              <a:rPr lang="en-US" sz="3200" dirty="0" err="1">
                <a:effectLst/>
                <a:latin typeface="Calibri" panose="020F0502020204030204" pitchFamily="34" charset="0"/>
                <a:ea typeface="Calibri" panose="020F0502020204030204" pitchFamily="34" charset="0"/>
                <a:cs typeface="Calibri" panose="020F0502020204030204" pitchFamily="34" charset="0"/>
              </a:rPr>
              <a:t>lên</a:t>
            </a:r>
            <a:r>
              <a:rPr lang="en-US" sz="3200" dirty="0">
                <a:effectLst/>
                <a:latin typeface="Calibri" panose="020F0502020204030204" pitchFamily="34" charset="0"/>
                <a:ea typeface="Calibri" panose="020F0502020204030204" pitchFamily="34" charset="0"/>
                <a:cs typeface="Calibri" panose="020F0502020204030204" pitchFamily="34" charset="0"/>
              </a:rPr>
              <a:t>.</a:t>
            </a:r>
          </a:p>
          <a:p>
            <a:pPr indent="457200" algn="just">
              <a:lnSpc>
                <a:spcPct val="107000"/>
              </a:lnSpc>
              <a:spcBef>
                <a:spcPts val="600"/>
              </a:spcBef>
              <a:spcAft>
                <a:spcPts val="600"/>
              </a:spcAft>
            </a:pPr>
            <a:r>
              <a:rPr lang="en-US" sz="32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5 Điều 8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Nghị</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4287154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SỬ DỤNG HÓA ĐƠN ĐIỆN TỬ</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indent="457200" algn="just">
              <a:lnSpc>
                <a:spcPct val="150000"/>
              </a:lnSpc>
              <a:spcBef>
                <a:spcPts val="600"/>
              </a:spcBef>
              <a:spcAft>
                <a:spcPts val="600"/>
              </a:spcAft>
            </a:pPr>
            <a:r>
              <a:rPr lang="en-US" sz="3600">
                <a:effectLst/>
                <a:latin typeface="Calibri" panose="020F0502020204030204" pitchFamily="34" charset="0"/>
                <a:ea typeface="Calibri" panose="020F0502020204030204" pitchFamily="34" charset="0"/>
                <a:cs typeface="Calibri" panose="020F0502020204030204" pitchFamily="34" charset="0"/>
              </a:rPr>
              <a:t>Trường hợp HKD, CNKD sử dụng hóa đơn điện tử, Hệ thống thông tin quản lý thuế </a:t>
            </a:r>
            <a:r>
              <a:rPr lang="en-US" sz="3600" b="1" u="sng">
                <a:solidFill>
                  <a:srgbClr val="990033"/>
                </a:solidFill>
                <a:effectLst/>
                <a:latin typeface="Calibri" panose="020F0502020204030204" pitchFamily="34" charset="0"/>
                <a:ea typeface="Calibri" panose="020F0502020204030204" pitchFamily="34" charset="0"/>
                <a:cs typeface="Calibri" panose="020F0502020204030204" pitchFamily="34" charset="0"/>
              </a:rPr>
              <a:t>tự động tạo lập tờ khai thuế để hỗ trợ HKD, CNKD trong việc khai thuế, tính thuế GTGT, thuế TNCN </a:t>
            </a:r>
            <a:r>
              <a:rPr lang="en-US" sz="3600">
                <a:effectLst/>
                <a:latin typeface="Calibri" panose="020F0502020204030204" pitchFamily="34" charset="0"/>
                <a:ea typeface="Calibri" panose="020F0502020204030204" pitchFamily="34" charset="0"/>
                <a:cs typeface="Calibri" panose="020F0502020204030204" pitchFamily="34" charset="0"/>
              </a:rPr>
              <a:t>trên cơ sở dữ liệu hóa đơn điện tử, cơ sở dữ liệu quản lý thuế và các nguồn cơ sở dữ liệu khác mà cơ quan thuế có được từ cơ quan nhà nước khác, tổ chức, cá nhân cung cấp. </a:t>
            </a:r>
            <a:r>
              <a:rPr lang="en-US" sz="3600">
                <a:solidFill>
                  <a:srgbClr val="990033"/>
                </a:solidFill>
                <a:effectLst/>
                <a:latin typeface="Calibri" panose="020F0502020204030204" pitchFamily="34" charset="0"/>
                <a:ea typeface="Calibri" panose="020F0502020204030204" pitchFamily="34" charset="0"/>
                <a:cs typeface="Calibri" panose="020F0502020204030204" pitchFamily="34" charset="0"/>
              </a:rPr>
              <a:t>Việc hỗ trợ của CQT không thay thế trách nhiệm khai thuế và xác định số thuế phải nộp </a:t>
            </a:r>
            <a:r>
              <a:rPr lang="en-US" sz="3600" spc="-20">
                <a:solidFill>
                  <a:srgbClr val="990033"/>
                </a:solidFill>
                <a:effectLst/>
                <a:latin typeface="Calibri" panose="020F0502020204030204" pitchFamily="34" charset="0"/>
                <a:ea typeface="Calibri" panose="020F0502020204030204" pitchFamily="34" charset="0"/>
                <a:cs typeface="Calibri" panose="020F0502020204030204" pitchFamily="34" charset="0"/>
              </a:rPr>
              <a:t>của </a:t>
            </a:r>
            <a:r>
              <a:rPr lang="en-US" sz="3600">
                <a:solidFill>
                  <a:srgbClr val="990033"/>
                </a:solidFill>
                <a:effectLst/>
                <a:latin typeface="Calibri" panose="020F0502020204030204" pitchFamily="34" charset="0"/>
                <a:ea typeface="Calibri" panose="020F0502020204030204" pitchFamily="34" charset="0"/>
                <a:cs typeface="Calibri" panose="020F0502020204030204" pitchFamily="34" charset="0"/>
              </a:rPr>
              <a:t>HKD, CNKD</a:t>
            </a:r>
            <a:r>
              <a:rPr lang="en-US" sz="3600" spc="-2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a:solidFill>
                  <a:srgbClr val="990033"/>
                </a:solidFill>
                <a:effectLst/>
                <a:latin typeface="Calibri" panose="020F0502020204030204" pitchFamily="34" charset="0"/>
                <a:ea typeface="Calibri" panose="020F0502020204030204" pitchFamily="34" charset="0"/>
                <a:cs typeface="Calibri" panose="020F0502020204030204" pitchFamily="34" charset="0"/>
              </a:rPr>
              <a:t>HKD</a:t>
            </a:r>
            <a:r>
              <a:rPr lang="en-US" sz="3600">
                <a:effectLst/>
                <a:latin typeface="Calibri" panose="020F0502020204030204" pitchFamily="34" charset="0"/>
                <a:ea typeface="Calibri" panose="020F0502020204030204" pitchFamily="34" charset="0"/>
                <a:cs typeface="Calibri" panose="020F0502020204030204" pitchFamily="34" charset="0"/>
              </a:rPr>
              <a:t>, CNKD </a:t>
            </a:r>
            <a:r>
              <a:rPr lang="en-US" sz="3600" spc="-20">
                <a:effectLst/>
                <a:latin typeface="Calibri" panose="020F0502020204030204" pitchFamily="34" charset="0"/>
                <a:ea typeface="Calibri" panose="020F0502020204030204" pitchFamily="34" charset="0"/>
                <a:cs typeface="Calibri" panose="020F0502020204030204" pitchFamily="34" charset="0"/>
              </a:rPr>
              <a:t>chịu trách nhiệm trước pháp luật về tính trung thực, chính xác của hồ sơ khai thuế.</a:t>
            </a:r>
            <a:endParaRPr lang="en-US" sz="3200">
              <a:effectLst/>
              <a:latin typeface="Calibri" panose="020F0502020204030204" pitchFamily="34" charset="0"/>
              <a:ea typeface="Calibri" panose="020F0502020204030204" pitchFamily="34" charset="0"/>
              <a:cs typeface="Calibri" panose="020F0502020204030204" pitchFamily="34" charset="0"/>
            </a:endParaRPr>
          </a:p>
          <a:p>
            <a:pPr indent="457200" algn="just">
              <a:lnSpc>
                <a:spcPct val="107000"/>
              </a:lnSpc>
              <a:spcBef>
                <a:spcPts val="600"/>
              </a:spcBef>
              <a:spcAft>
                <a:spcPts val="600"/>
              </a:spcAft>
            </a:pPr>
            <a:r>
              <a:rPr lang="en-US" sz="320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200" i="1">
                <a:solidFill>
                  <a:srgbClr val="990033"/>
                </a:solidFill>
                <a:latin typeface="Calibri" panose="020F0502020204030204" pitchFamily="34" charset="0"/>
                <a:ea typeface="Calibri" panose="020F0502020204030204" pitchFamily="34" charset="0"/>
                <a:cs typeface="Calibri" panose="020F0502020204030204" pitchFamily="34" charset="0"/>
              </a:rPr>
              <a:t>Đ</a:t>
            </a:r>
            <a:r>
              <a:rPr lang="en-US" sz="3200" i="1">
                <a:solidFill>
                  <a:srgbClr val="990033"/>
                </a:solidFill>
                <a:effectLst/>
                <a:latin typeface="Calibri" panose="020F0502020204030204" pitchFamily="34" charset="0"/>
                <a:ea typeface="Calibri" panose="020F0502020204030204" pitchFamily="34" charset="0"/>
                <a:cs typeface="Calibri" panose="020F0502020204030204" pitchFamily="34" charset="0"/>
              </a:rPr>
              <a:t>ểm b khoản 1 Điều 8 Nghị định</a:t>
            </a:r>
            <a:r>
              <a:rPr lang="en-US" sz="320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3232826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XỬ LÝ TIỀN THUẾ, TIỀN CHẬM NỘP, TIỀN PHẠT NỘP THỪA</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marL="1085850" indent="-571500" algn="just">
              <a:lnSpc>
                <a:spcPct val="107000"/>
              </a:lnSpc>
              <a:spcBef>
                <a:spcPts val="600"/>
              </a:spcBef>
              <a:spcAft>
                <a:spcPts val="600"/>
              </a:spcAft>
              <a:buFont typeface="Wingdings" panose="05000000000000000000" pitchFamily="2" charset="2"/>
              <a:buChar char="q"/>
            </a:pPr>
            <a:r>
              <a:rPr lang="en-US" sz="3600" b="1" i="1" dirty="0" err="1">
                <a:effectLst/>
                <a:latin typeface="Calibri" panose="020F0502020204030204" pitchFamily="34" charset="0"/>
                <a:ea typeface="Calibri" panose="020F0502020204030204" pitchFamily="34" charset="0"/>
                <a:cs typeface="Calibri" panose="020F0502020204030204" pitchFamily="34" charset="0"/>
              </a:rPr>
              <a:t>Các</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trường</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hợp</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được</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bù</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trừ</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hoàn</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trả</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hoàn</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trả</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kiêm</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bù</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trừ</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thu</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ngân</a:t>
            </a:r>
            <a:r>
              <a:rPr lang="en-US" sz="3600" b="1" i="1" dirty="0">
                <a:effectLst/>
                <a:latin typeface="Calibri" panose="020F0502020204030204" pitchFamily="34" charset="0"/>
                <a:ea typeface="Calibri" panose="020F0502020204030204" pitchFamily="34" charset="0"/>
                <a:cs typeface="Calibri" panose="020F0502020204030204" pitchFamily="34" charset="0"/>
              </a:rPr>
              <a:t> </a:t>
            </a:r>
            <a:r>
              <a:rPr lang="en-US" sz="3600" b="1" i="1" dirty="0" err="1">
                <a:effectLst/>
                <a:latin typeface="Calibri" panose="020F0502020204030204" pitchFamily="34" charset="0"/>
                <a:ea typeface="Calibri" panose="020F0502020204030204" pitchFamily="34" charset="0"/>
                <a:cs typeface="Calibri" panose="020F0502020204030204" pitchFamily="34" charset="0"/>
              </a:rPr>
              <a:t>sách</a:t>
            </a:r>
            <a:endParaRPr lang="en-US" sz="3600" dirty="0">
              <a:effectLst/>
              <a:latin typeface="Calibri" panose="020F0502020204030204" pitchFamily="34" charset="0"/>
              <a:ea typeface="Calibri" panose="020F0502020204030204" pitchFamily="34" charset="0"/>
              <a:cs typeface="Calibri" panose="020F0502020204030204" pitchFamily="34" charset="0"/>
            </a:endParaRPr>
          </a:p>
          <a:p>
            <a:pPr marL="1085850" indent="-571500" algn="just">
              <a:lnSpc>
                <a:spcPct val="107000"/>
              </a:lnSpc>
              <a:spcBef>
                <a:spcPts val="600"/>
              </a:spcBef>
              <a:spcAft>
                <a:spcPts val="600"/>
              </a:spcAft>
              <a:buFont typeface="Wingdings" panose="05000000000000000000" pitchFamily="2" charset="2"/>
              <a:buChar char="ü"/>
            </a:pPr>
            <a:r>
              <a:rPr lang="en-US" sz="3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HKD, CNKD </a:t>
            </a:r>
            <a:r>
              <a:rPr lang="en-US" sz="3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chủ</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quản</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nền</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tảng</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TMĐT,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nền</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tảng</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số</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khác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trong</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nước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hoặc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nước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ngoài</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có</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chức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năng</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đặt</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hàng</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trực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tuyến</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và</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chức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năng</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thanh</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toán</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hoặc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tổ</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chức</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cá</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nhân</a:t>
            </a:r>
            <a:r>
              <a:rPr lang="en-US" sz="3600" b="1" u="sng"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b="1" u="sng"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khác</a:t>
            </a:r>
            <a:r>
              <a:rPr lang="en-US" sz="3600" b="1" u="sng"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hiện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khấu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GTGT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giao</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dịch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trong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nhưng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a:solidFill>
                  <a:srgbClr val="002060"/>
                </a:solidFill>
                <a:latin typeface="Calibri" panose="020F0502020204030204" pitchFamily="34" charset="0"/>
                <a:ea typeface="Calibri" panose="020F0502020204030204" pitchFamily="34" charset="0"/>
                <a:cs typeface="Calibri" panose="020F0502020204030204" pitchFamily="34" charset="0"/>
              </a:rPr>
              <a:t>1 tỷ</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trở</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xuống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p>
          <a:p>
            <a:pPr marL="1085850" indent="-571500" algn="just">
              <a:lnSpc>
                <a:spcPct val="107000"/>
              </a:lnSpc>
              <a:spcBef>
                <a:spcPts val="600"/>
              </a:spcBef>
              <a:spcAft>
                <a:spcPts val="600"/>
              </a:spcAft>
              <a:buFont typeface="Wingdings" panose="05000000000000000000" pitchFamily="2" charset="2"/>
              <a:buChar char="ü"/>
            </a:pP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GTGT,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TNCN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với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nhưng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doanh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thực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sinh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của</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năm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từ</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a:solidFill>
                  <a:srgbClr val="002060"/>
                </a:solidFill>
                <a:latin typeface="Calibri" panose="020F0502020204030204" pitchFamily="34" charset="0"/>
                <a:ea typeface="Calibri" panose="020F0502020204030204" pitchFamily="34" charset="0"/>
                <a:cs typeface="Calibri" panose="020F0502020204030204" pitchFamily="34" charset="0"/>
              </a:rPr>
              <a:t>1 tỷ </a:t>
            </a:r>
            <a:r>
              <a:rPr lang="en-US" sz="3600">
                <a:solidFill>
                  <a:srgbClr val="002060"/>
                </a:solidFill>
                <a:effectLst/>
                <a:latin typeface="Calibri" panose="020F0502020204030204" pitchFamily="34" charset="0"/>
                <a:ea typeface="Calibri" panose="020F0502020204030204" pitchFamily="34" charset="0"/>
                <a:cs typeface="Calibri" panose="020F0502020204030204" pitchFamily="34" charset="0"/>
              </a:rPr>
              <a:t>đồng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trở</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xuống</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marL="1085850" indent="-571500" algn="just">
              <a:lnSpc>
                <a:spcPct val="107000"/>
              </a:lnSpc>
              <a:spcBef>
                <a:spcPts val="600"/>
              </a:spcBef>
              <a:spcAft>
                <a:spcPts val="600"/>
              </a:spcAft>
              <a:buFont typeface="Wingdings" panose="05000000000000000000" pitchFamily="2" charset="2"/>
              <a:buChar char="ü"/>
            </a:pP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chậm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hoặc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được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tổ</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chức</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đã</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khấu</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trừ</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thay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lớn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hơn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chậm</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tiền</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phạt</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phải</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nộp</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p>
          <a:p>
            <a:pPr indent="457200" algn="just">
              <a:lnSpc>
                <a:spcPct val="107000"/>
              </a:lnSpc>
              <a:spcBef>
                <a:spcPts val="600"/>
              </a:spcBef>
              <a:spcAft>
                <a:spcPts val="600"/>
              </a:spcAft>
            </a:pPr>
            <a:r>
              <a:rPr lang="en-US" sz="36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6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1, 2, 3 Điều 12 </a:t>
            </a:r>
            <a:r>
              <a:rPr lang="en-US" sz="36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Nghị</a:t>
            </a:r>
            <a:r>
              <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định</a:t>
            </a:r>
            <a:r>
              <a:rPr lang="en-US" sz="36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2928952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rPr>
              <a:t>XỬ LÝ TIỀN THUẾ, TIỀN CHẬM NỘP, TIỀN PHẠT NỘP THỪA</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marL="971550" indent="-457200" algn="just">
              <a:lnSpc>
                <a:spcPct val="107000"/>
              </a:lnSpc>
              <a:spcBef>
                <a:spcPts val="600"/>
              </a:spcBef>
              <a:spcAft>
                <a:spcPts val="600"/>
              </a:spcAft>
              <a:buFont typeface="Wingdings" panose="05000000000000000000" pitchFamily="2" charset="2"/>
              <a:buChar char="q"/>
            </a:pPr>
            <a:r>
              <a:rPr lang="en-US" sz="3400" b="1" i="1" dirty="0">
                <a:effectLst/>
                <a:latin typeface="Calibri" panose="020F0502020204030204" pitchFamily="34" charset="0"/>
                <a:ea typeface="Calibri" panose="020F0502020204030204" pitchFamily="34" charset="0"/>
                <a:cs typeface="Calibri" panose="020F0502020204030204" pitchFamily="34" charset="0"/>
              </a:rPr>
              <a:t>Hồ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sơ</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đề</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nghị</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hoàn</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nộp</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thừa</a:t>
            </a:r>
            <a:endParaRPr lang="en-US" sz="3400" dirty="0">
              <a:effectLst/>
              <a:latin typeface="Calibri" panose="020F0502020204030204" pitchFamily="34" charset="0"/>
              <a:ea typeface="Calibri" panose="020F0502020204030204" pitchFamily="34" charset="0"/>
              <a:cs typeface="Calibri" panose="020F0502020204030204" pitchFamily="34" charset="0"/>
            </a:endParaRPr>
          </a:p>
          <a:p>
            <a:pPr marL="971550" indent="-457200" algn="just">
              <a:lnSpc>
                <a:spcPct val="122000"/>
              </a:lnSpc>
              <a:spcBef>
                <a:spcPts val="600"/>
              </a:spcBef>
              <a:spcAft>
                <a:spcPts val="600"/>
              </a:spcAft>
              <a:buFont typeface="Wingdings" panose="05000000000000000000" pitchFamily="2" charset="2"/>
              <a:buChar char="ü"/>
            </a:pPr>
            <a:r>
              <a:rPr lang="en-US" sz="3400" dirty="0" err="1">
                <a:latin typeface="Calibri" panose="020F0502020204030204" pitchFamily="34" charset="0"/>
                <a:ea typeface="Calibri" panose="020F0502020204030204" pitchFamily="34" charset="0"/>
                <a:cs typeface="Calibri" panose="020F0502020204030204" pitchFamily="34" charset="0"/>
              </a:rPr>
              <a:t>Đối</a:t>
            </a:r>
            <a:r>
              <a:rPr lang="en-US" sz="3400" dirty="0">
                <a:latin typeface="Calibri" panose="020F0502020204030204" pitchFamily="34" charset="0"/>
                <a:ea typeface="Calibri" panose="020F0502020204030204" pitchFamily="34" charset="0"/>
                <a:cs typeface="Calibri" panose="020F0502020204030204" pitchFamily="34" charset="0"/>
              </a:rPr>
              <a:t> </a:t>
            </a:r>
            <a:r>
              <a:rPr lang="nl-NL" sz="3400" dirty="0">
                <a:effectLst/>
                <a:latin typeface="Calibri" panose="020F0502020204030204" pitchFamily="34" charset="0"/>
                <a:ea typeface="Calibri" panose="020F0502020204030204" pitchFamily="34" charset="0"/>
                <a:cs typeface="Calibri" panose="020F0502020204030204" pitchFamily="34" charset="0"/>
              </a:rPr>
              <a:t>với </a:t>
            </a:r>
            <a:r>
              <a:rPr lang="en-US" sz="3400" dirty="0">
                <a:effectLst/>
                <a:latin typeface="Calibri" panose="020F0502020204030204" pitchFamily="34" charset="0"/>
                <a:ea typeface="Calibri" panose="020F0502020204030204" pitchFamily="34" charset="0"/>
                <a:cs typeface="Calibri" panose="020F0502020204030204" pitchFamily="34" charset="0"/>
              </a:rPr>
              <a:t>HKD, CNKDK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TNCN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phương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pháp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suất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nhân</a:t>
            </a:r>
            <a:r>
              <a:rPr lang="en-US" sz="3400" dirty="0">
                <a:effectLst/>
                <a:latin typeface="Calibri" panose="020F0502020204030204" pitchFamily="34" charset="0"/>
                <a:ea typeface="Calibri" panose="020F0502020204030204" pitchFamily="34" charset="0"/>
                <a:cs typeface="Calibri" panose="020F0502020204030204" pitchFamily="34" charset="0"/>
              </a:rPr>
              <a:t> (x) </a:t>
            </a:r>
            <a:r>
              <a:rPr lang="en-US" sz="3400" dirty="0" err="1">
                <a:effectLst/>
                <a:latin typeface="Calibri" panose="020F0502020204030204" pitchFamily="34" charset="0"/>
                <a:ea typeface="Calibri" panose="020F0502020204030204" pitchFamily="34" charset="0"/>
                <a:cs typeface="Calibri" panose="020F0502020204030204" pitchFamily="34" charset="0"/>
              </a:rPr>
              <a:t>với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doanh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tính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là</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Tờ</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Mẫu </a:t>
            </a:r>
            <a:r>
              <a:rPr lang="en-US" sz="3400" dirty="0" err="1">
                <a:effectLst/>
                <a:latin typeface="Calibri" panose="020F0502020204030204" pitchFamily="34" charset="0"/>
                <a:ea typeface="Calibri" panose="020F0502020204030204" pitchFamily="34" charset="0"/>
                <a:cs typeface="Calibri" panose="020F0502020204030204" pitchFamily="34" charset="0"/>
              </a:rPr>
              <a:t>số</a:t>
            </a:r>
            <a:r>
              <a:rPr lang="en-US" sz="3400" dirty="0">
                <a:effectLst/>
                <a:latin typeface="Calibri" panose="020F0502020204030204" pitchFamily="34" charset="0"/>
                <a:ea typeface="Calibri" panose="020F0502020204030204" pitchFamily="34" charset="0"/>
                <a:cs typeface="Calibri" panose="020F0502020204030204" pitchFamily="34" charset="0"/>
              </a:rPr>
              <a:t> 01/TKN-CNKD.</a:t>
            </a:r>
          </a:p>
          <a:p>
            <a:pPr marL="971550" indent="-457200" algn="just">
              <a:lnSpc>
                <a:spcPct val="122000"/>
              </a:lnSpc>
              <a:spcBef>
                <a:spcPts val="600"/>
              </a:spcBef>
              <a:spcAft>
                <a:spcPts val="600"/>
              </a:spcAft>
              <a:buFont typeface="Wingdings" panose="05000000000000000000" pitchFamily="2" charset="2"/>
              <a:buChar char="ü"/>
            </a:pPr>
            <a:r>
              <a:rPr lang="en-US" sz="3400" dirty="0" err="1">
                <a:latin typeface="Calibri" panose="020F0502020204030204" pitchFamily="34" charset="0"/>
                <a:ea typeface="Calibri" panose="020F0502020204030204" pitchFamily="34" charset="0"/>
                <a:cs typeface="Calibri" panose="020F0502020204030204" pitchFamily="34" charset="0"/>
              </a:rPr>
              <a:t>Đ</a:t>
            </a:r>
            <a:r>
              <a:rPr lang="en-US" sz="3400" dirty="0" err="1">
                <a:effectLst/>
                <a:latin typeface="Calibri" panose="020F0502020204030204" pitchFamily="34" charset="0"/>
                <a:ea typeface="Calibri" panose="020F0502020204030204" pitchFamily="34" charset="0"/>
                <a:cs typeface="Calibri" panose="020F0502020204030204" pitchFamily="34" charset="0"/>
              </a:rPr>
              <a:t>ối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với</a:t>
            </a:r>
            <a:r>
              <a:rPr lang="en-US" sz="3400" dirty="0">
                <a:effectLst/>
                <a:latin typeface="Calibri" panose="020F0502020204030204" pitchFamily="34" charset="0"/>
                <a:ea typeface="Calibri" panose="020F0502020204030204" pitchFamily="34" charset="0"/>
                <a:cs typeface="Calibri" panose="020F0502020204030204" pitchFamily="34" charset="0"/>
              </a:rPr>
              <a:t> HKD, CNKDK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TNCN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phương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pháp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nhập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tính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nhân</a:t>
            </a:r>
            <a:r>
              <a:rPr lang="en-US" sz="3400" dirty="0">
                <a:effectLst/>
                <a:latin typeface="Calibri" panose="020F0502020204030204" pitchFamily="34" charset="0"/>
                <a:ea typeface="Calibri" panose="020F0502020204030204" pitchFamily="34" charset="0"/>
                <a:cs typeface="Calibri" panose="020F0502020204030204" pitchFamily="34" charset="0"/>
              </a:rPr>
              <a:t> (x) </a:t>
            </a:r>
            <a:r>
              <a:rPr lang="en-US" sz="3400" dirty="0" err="1">
                <a:effectLst/>
                <a:latin typeface="Calibri" panose="020F0502020204030204" pitchFamily="34" charset="0"/>
                <a:ea typeface="Calibri" panose="020F0502020204030204" pitchFamily="34" charset="0"/>
                <a:cs typeface="Calibri" panose="020F0502020204030204" pitchFamily="34" charset="0"/>
              </a:rPr>
              <a:t>với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suất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là</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Tờ</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theo</a:t>
            </a:r>
            <a:r>
              <a:rPr lang="en-US" sz="3400" dirty="0">
                <a:effectLst/>
                <a:latin typeface="Calibri" panose="020F0502020204030204" pitchFamily="34" charset="0"/>
                <a:ea typeface="Calibri" panose="020F0502020204030204" pitchFamily="34" charset="0"/>
                <a:cs typeface="Calibri" panose="020F0502020204030204" pitchFamily="34" charset="0"/>
              </a:rPr>
              <a:t> Mẫu </a:t>
            </a:r>
            <a:r>
              <a:rPr lang="en-US" sz="3400" dirty="0" err="1">
                <a:effectLst/>
                <a:latin typeface="Calibri" panose="020F0502020204030204" pitchFamily="34" charset="0"/>
                <a:ea typeface="Calibri" panose="020F0502020204030204" pitchFamily="34" charset="0"/>
                <a:cs typeface="Calibri" panose="020F0502020204030204" pitchFamily="34" charset="0"/>
              </a:rPr>
              <a:t>số</a:t>
            </a:r>
            <a:r>
              <a:rPr lang="en-US" sz="3400" dirty="0">
                <a:effectLst/>
                <a:latin typeface="Calibri" panose="020F0502020204030204" pitchFamily="34" charset="0"/>
                <a:ea typeface="Calibri" panose="020F0502020204030204" pitchFamily="34" charset="0"/>
                <a:cs typeface="Calibri" panose="020F0502020204030204" pitchFamily="34" charset="0"/>
              </a:rPr>
              <a:t> 02/QTT-TNCN-CNKD.</a:t>
            </a:r>
          </a:p>
          <a:p>
            <a:pPr indent="457200" algn="just">
              <a:lnSpc>
                <a:spcPct val="107000"/>
              </a:lnSpc>
              <a:spcBef>
                <a:spcPts val="600"/>
              </a:spcBef>
              <a:spcAft>
                <a:spcPts val="600"/>
              </a:spcAft>
            </a:pP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4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Tại</a:t>
            </a: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Điều 5 </a:t>
            </a:r>
            <a:r>
              <a:rPr lang="en-US" sz="34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Thông</a:t>
            </a: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tư</a:t>
            </a: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971550" indent="-457200" algn="just">
              <a:lnSpc>
                <a:spcPct val="107000"/>
              </a:lnSpc>
              <a:spcBef>
                <a:spcPts val="600"/>
              </a:spcBef>
              <a:spcAft>
                <a:spcPts val="600"/>
              </a:spcAft>
              <a:buFont typeface="Wingdings" panose="05000000000000000000" pitchFamily="2" charset="2"/>
              <a:buChar char="q"/>
            </a:pPr>
            <a:r>
              <a:rPr lang="en-US" sz="3400" b="1" i="1" dirty="0" err="1">
                <a:effectLst/>
                <a:latin typeface="Calibri" panose="020F0502020204030204" pitchFamily="34" charset="0"/>
                <a:ea typeface="Calibri" panose="020F0502020204030204" pitchFamily="34" charset="0"/>
                <a:cs typeface="Calibri" panose="020F0502020204030204" pitchFamily="34" charset="0"/>
              </a:rPr>
              <a:t>Nơi</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nộp</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hồ</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sơ</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hoàn</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b="1" i="1"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b="1" i="1"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Là</a:t>
            </a:r>
            <a:r>
              <a:rPr lang="en-US" sz="3400" dirty="0">
                <a:effectLst/>
                <a:latin typeface="Calibri" panose="020F0502020204030204" pitchFamily="34" charset="0"/>
                <a:ea typeface="Calibri" panose="020F0502020204030204" pitchFamily="34" charset="0"/>
                <a:cs typeface="Calibri" panose="020F0502020204030204" pitchFamily="34" charset="0"/>
              </a:rPr>
              <a:t> CQT </a:t>
            </a:r>
            <a:r>
              <a:rPr lang="en-US" sz="3400" dirty="0" err="1">
                <a:effectLst/>
                <a:latin typeface="Calibri" panose="020F0502020204030204" pitchFamily="34" charset="0"/>
                <a:ea typeface="Calibri" panose="020F0502020204030204" pitchFamily="34" charset="0"/>
                <a:cs typeface="Calibri" panose="020F0502020204030204" pitchFamily="34" charset="0"/>
              </a:rPr>
              <a:t>nơi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hồ</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sơ</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p>
          <a:p>
            <a:pPr indent="0" algn="just">
              <a:lnSpc>
                <a:spcPct val="107000"/>
              </a:lnSpc>
              <a:spcBef>
                <a:spcPts val="600"/>
              </a:spcBef>
              <a:spcAft>
                <a:spcPts val="600"/>
              </a:spcAft>
            </a:pPr>
            <a:r>
              <a:rPr lang="en-US" sz="3400" dirty="0">
                <a:effectLst/>
                <a:latin typeface="Calibri" panose="020F0502020204030204" pitchFamily="34" charset="0"/>
                <a:ea typeface="Calibri" panose="020F0502020204030204" pitchFamily="34" charset="0"/>
                <a:cs typeface="Calibri" panose="020F0502020204030204" pitchFamily="34" charset="0"/>
              </a:rPr>
              <a:t>Trường </a:t>
            </a:r>
            <a:r>
              <a:rPr lang="en-US" sz="3400" dirty="0" err="1">
                <a:effectLst/>
                <a:latin typeface="Calibri" panose="020F0502020204030204" pitchFamily="34" charset="0"/>
                <a:ea typeface="Calibri" panose="020F0502020204030204" pitchFamily="34" charset="0"/>
                <a:cs typeface="Calibri" panose="020F0502020204030204" pitchFamily="34" charset="0"/>
              </a:rPr>
              <a:t>hợp</a:t>
            </a:r>
            <a:r>
              <a:rPr lang="en-US" sz="3400" dirty="0">
                <a:effectLst/>
                <a:latin typeface="Calibri" panose="020F0502020204030204" pitchFamily="34" charset="0"/>
                <a:ea typeface="Calibri" panose="020F0502020204030204" pitchFamily="34" charset="0"/>
                <a:cs typeface="Calibri" panose="020F0502020204030204" pitchFamily="34" charset="0"/>
              </a:rPr>
              <a:t> HKD, CNKD </a:t>
            </a:r>
            <a:r>
              <a:rPr lang="en-US" sz="3400" dirty="0" err="1">
                <a:effectLst/>
                <a:latin typeface="Calibri" panose="020F0502020204030204" pitchFamily="34" charset="0"/>
                <a:ea typeface="Calibri" panose="020F0502020204030204" pitchFamily="34" charset="0"/>
                <a:cs typeface="Calibri" panose="020F0502020204030204" pitchFamily="34" charset="0"/>
              </a:rPr>
              <a:t>chỉ</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có</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hoạt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động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kinh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doanh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trên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nền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tảng</a:t>
            </a:r>
            <a:r>
              <a:rPr lang="en-US" sz="3400" dirty="0">
                <a:effectLst/>
                <a:latin typeface="Calibri" panose="020F0502020204030204" pitchFamily="34" charset="0"/>
                <a:ea typeface="Calibri" panose="020F0502020204030204" pitchFamily="34" charset="0"/>
                <a:cs typeface="Calibri" panose="020F0502020204030204" pitchFamily="34" charset="0"/>
              </a:rPr>
              <a:t> TMĐT, </a:t>
            </a:r>
            <a:r>
              <a:rPr lang="en-US" sz="3400" dirty="0" err="1">
                <a:effectLst/>
                <a:latin typeface="Calibri" panose="020F0502020204030204" pitchFamily="34" charset="0"/>
                <a:ea typeface="Calibri" panose="020F0502020204030204" pitchFamily="34" charset="0"/>
                <a:cs typeface="Calibri" panose="020F0502020204030204" pitchFamily="34" charset="0"/>
              </a:rPr>
              <a:t>nền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tảng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số</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đã</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được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chủ</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quản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nền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tảng</a:t>
            </a:r>
            <a:r>
              <a:rPr lang="en-US" sz="3400" dirty="0">
                <a:effectLst/>
                <a:latin typeface="Calibri" panose="020F0502020204030204" pitchFamily="34" charset="0"/>
                <a:ea typeface="Calibri" panose="020F0502020204030204" pitchFamily="34" charset="0"/>
                <a:cs typeface="Calibri" panose="020F0502020204030204" pitchFamily="34" charset="0"/>
              </a:rPr>
              <a:t> TMĐT, </a:t>
            </a:r>
            <a:r>
              <a:rPr lang="en-US" sz="3400" dirty="0" err="1">
                <a:effectLst/>
                <a:latin typeface="Calibri" panose="020F0502020204030204" pitchFamily="34" charset="0"/>
                <a:ea typeface="Calibri" panose="020F0502020204030204" pitchFamily="34" charset="0"/>
                <a:cs typeface="Calibri" panose="020F0502020204030204" pitchFamily="34" charset="0"/>
              </a:rPr>
              <a:t>nền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tảng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số</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thực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hiện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khấu</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trừ</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thay</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hoặc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chỉ</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có</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hoạt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động</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kinh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doanh</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khác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đã</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được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tổ</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chức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khác</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khấu</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trừ</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khai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thay</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nộp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thay</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thì</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cơ</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quan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tiếp</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nhận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và</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giải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quyết</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hồ</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sơ</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hoàn</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thuế</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là</a:t>
            </a:r>
            <a:r>
              <a:rPr lang="en-US" sz="3400" dirty="0">
                <a:effectLst/>
                <a:latin typeface="Calibri" panose="020F0502020204030204" pitchFamily="34" charset="0"/>
                <a:ea typeface="Calibri" panose="020F0502020204030204" pitchFamily="34" charset="0"/>
                <a:cs typeface="Calibri" panose="020F0502020204030204" pitchFamily="34" charset="0"/>
              </a:rPr>
              <a:t> CQT </a:t>
            </a:r>
            <a:r>
              <a:rPr lang="en-US" sz="3400" dirty="0" err="1">
                <a:effectLst/>
                <a:latin typeface="Calibri" panose="020F0502020204030204" pitchFamily="34" charset="0"/>
                <a:ea typeface="Calibri" panose="020F0502020204030204" pitchFamily="34" charset="0"/>
                <a:cs typeface="Calibri" panose="020F0502020204030204" pitchFamily="34" charset="0"/>
              </a:rPr>
              <a:t>quản</a:t>
            </a:r>
            <a:r>
              <a:rPr lang="en-US" sz="3400" dirty="0">
                <a:effectLst/>
                <a:latin typeface="Calibri" panose="020F0502020204030204" pitchFamily="34" charset="0"/>
                <a:ea typeface="Calibri" panose="020F0502020204030204" pitchFamily="34" charset="0"/>
                <a:cs typeface="Calibri" panose="020F0502020204030204" pitchFamily="34" charset="0"/>
              </a:rPr>
              <a:t> lý </a:t>
            </a:r>
            <a:r>
              <a:rPr lang="en-US" sz="3400" dirty="0" err="1">
                <a:effectLst/>
                <a:latin typeface="Calibri" panose="020F0502020204030204" pitchFamily="34" charset="0"/>
                <a:ea typeface="Calibri" panose="020F0502020204030204" pitchFamily="34" charset="0"/>
                <a:cs typeface="Calibri" panose="020F0502020204030204" pitchFamily="34" charset="0"/>
              </a:rPr>
              <a:t>nơi</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chủ</a:t>
            </a:r>
            <a:r>
              <a:rPr lang="en-US" sz="3400" dirty="0">
                <a:effectLst/>
                <a:latin typeface="Calibri" panose="020F0502020204030204" pitchFamily="34" charset="0"/>
                <a:ea typeface="Calibri" panose="020F0502020204030204" pitchFamily="34" charset="0"/>
                <a:cs typeface="Calibri" panose="020F0502020204030204" pitchFamily="34" charset="0"/>
              </a:rPr>
              <a:t> HKD, CNKD </a:t>
            </a:r>
            <a:r>
              <a:rPr lang="en-US" sz="3400" dirty="0" err="1">
                <a:effectLst/>
                <a:latin typeface="Calibri" panose="020F0502020204030204" pitchFamily="34" charset="0"/>
                <a:ea typeface="Calibri" panose="020F0502020204030204" pitchFamily="34" charset="0"/>
                <a:cs typeface="Calibri" panose="020F0502020204030204" pitchFamily="34" charset="0"/>
              </a:rPr>
              <a:t>cư</a:t>
            </a:r>
            <a:r>
              <a:rPr lang="en-US" sz="3400" dirty="0">
                <a:effectLst/>
                <a:latin typeface="Calibri" panose="020F0502020204030204" pitchFamily="34" charset="0"/>
                <a:ea typeface="Calibri" panose="020F0502020204030204" pitchFamily="34" charset="0"/>
                <a:cs typeface="Calibri" panose="020F0502020204030204" pitchFamily="34" charset="0"/>
              </a:rPr>
              <a:t> </a:t>
            </a:r>
            <a:r>
              <a:rPr lang="en-US" sz="3400" dirty="0" err="1">
                <a:effectLst/>
                <a:latin typeface="Calibri" panose="020F0502020204030204" pitchFamily="34" charset="0"/>
                <a:ea typeface="Calibri" panose="020F0502020204030204" pitchFamily="34" charset="0"/>
                <a:cs typeface="Calibri" panose="020F0502020204030204" pitchFamily="34" charset="0"/>
              </a:rPr>
              <a:t>trú</a:t>
            </a:r>
            <a:r>
              <a:rPr lang="en-US" sz="3400" dirty="0">
                <a:effectLst/>
                <a:latin typeface="Calibri" panose="020F0502020204030204" pitchFamily="34" charset="0"/>
                <a:ea typeface="Calibri" panose="020F0502020204030204" pitchFamily="34" charset="0"/>
                <a:cs typeface="Calibri" panose="020F0502020204030204" pitchFamily="34" charset="0"/>
              </a:rPr>
              <a:t>.</a:t>
            </a:r>
          </a:p>
          <a:p>
            <a:pPr indent="457200" algn="just">
              <a:lnSpc>
                <a:spcPct val="107000"/>
              </a:lnSpc>
              <a:spcBef>
                <a:spcPts val="600"/>
              </a:spcBef>
              <a:spcAft>
                <a:spcPts val="600"/>
              </a:spcAft>
            </a:pP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4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4 Điều 12 </a:t>
            </a:r>
            <a:r>
              <a:rPr lang="en-US" sz="34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Nghị</a:t>
            </a: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4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định</a:t>
            </a:r>
            <a:r>
              <a:rPr lang="en-US" sz="34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110816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effectLst/>
                <a:latin typeface="Arial Bold" panose="020B0704020202020204" pitchFamily="34" charset="0"/>
                <a:ea typeface="Calibri" panose="020F0502020204030204" pitchFamily="34" charset="0"/>
                <a:cs typeface="Arial Bold" panose="020B0704020202020204" pitchFamily="34" charset="0"/>
              </a:rPr>
              <a:t>QUYỀN VÀ TRÁCH NHIỆM CỦA HKD, CNKD</a:t>
            </a:r>
            <a:endParaRPr lang="en-US" sz="4000" b="1" dirty="0">
              <a:solidFill>
                <a:srgbClr val="990033"/>
              </a:solidFill>
              <a:latin typeface="Arial Bold" panose="020B0704020202020204" pitchFamily="34" charset="0"/>
              <a:ea typeface="Calibri" panose="020F050202020403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457200" y="1714501"/>
            <a:ext cx="17526000" cy="8458199"/>
          </a:xfrm>
        </p:spPr>
        <p:txBody>
          <a:bodyPr/>
          <a:lstStyle/>
          <a:p>
            <a:pPr algn="just">
              <a:lnSpc>
                <a:spcPct val="107000"/>
              </a:lnSpc>
              <a:spcBef>
                <a:spcPts val="1200"/>
              </a:spcBef>
              <a:buFont typeface="Wingdings" panose="05000000000000000000" pitchFamily="2" charset="2"/>
              <a:buChar char="q"/>
            </a:pPr>
            <a:r>
              <a:rPr lang="en-US" sz="3400" dirty="0" err="1">
                <a:latin typeface="Calibri" panose="020F0502020204030204" pitchFamily="34" charset="0"/>
                <a:ea typeface="Calibri" panose="020F0502020204030204" pitchFamily="34" charset="0"/>
                <a:cs typeface="Calibri" panose="020F0502020204030204" pitchFamily="34" charset="0"/>
              </a:rPr>
              <a:t>Có</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quyền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yêu</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cầu</a:t>
            </a:r>
            <a:r>
              <a:rPr lang="en-US" sz="3400" dirty="0">
                <a:latin typeface="Calibri" panose="020F0502020204030204" pitchFamily="34" charset="0"/>
                <a:ea typeface="Calibri" panose="020F0502020204030204" pitchFamily="34" charset="0"/>
                <a:cs typeface="Calibri" panose="020F0502020204030204" pitchFamily="34" charset="0"/>
              </a:rPr>
              <a:t> CQT </a:t>
            </a:r>
            <a:r>
              <a:rPr lang="en-US" sz="3400" dirty="0" err="1">
                <a:latin typeface="Calibri" panose="020F0502020204030204" pitchFamily="34" charset="0"/>
                <a:ea typeface="Calibri" panose="020F0502020204030204" pitchFamily="34" charset="0"/>
                <a:cs typeface="Calibri" panose="020F0502020204030204" pitchFamily="34" charset="0"/>
              </a:rPr>
              <a:t>hướng</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dẫn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giải</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đáp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thắc</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mắc</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hỗ</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trợ</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về</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khai</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tính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và</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nộp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 </a:t>
            </a:r>
          </a:p>
          <a:p>
            <a:pPr algn="just">
              <a:lnSpc>
                <a:spcPct val="107000"/>
              </a:lnSpc>
              <a:spcBef>
                <a:spcPts val="1200"/>
              </a:spcBef>
              <a:buFont typeface="Wingdings" panose="05000000000000000000" pitchFamily="2" charset="2"/>
              <a:buChar char="q"/>
            </a:pPr>
            <a:r>
              <a:rPr lang="en-US" sz="3400" dirty="0" err="1">
                <a:latin typeface="Calibri" panose="020F0502020204030204" pitchFamily="34" charset="0"/>
                <a:ea typeface="Calibri" panose="020F0502020204030204" pitchFamily="34" charset="0"/>
                <a:cs typeface="Calibri" panose="020F0502020204030204" pitchFamily="34" charset="0"/>
              </a:rPr>
              <a:t>Có</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các</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quyền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của</a:t>
            </a:r>
            <a:r>
              <a:rPr lang="en-US" sz="3400" dirty="0">
                <a:latin typeface="Calibri" panose="020F0502020204030204" pitchFamily="34" charset="0"/>
                <a:ea typeface="Calibri" panose="020F0502020204030204" pitchFamily="34" charset="0"/>
                <a:cs typeface="Calibri" panose="020F0502020204030204" pitchFamily="34" charset="0"/>
              </a:rPr>
              <a:t> NNT </a:t>
            </a:r>
            <a:r>
              <a:rPr lang="en-US" sz="3400" dirty="0" err="1">
                <a:latin typeface="Calibri" panose="020F0502020204030204" pitchFamily="34" charset="0"/>
                <a:ea typeface="Calibri" panose="020F0502020204030204" pitchFamily="34" charset="0"/>
                <a:cs typeface="Calibri" panose="020F0502020204030204" pitchFamily="34" charset="0"/>
              </a:rPr>
              <a:t>theo</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quy</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định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pháp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luật</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về</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quản</a:t>
            </a:r>
            <a:r>
              <a:rPr lang="en-US" sz="3400" dirty="0">
                <a:latin typeface="Calibri" panose="020F0502020204030204" pitchFamily="34" charset="0"/>
                <a:ea typeface="Calibri" panose="020F0502020204030204" pitchFamily="34" charset="0"/>
                <a:cs typeface="Calibri" panose="020F0502020204030204" pitchFamily="34" charset="0"/>
              </a:rPr>
              <a:t> lý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Bef>
                <a:spcPts val="1200"/>
              </a:spcBef>
              <a:buFont typeface="Wingdings" panose="05000000000000000000" pitchFamily="2" charset="2"/>
              <a:buChar char="q"/>
            </a:pPr>
            <a:r>
              <a:rPr lang="en-US" sz="3400" dirty="0" err="1">
                <a:latin typeface="Calibri" panose="020F0502020204030204" pitchFamily="34" charset="0"/>
                <a:ea typeface="Calibri" panose="020F0502020204030204" pitchFamily="34" charset="0"/>
                <a:cs typeface="Calibri" panose="020F0502020204030204" pitchFamily="34" charset="0"/>
              </a:rPr>
              <a:t>Tự</a:t>
            </a:r>
            <a:r>
              <a:rPr lang="en-US" sz="3400" dirty="0">
                <a:latin typeface="Calibri" panose="020F0502020204030204" pitchFamily="34" charset="0"/>
                <a:ea typeface="Calibri" panose="020F0502020204030204" pitchFamily="34" charset="0"/>
                <a:cs typeface="Calibri" panose="020F0502020204030204" pitchFamily="34" charset="0"/>
              </a:rPr>
              <a:t> KK </a:t>
            </a:r>
            <a:r>
              <a:rPr lang="en-US" sz="3400" dirty="0" err="1">
                <a:latin typeface="Calibri" panose="020F0502020204030204" pitchFamily="34" charset="0"/>
                <a:ea typeface="Calibri" panose="020F0502020204030204" pitchFamily="34" charset="0"/>
                <a:cs typeface="Calibri" panose="020F0502020204030204" pitchFamily="34" charset="0"/>
              </a:rPr>
              <a:t>đầy</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đủ</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chính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xác</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doanh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phát</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sinh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từ</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hoạt</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động</a:t>
            </a:r>
            <a:r>
              <a:rPr lang="en-US" sz="3400" dirty="0">
                <a:latin typeface="Calibri" panose="020F0502020204030204" pitchFamily="34" charset="0"/>
                <a:ea typeface="Calibri" panose="020F0502020204030204" pitchFamily="34" charset="0"/>
                <a:cs typeface="Calibri" panose="020F0502020204030204" pitchFamily="34" charset="0"/>
              </a:rPr>
              <a:t> SXKD </a:t>
            </a:r>
            <a:r>
              <a:rPr lang="en-US" sz="3400" dirty="0" err="1">
                <a:latin typeface="Calibri" panose="020F0502020204030204" pitchFamily="34" charset="0"/>
                <a:ea typeface="Calibri" panose="020F0502020204030204" pitchFamily="34" charset="0"/>
                <a:cs typeface="Calibri" panose="020F0502020204030204" pitchFamily="34" charset="0"/>
              </a:rPr>
              <a:t>để</a:t>
            </a:r>
            <a:r>
              <a:rPr lang="en-US" sz="3400" dirty="0">
                <a:latin typeface="Calibri" panose="020F0502020204030204" pitchFamily="34" charset="0"/>
                <a:ea typeface="Calibri" panose="020F0502020204030204" pitchFamily="34" charset="0"/>
                <a:cs typeface="Calibri" panose="020F0502020204030204" pitchFamily="34" charset="0"/>
              </a:rPr>
              <a:t> XĐ </a:t>
            </a:r>
            <a:r>
              <a:rPr lang="en-US" sz="3400" dirty="0" err="1">
                <a:latin typeface="Calibri" panose="020F0502020204030204" pitchFamily="34" charset="0"/>
                <a:ea typeface="Calibri" panose="020F0502020204030204" pitchFamily="34" charset="0"/>
                <a:cs typeface="Calibri" panose="020F0502020204030204" pitchFamily="34" charset="0"/>
              </a:rPr>
              <a:t>số</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phải</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nộp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theo</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quy</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định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của</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pháp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luật</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và</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tự</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chịu</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trách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nhiệm</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trước</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pháp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luật</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về</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nội</a:t>
            </a:r>
            <a:r>
              <a:rPr lang="en-US" sz="3400" dirty="0">
                <a:latin typeface="Calibri" panose="020F0502020204030204" pitchFamily="34" charset="0"/>
                <a:ea typeface="Calibri" panose="020F0502020204030204" pitchFamily="34" charset="0"/>
                <a:cs typeface="Calibri" panose="020F0502020204030204" pitchFamily="34" charset="0"/>
              </a:rPr>
              <a:t> dung </a:t>
            </a:r>
            <a:r>
              <a:rPr lang="en-US" sz="3400" dirty="0" err="1">
                <a:latin typeface="Calibri" panose="020F0502020204030204" pitchFamily="34" charset="0"/>
                <a:ea typeface="Calibri" panose="020F0502020204030204" pitchFamily="34" charset="0"/>
                <a:cs typeface="Calibri" panose="020F0502020204030204" pitchFamily="34" charset="0"/>
              </a:rPr>
              <a:t>đã</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kê</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khai</a:t>
            </a:r>
            <a:r>
              <a:rPr lang="en-US" sz="3400" dirty="0">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Bef>
                <a:spcPts val="1200"/>
              </a:spcBef>
              <a:buFont typeface="Wingdings" panose="05000000000000000000" pitchFamily="2" charset="2"/>
              <a:buChar char="q"/>
            </a:pPr>
            <a:r>
              <a:rPr lang="en-US" sz="3200" b="1" dirty="0" err="1">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hực</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hiện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thông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báo</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cho</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CQT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theo</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phương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thức</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điện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tử</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tất</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cả</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các</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số</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tài</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khoản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mở</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tại</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tổ</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chức</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cung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ứng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dịch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vụ</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thanh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toán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số</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hiệu</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ví</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điện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tử</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mở</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tại</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tổ</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chức</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cung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ứng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dịch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vụ</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trung</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gian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thanh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toán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liên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quan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đến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sản</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xuất</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kinh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b="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doanh</a:t>
            </a:r>
            <a:r>
              <a:rPr lang="en-US" sz="32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buFont typeface="Wingdings" panose="05000000000000000000" pitchFamily="2" charset="2"/>
              <a:buChar char="q"/>
            </a:pPr>
            <a:r>
              <a:rPr lang="en-US" sz="3400" dirty="0" err="1">
                <a:latin typeface="Calibri" panose="020F0502020204030204" pitchFamily="34" charset="0"/>
                <a:ea typeface="Calibri" panose="020F0502020204030204" pitchFamily="34" charset="0"/>
                <a:cs typeface="Calibri" panose="020F0502020204030204" pitchFamily="34" charset="0"/>
              </a:rPr>
              <a:t>Có</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trách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nhiệm</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sử</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dụng</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sổ</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toán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theo</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quy</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định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của</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pháp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luật</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toán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và</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hướng</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dẫn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của</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Bộ</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trưởng</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Bộ</a:t>
            </a:r>
            <a:r>
              <a:rPr lang="en-US" sz="3400" dirty="0">
                <a:latin typeface="Calibri" panose="020F0502020204030204" pitchFamily="34" charset="0"/>
                <a:ea typeface="Calibri" panose="020F0502020204030204" pitchFamily="34" charset="0"/>
                <a:cs typeface="Calibri" panose="020F0502020204030204" pitchFamily="34" charset="0"/>
              </a:rPr>
              <a:t> Tài </a:t>
            </a:r>
            <a:r>
              <a:rPr lang="en-US" sz="3400" dirty="0" err="1">
                <a:latin typeface="Calibri" panose="020F0502020204030204" pitchFamily="34" charset="0"/>
                <a:ea typeface="Calibri" panose="020F0502020204030204" pitchFamily="34" charset="0"/>
                <a:cs typeface="Calibri" panose="020F0502020204030204" pitchFamily="34" charset="0"/>
              </a:rPr>
              <a:t>chính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sử</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dụng</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hóa</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đơn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theo</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quy</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định</a:t>
            </a:r>
            <a:r>
              <a:rPr lang="en-US" sz="3400" dirty="0">
                <a:latin typeface="Calibri" panose="020F0502020204030204" pitchFamily="34" charset="0"/>
                <a:ea typeface="Calibri" panose="020F0502020204030204" pitchFamily="34" charset="0"/>
                <a:cs typeface="Calibri" panose="020F0502020204030204" pitchFamily="34" charset="0"/>
              </a:rPr>
              <a:t>. </a:t>
            </a:r>
          </a:p>
          <a:p>
            <a:pPr algn="just">
              <a:lnSpc>
                <a:spcPct val="107000"/>
              </a:lnSpc>
              <a:buFont typeface="Wingdings" panose="05000000000000000000" pitchFamily="2" charset="2"/>
              <a:buChar char="q"/>
            </a:pPr>
            <a:r>
              <a:rPr lang="en-US" sz="3400" dirty="0" err="1">
                <a:latin typeface="Calibri" panose="020F0502020204030204" pitchFamily="34" charset="0"/>
                <a:ea typeface="Calibri" panose="020F0502020204030204" pitchFamily="34" charset="0"/>
                <a:cs typeface="Calibri" panose="020F0502020204030204" pitchFamily="34" charset="0"/>
              </a:rPr>
              <a:t>Có</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trách</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nhiệm</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cung</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cấp</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sổ</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toán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hóa</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đơn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phần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mềm</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quản</a:t>
            </a:r>
            <a:r>
              <a:rPr lang="en-US" sz="3400" dirty="0">
                <a:latin typeface="Calibri" panose="020F0502020204030204" pitchFamily="34" charset="0"/>
                <a:ea typeface="Calibri" panose="020F0502020204030204" pitchFamily="34" charset="0"/>
                <a:cs typeface="Calibri" panose="020F0502020204030204" pitchFamily="34" charset="0"/>
              </a:rPr>
              <a:t> lý </a:t>
            </a:r>
            <a:r>
              <a:rPr lang="en-US" sz="3400" dirty="0" err="1">
                <a:latin typeface="Calibri" panose="020F0502020204030204" pitchFamily="34" charset="0"/>
                <a:ea typeface="Calibri" panose="020F0502020204030204" pitchFamily="34" charset="0"/>
                <a:cs typeface="Calibri" panose="020F0502020204030204" pitchFamily="34" charset="0"/>
              </a:rPr>
              <a:t>bán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hàng</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tài</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liệu</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liên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quan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theo</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yêu</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cầu</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của</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cơ</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quan</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khi</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kiểm</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tra</a:t>
            </a:r>
            <a:r>
              <a:rPr lang="en-US" sz="3400" dirty="0">
                <a:latin typeface="Calibri" panose="020F0502020204030204" pitchFamily="34" charset="0"/>
                <a:ea typeface="Calibri" panose="020F0502020204030204" pitchFamily="34" charset="0"/>
                <a:cs typeface="Calibri" panose="020F0502020204030204" pitchFamily="34" charset="0"/>
              </a:rPr>
              <a:t> </a:t>
            </a:r>
            <a:r>
              <a:rPr lang="en-US" sz="3400" dirty="0" err="1">
                <a:latin typeface="Calibri" panose="020F0502020204030204" pitchFamily="34" charset="0"/>
                <a:ea typeface="Calibri" panose="020F0502020204030204" pitchFamily="34" charset="0"/>
                <a:cs typeface="Calibri" panose="020F0502020204030204" pitchFamily="34" charset="0"/>
              </a:rPr>
              <a:t>thuế</a:t>
            </a:r>
            <a:r>
              <a:rPr lang="en-US" sz="3400" dirty="0">
                <a:latin typeface="Calibri" panose="020F0502020204030204" pitchFamily="34" charset="0"/>
                <a:ea typeface="Calibri" panose="020F0502020204030204" pitchFamily="34" charset="0"/>
                <a:cs typeface="Calibri" panose="020F0502020204030204" pitchFamily="34" charset="0"/>
              </a:rPr>
              <a:t>.</a:t>
            </a:r>
          </a:p>
          <a:p>
            <a:pPr algn="just">
              <a:lnSpc>
                <a:spcPct val="105000"/>
              </a:lnSpc>
              <a:spcBef>
                <a:spcPts val="1200"/>
              </a:spcBef>
              <a:buFont typeface="Wingdings" panose="05000000000000000000" pitchFamily="2" charset="2"/>
              <a:buChar char="q"/>
            </a:pPr>
            <a:r>
              <a:rPr lang="en-US" sz="3200" i="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(Điều 13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Nghị</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2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định</a:t>
            </a:r>
            <a:r>
              <a:rPr lang="en-US" sz="32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4204094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4EE40065-A001-44E5-BCBF-4C3EE7407A4A}"/>
              </a:ext>
            </a:extLst>
          </p:cNvPr>
          <p:cNvGraphicFramePr>
            <a:graphicFrameLocks noChangeAspect="1"/>
          </p:cNvGraphicFramePr>
          <p:nvPr>
            <p:extLst>
              <p:ext uri="{D42A27DB-BD31-4B8C-83A1-F6EECF244321}">
                <p14:modId xmlns:p14="http://schemas.microsoft.com/office/powerpoint/2010/main" val="461923599"/>
              </p:ext>
            </p:extLst>
          </p:nvPr>
        </p:nvGraphicFramePr>
        <p:xfrm>
          <a:off x="990600" y="1104900"/>
          <a:ext cx="15011400" cy="8077200"/>
        </p:xfrm>
        <a:graphic>
          <a:graphicData uri="http://schemas.openxmlformats.org/presentationml/2006/ole">
            <mc:AlternateContent xmlns:mc="http://schemas.openxmlformats.org/markup-compatibility/2006">
              <mc:Choice xmlns:v="urn:schemas-microsoft-com:vml" Requires="v">
                <p:oleObj spid="_x0000_s4166" name="Worksheet" r:id="rId3" imgW="12268200" imgH="5038886" progId="Excel.Sheet.8">
                  <p:embed/>
                </p:oleObj>
              </mc:Choice>
              <mc:Fallback>
                <p:oleObj name="Worksheet" r:id="rId3" imgW="12268200" imgH="5038886" progId="Excel.Sheet.8">
                  <p:embed/>
                  <p:pic>
                    <p:nvPicPr>
                      <p:cNvPr id="0" name=""/>
                      <p:cNvPicPr/>
                      <p:nvPr/>
                    </p:nvPicPr>
                    <p:blipFill>
                      <a:blip r:embed="rId4"/>
                      <a:stretch>
                        <a:fillRect/>
                      </a:stretch>
                    </p:blipFill>
                    <p:spPr>
                      <a:xfrm>
                        <a:off x="990600" y="1104900"/>
                        <a:ext cx="15011400" cy="8077200"/>
                      </a:xfrm>
                      <a:prstGeom prst="rect">
                        <a:avLst/>
                      </a:prstGeom>
                    </p:spPr>
                  </p:pic>
                </p:oleObj>
              </mc:Fallback>
            </mc:AlternateContent>
          </a:graphicData>
        </a:graphic>
      </p:graphicFrame>
    </p:spTree>
    <p:extLst>
      <p:ext uri="{BB962C8B-B14F-4D97-AF65-F5344CB8AC3E}">
        <p14:creationId xmlns:p14="http://schemas.microsoft.com/office/powerpoint/2010/main" val="1067840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marL="1771650" lvl="2" indent="-571500" algn="just">
              <a:lnSpc>
                <a:spcPct val="150000"/>
              </a:lnSpc>
              <a:spcBef>
                <a:spcPts val="600"/>
              </a:spcBef>
              <a:spcAft>
                <a:spcPts val="600"/>
              </a:spcAft>
              <a:buFont typeface="Wingdings" panose="05000000000000000000" pitchFamily="2" charset="2"/>
              <a:buChar char="ü"/>
            </a:pPr>
            <a:endParaRPr lang="en-US" sz="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r>
              <a:rPr lang="en-US" sz="3600" dirty="0">
                <a:solidFill>
                  <a:srgbClr val="002060"/>
                </a:solidFill>
                <a:effectLst/>
                <a:latin typeface="+mj-lt"/>
                <a:ea typeface="Times New Roman" panose="02020603050405020304" pitchFamily="18" charset="0"/>
              </a:rPr>
              <a:t>					</a:t>
            </a: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r>
              <a:rPr lang="en-US" sz="3600" dirty="0">
                <a:solidFill>
                  <a:srgbClr val="002060"/>
                </a:solidFill>
                <a:latin typeface="+mj-lt"/>
                <a:ea typeface="Times New Roman" panose="02020603050405020304" pitchFamily="18" charset="0"/>
              </a:rPr>
              <a:t>											</a:t>
            </a:r>
            <a:r>
              <a:rPr lang="en-US" sz="400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PHẦN</a:t>
            </a:r>
            <a:r>
              <a:rPr lang="en-US" sz="4000">
                <a:solidFill>
                  <a:srgbClr val="990033"/>
                </a:solidFill>
                <a:latin typeface="Arial Bold" panose="020B0704020202020204" pitchFamily="34" charset="0"/>
                <a:ea typeface="Times New Roman" panose="02020603050405020304" pitchFamily="18" charset="0"/>
                <a:cs typeface="Arial Bold" panose="020B0704020202020204" pitchFamily="34" charset="0"/>
              </a:rPr>
              <a:t> III</a:t>
            </a:r>
            <a:endPar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endParaRPr>
          </a:p>
          <a:p>
            <a:pPr marL="0" indent="0" algn="ctr">
              <a:lnSpc>
                <a:spcPct val="150000"/>
              </a:lnSpc>
              <a:spcBef>
                <a:spcPts val="600"/>
              </a:spcBef>
              <a:spcAft>
                <a:spcPts val="600"/>
              </a:spcAft>
            </a:pP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a:t>
            </a:r>
            <a:r>
              <a:rPr lang="en-US" sz="4000"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NGHỊ</a:t>
            </a: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a:t>
            </a:r>
            <a:r>
              <a:rPr lang="en-US" sz="4000"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ĐỊNH</a:t>
            </a: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254/2026/</a:t>
            </a:r>
            <a:r>
              <a:rPr lang="en-US" sz="4000"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NĐ</a:t>
            </a: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-CP </a:t>
            </a:r>
            <a:r>
              <a:rPr lang="en-US" sz="4000"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NGÀY</a:t>
            </a: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30/06/2026, </a:t>
            </a:r>
            <a:r>
              <a:rPr lang="en-US" sz="4000"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THÔNG</a:t>
            </a: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a:t>
            </a:r>
            <a:r>
              <a:rPr lang="en-US" sz="4000"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TƯ</a:t>
            </a: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91/2026/TT-</a:t>
            </a:r>
            <a:r>
              <a:rPr lang="en-US" sz="4000" dirty="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BTC</a:t>
            </a: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a:t>
            </a:r>
            <a:r>
              <a:rPr lang="en-US" sz="4000" err="1">
                <a:solidFill>
                  <a:srgbClr val="990033"/>
                </a:solidFill>
                <a:latin typeface="Arial Bold" panose="020B0704020202020204" pitchFamily="34" charset="0"/>
                <a:ea typeface="Times New Roman" panose="02020603050405020304" pitchFamily="18" charset="0"/>
                <a:cs typeface="Arial Bold" panose="020B0704020202020204" pitchFamily="34" charset="0"/>
              </a:rPr>
              <a:t>NGÀY</a:t>
            </a:r>
            <a:r>
              <a:rPr lang="en-US" sz="4000">
                <a:solidFill>
                  <a:srgbClr val="990033"/>
                </a:solidFill>
                <a:latin typeface="Arial Bold" panose="020B0704020202020204" pitchFamily="34" charset="0"/>
                <a:ea typeface="Times New Roman" panose="02020603050405020304" pitchFamily="18" charset="0"/>
                <a:cs typeface="Arial Bold" panose="020B0704020202020204" pitchFamily="34" charset="0"/>
              </a:rPr>
              <a:t> 30/06/2026, HƯỚNG DẪN THI HÀNH LUẬT QUẢN LÝ THUẾ SỐ 108/2025/QH15 VỀ HÓA ĐƠN ĐIỆN TỬ, CHỨNG TỪ ĐIỆN TỬ</a:t>
            </a:r>
            <a:endParaRPr lang="en-US" sz="4000"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endParaRPr>
          </a:p>
          <a:p>
            <a:pPr marL="0" indent="0" algn="just">
              <a:lnSpc>
                <a:spcPct val="150000"/>
              </a:lnSpc>
              <a:spcBef>
                <a:spcPts val="600"/>
              </a:spcBef>
              <a:spcAft>
                <a:spcPts val="600"/>
              </a:spcAft>
            </a:pPr>
            <a:r>
              <a:rPr lang="en-US" sz="4000" dirty="0">
                <a:solidFill>
                  <a:srgbClr val="990033"/>
                </a:solidFill>
                <a:latin typeface="Arial Bold" panose="020B0704020202020204" pitchFamily="34" charset="0"/>
                <a:ea typeface="Times New Roman" panose="02020603050405020304" pitchFamily="18" charset="0"/>
                <a:cs typeface="Arial Bold" panose="020B0704020202020204" pitchFamily="34" charset="0"/>
              </a:rPr>
              <a:t>			</a:t>
            </a:r>
            <a:endParaRPr lang="en-US" sz="4000" dirty="0">
              <a:solidFill>
                <a:srgbClr val="990033"/>
              </a:solidFill>
              <a:effectLst/>
              <a:latin typeface="Arial Bold" panose="020B0704020202020204" pitchFamily="34" charset="0"/>
              <a:ea typeface="Times New Roman" panose="02020603050405020304" pitchFamily="18" charset="0"/>
              <a:cs typeface="Arial Bold" panose="020B0704020202020204" pitchFamily="34" charset="0"/>
            </a:endParaRPr>
          </a:p>
        </p:txBody>
      </p:sp>
    </p:spTree>
    <p:extLst>
      <p:ext uri="{BB962C8B-B14F-4D97-AF65-F5344CB8AC3E}">
        <p14:creationId xmlns:p14="http://schemas.microsoft.com/office/powerpoint/2010/main" val="3504687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6600" b="1" dirty="0">
                <a:latin typeface="Times New Roman" pitchFamily="18" charset="0"/>
                <a:cs typeface="Times New Roman" pitchFamily="18" charset="0"/>
              </a:rPr>
              <a:t> </a:t>
            </a:r>
            <a:r>
              <a:rPr lang="en-US" sz="4400" b="1" dirty="0">
                <a:solidFill>
                  <a:srgbClr val="990033"/>
                </a:solidFill>
                <a:effectLst>
                  <a:outerShdw blurRad="38100" dist="38100" dir="2700000" algn="tl">
                    <a:srgbClr val="000000">
                      <a:alpha val="43137"/>
                    </a:srgbClr>
                  </a:outerShdw>
                </a:effectLst>
                <a:cs typeface="Times New Roman" pitchFamily="18"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CĂN CỨ PHÁP LÝ BAN HÀNH</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533400" y="1790701"/>
            <a:ext cx="17373600" cy="6511078"/>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0" indent="0" algn="just" defTabSz="1828800" eaLnBrk="0" fontAlgn="base" hangingPunct="0">
              <a:lnSpc>
                <a:spcPct val="200000"/>
              </a:lnSpc>
              <a:spcBef>
                <a:spcPts val="600"/>
              </a:spcBef>
              <a:spcAft>
                <a:spcPts val="600"/>
              </a:spcAft>
              <a:defRPr/>
            </a:pPr>
            <a:r>
              <a:rPr lang="en-US" altLang="en-US" sz="4400" b="1">
                <a:solidFill>
                  <a:srgbClr val="002060"/>
                </a:solidFill>
                <a:ea typeface="Microsoft YaHei"/>
              </a:rPr>
              <a:t>1</a:t>
            </a:r>
            <a:r>
              <a:rPr lang="en-US" altLang="en-US" sz="4000" b="1">
                <a:solidFill>
                  <a:srgbClr val="002060"/>
                </a:solidFill>
                <a:latin typeface="Calibri" panose="020F0502020204030204" pitchFamily="34" charset="0"/>
                <a:ea typeface="Calibri" panose="020F0502020204030204" pitchFamily="34" charset="0"/>
                <a:cs typeface="Calibri" panose="020F0502020204030204" pitchFamily="34" charset="0"/>
              </a:rPr>
              <a:t>. Luật Quản lý thuế số 108/2025/QH15</a:t>
            </a:r>
          </a:p>
          <a:p>
            <a:pPr marL="0" indent="0" algn="just" defTabSz="1828800" eaLnBrk="0" fontAlgn="base" hangingPunct="0">
              <a:lnSpc>
                <a:spcPct val="200000"/>
              </a:lnSpc>
              <a:spcBef>
                <a:spcPts val="600"/>
              </a:spcBef>
              <a:spcAft>
                <a:spcPts val="600"/>
              </a:spcAft>
              <a:defRPr/>
            </a:pPr>
            <a:r>
              <a:rPr lang="en-US" altLang="en-US" sz="4000" b="1">
                <a:solidFill>
                  <a:srgbClr val="002060"/>
                </a:solidFill>
                <a:latin typeface="Calibri" panose="020F0502020204030204" pitchFamily="34" charset="0"/>
                <a:ea typeface="Calibri" panose="020F0502020204030204" pitchFamily="34" charset="0"/>
                <a:cs typeface="Calibri" panose="020F0502020204030204" pitchFamily="34" charset="0"/>
              </a:rPr>
              <a:t>2. Nghị định số 254/2026/NĐ-CP ngày 30/06/2026</a:t>
            </a:r>
          </a:p>
          <a:p>
            <a:pPr marL="0" indent="0" algn="just" defTabSz="1828800" eaLnBrk="0" fontAlgn="base" hangingPunct="0">
              <a:lnSpc>
                <a:spcPct val="200000"/>
              </a:lnSpc>
              <a:spcBef>
                <a:spcPts val="600"/>
              </a:spcBef>
              <a:spcAft>
                <a:spcPts val="600"/>
              </a:spcAft>
              <a:defRPr/>
            </a:pPr>
            <a:r>
              <a:rPr lang="en-US" altLang="en-US" sz="4000" b="1">
                <a:solidFill>
                  <a:srgbClr val="002060"/>
                </a:solidFill>
                <a:latin typeface="Calibri" panose="020F0502020204030204" pitchFamily="34" charset="0"/>
                <a:ea typeface="Calibri" panose="020F0502020204030204" pitchFamily="34" charset="0"/>
                <a:cs typeface="Calibri" panose="020F0502020204030204" pitchFamily="34" charset="0"/>
              </a:rPr>
              <a:t>3.Thông tư 91/2026/TT-BTC ngày 30/06/2026</a:t>
            </a:r>
            <a:endParaRPr lang="en-US" altLang="en-US" sz="40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defTabSz="1828800" eaLnBrk="0" fontAlgn="base" hangingPunct="0">
              <a:lnSpc>
                <a:spcPct val="150000"/>
              </a:lnSpc>
              <a:spcBef>
                <a:spcPts val="600"/>
              </a:spcBef>
              <a:spcAft>
                <a:spcPts val="600"/>
              </a:spcAft>
              <a:defRPr/>
            </a:pPr>
            <a:endParaRPr lang="en-US" altLang="en-US" sz="4400" b="1" dirty="0">
              <a:solidFill>
                <a:srgbClr val="002060"/>
              </a:solidFill>
              <a:ea typeface="Microsoft YaHei"/>
            </a:endParaRPr>
          </a:p>
          <a:p>
            <a:pPr marL="0" indent="0" algn="just" defTabSz="1828800" eaLnBrk="0" fontAlgn="base" hangingPunct="0">
              <a:lnSpc>
                <a:spcPct val="150000"/>
              </a:lnSpc>
              <a:spcBef>
                <a:spcPts val="600"/>
              </a:spcBef>
              <a:spcAft>
                <a:spcPts val="600"/>
              </a:spcAft>
              <a:defRPr/>
            </a:pPr>
            <a:endParaRPr lang="en-US" altLang="en-US" sz="4800" b="1" dirty="0">
              <a:solidFill>
                <a:srgbClr val="760427"/>
              </a:solidFill>
              <a:ea typeface="Microsoft YaHei"/>
            </a:endParaRPr>
          </a:p>
        </p:txBody>
      </p:sp>
    </p:spTree>
    <p:extLst>
      <p:ext uri="{BB962C8B-B14F-4D97-AF65-F5344CB8AC3E}">
        <p14:creationId xmlns:p14="http://schemas.microsoft.com/office/powerpoint/2010/main" val="1740720367"/>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6600" b="1" dirty="0">
                <a:latin typeface="Times New Roman" pitchFamily="18" charset="0"/>
                <a:cs typeface="Times New Roman" pitchFamily="18" charset="0"/>
              </a:rPr>
              <a:t> </a:t>
            </a:r>
            <a:r>
              <a:rPr lang="en-US" sz="4400" b="1" dirty="0">
                <a:solidFill>
                  <a:srgbClr val="990033"/>
                </a:solidFill>
                <a:effectLst>
                  <a:outerShdw blurRad="38100" dist="38100" dir="2700000" algn="tl">
                    <a:srgbClr val="000000">
                      <a:alpha val="43137"/>
                    </a:srgbClr>
                  </a:outerShdw>
                </a:effectLst>
                <a:cs typeface="Times New Roman" pitchFamily="18" charset="0"/>
              </a:rPr>
              <a:t>	</a:t>
            </a:r>
            <a:r>
              <a:rPr lang="en-US" sz="44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KẾT CẤU NGHỊ ĐỊNH VÀ THÔNG TƯ</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533400" y="1790701"/>
            <a:ext cx="17373600" cy="10146945"/>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0" indent="0" algn="just">
              <a:lnSpc>
                <a:spcPct val="107000"/>
              </a:lnSpc>
              <a:spcBef>
                <a:spcPts val="900"/>
              </a:spcBef>
              <a:spcAft>
                <a:spcPts val="800"/>
              </a:spcAft>
            </a:pPr>
            <a:r>
              <a:rPr lang="en-US" sz="4000" b="1">
                <a:solidFill>
                  <a:srgbClr val="990033"/>
                </a:solidFill>
                <a:effectLst/>
                <a:latin typeface="Calibri" panose="020F0502020204030204" pitchFamily="34" charset="0"/>
                <a:ea typeface="Calibri" panose="020F0502020204030204" pitchFamily="34" charset="0"/>
                <a:cs typeface="Calibri" panose="020F0502020204030204" pitchFamily="34" charset="0"/>
              </a:rPr>
              <a:t>1.</a:t>
            </a:r>
            <a:r>
              <a:rPr lang="en-US" sz="400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4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a:t>
            </a:r>
            <a:r>
              <a:rPr lang="en-US" sz="4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4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4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40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40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rPr>
              <a:t>254</a:t>
            </a:r>
            <a:r>
              <a:rPr lang="en-US" sz="4000">
                <a:solidFill>
                  <a:srgbClr val="002060"/>
                </a:solidFill>
                <a:effectLst/>
                <a:latin typeface="Calibri" panose="020F0502020204030204" pitchFamily="34" charset="0"/>
                <a:ea typeface="Calibri" panose="020F0502020204030204" pitchFamily="34" charset="0"/>
                <a:cs typeface="Calibri" panose="020F0502020204030204" pitchFamily="34" charset="0"/>
              </a:rPr>
              <a:t>/2026</a:t>
            </a:r>
            <a:r>
              <a:rPr lang="en-US" sz="4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/NĐ-CP </a:t>
            </a:r>
            <a:r>
              <a:rPr lang="en-US" sz="40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40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rPr>
              <a:t>30/06</a:t>
            </a:r>
            <a:r>
              <a:rPr lang="en-US" sz="4000">
                <a:solidFill>
                  <a:srgbClr val="002060"/>
                </a:solidFill>
                <a:effectLst/>
                <a:latin typeface="Calibri" panose="020F0502020204030204" pitchFamily="34" charset="0"/>
                <a:ea typeface="Calibri" panose="020F0502020204030204" pitchFamily="34" charset="0"/>
                <a:cs typeface="Calibri" panose="020F0502020204030204" pitchFamily="34" charset="0"/>
              </a:rPr>
              <a:t>/2026 </a:t>
            </a:r>
            <a:r>
              <a:rPr lang="en-US" sz="40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40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400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40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rPr>
              <a:t>chi tiết một số điều và biện pháp để tổ chức, hướng dẫn thi hành Luật Quản lý thuế số 108/2025/QH15 về hóa đơn điện tử chứng từ điện tử</a:t>
            </a:r>
            <a:endPar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40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Gồm</a:t>
            </a:r>
            <a:r>
              <a:rPr lang="en-US" sz="40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5 Chư</a:t>
            </a:r>
            <a:r>
              <a:rPr lang="en-US" sz="4000" i="1" dirty="0">
                <a:solidFill>
                  <a:srgbClr val="990033"/>
                </a:solidFill>
                <a:latin typeface="Calibri" panose="020F0502020204030204" pitchFamily="34" charset="0"/>
                <a:ea typeface="Calibri" panose="020F0502020204030204" pitchFamily="34" charset="0"/>
                <a:cs typeface="Calibri" panose="020F0502020204030204" pitchFamily="34" charset="0"/>
              </a:rPr>
              <a:t>ơng </a:t>
            </a:r>
            <a:r>
              <a:rPr lang="en-US" sz="4000" i="1" err="1">
                <a:solidFill>
                  <a:srgbClr val="990033"/>
                </a:solidFill>
                <a:latin typeface="Calibri" panose="020F0502020204030204" pitchFamily="34" charset="0"/>
                <a:ea typeface="Calibri" panose="020F0502020204030204" pitchFamily="34" charset="0"/>
                <a:cs typeface="Calibri" panose="020F0502020204030204" pitchFamily="34" charset="0"/>
              </a:rPr>
              <a:t>và</a:t>
            </a:r>
            <a:r>
              <a:rPr lang="en-US" sz="4000" i="1">
                <a:solidFill>
                  <a:srgbClr val="990033"/>
                </a:solidFill>
                <a:latin typeface="Calibri" panose="020F0502020204030204" pitchFamily="34" charset="0"/>
                <a:ea typeface="Calibri" panose="020F0502020204030204" pitchFamily="34" charset="0"/>
                <a:cs typeface="Calibri" panose="020F0502020204030204" pitchFamily="34" charset="0"/>
              </a:rPr>
              <a:t> 45 Điều</a:t>
            </a:r>
          </a:p>
          <a:p>
            <a:pPr marL="0" indent="0" algn="just">
              <a:lnSpc>
                <a:spcPct val="107000"/>
              </a:lnSpc>
              <a:spcBef>
                <a:spcPts val="900"/>
              </a:spcBef>
              <a:spcAft>
                <a:spcPts val="800"/>
              </a:spcAft>
            </a:pPr>
            <a:r>
              <a:rPr lang="en-US" sz="4000" b="1">
                <a:solidFill>
                  <a:srgbClr val="990033"/>
                </a:solidFill>
                <a:latin typeface="Calibri" panose="020F0502020204030204" pitchFamily="34" charset="0"/>
                <a:ea typeface="Calibri" panose="020F0502020204030204" pitchFamily="34" charset="0"/>
                <a:cs typeface="Calibri" panose="020F0502020204030204" pitchFamily="34" charset="0"/>
              </a:rPr>
              <a:t>2. </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rPr>
              <a:t>Thông </a:t>
            </a:r>
            <a:r>
              <a:rPr lang="en-US" sz="4000" dirty="0" err="1">
                <a:solidFill>
                  <a:srgbClr val="002060"/>
                </a:solidFill>
                <a:latin typeface="Calibri" panose="020F0502020204030204" pitchFamily="34" charset="0"/>
                <a:ea typeface="Calibri" panose="020F0502020204030204" pitchFamily="34" charset="0"/>
                <a:cs typeface="Calibri" panose="020F0502020204030204" pitchFamily="34" charset="0"/>
              </a:rPr>
              <a:t>tư</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400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rPr>
              <a:t> 91/2026</a:t>
            </a:r>
            <a:r>
              <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rPr>
              <a:t>/TT-BTC </a:t>
            </a:r>
            <a:r>
              <a:rPr lang="en-US" sz="4000" err="1">
                <a:solidFill>
                  <a:srgbClr val="002060"/>
                </a:solidFill>
                <a:latin typeface="Calibri" panose="020F0502020204030204" pitchFamily="34" charset="0"/>
                <a:ea typeface="Calibri" panose="020F0502020204030204" pitchFamily="34" charset="0"/>
                <a:cs typeface="Calibri" panose="020F0502020204030204" pitchFamily="34" charset="0"/>
              </a:rPr>
              <a:t>ngày</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rPr>
              <a:t> 30/06/2026 </a:t>
            </a:r>
            <a:r>
              <a:rPr lang="en-US" sz="4000" err="1">
                <a:solidFill>
                  <a:srgbClr val="002060"/>
                </a:solidFill>
                <a:latin typeface="Calibri" panose="020F0502020204030204" pitchFamily="34" charset="0"/>
                <a:ea typeface="Calibri" panose="020F0502020204030204" pitchFamily="34" charset="0"/>
                <a:cs typeface="Calibri" panose="020F0502020204030204" pitchFamily="34" charset="0"/>
              </a:rPr>
              <a:t>quy</a:t>
            </a:r>
            <a:r>
              <a:rPr lang="en-US" sz="4000">
                <a:solidFill>
                  <a:srgbClr val="002060"/>
                </a:solidFill>
                <a:latin typeface="Calibri" panose="020F0502020204030204" pitchFamily="34" charset="0"/>
                <a:ea typeface="Calibri" panose="020F0502020204030204" pitchFamily="34" charset="0"/>
                <a:cs typeface="Calibri" panose="020F0502020204030204" pitchFamily="34" charset="0"/>
              </a:rPr>
              <a:t> định một số điều của Luật Quản lý thuế và Nghị định số 254/2026/NĐ-CP của Chính phủ quy định chi tiết một số điều và biện pháp để tổ chức, hướng dẫn thi hành Luật Quản lý thuế số 108/2025/QH15 về hóa đơn điện tử, chứng từ diện tử.</a:t>
            </a:r>
            <a:endParaRPr lang="en-US" sz="40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4000" i="1" err="1">
                <a:solidFill>
                  <a:srgbClr val="990033"/>
                </a:solidFill>
                <a:effectLst/>
                <a:latin typeface="Calibri" panose="020F0502020204030204" pitchFamily="34" charset="0"/>
                <a:ea typeface="Calibri" panose="020F0502020204030204" pitchFamily="34" charset="0"/>
                <a:cs typeface="Calibri" panose="020F0502020204030204" pitchFamily="34" charset="0"/>
              </a:rPr>
              <a:t>Gồm</a:t>
            </a:r>
            <a:r>
              <a:rPr lang="en-US" sz="4000" i="1">
                <a:solidFill>
                  <a:srgbClr val="990033"/>
                </a:solidFill>
                <a:effectLst/>
                <a:latin typeface="Calibri" panose="020F0502020204030204" pitchFamily="34" charset="0"/>
                <a:ea typeface="Calibri" panose="020F0502020204030204" pitchFamily="34" charset="0"/>
                <a:cs typeface="Calibri" panose="020F0502020204030204" pitchFamily="34" charset="0"/>
              </a:rPr>
              <a:t> 5 Ch</a:t>
            </a:r>
            <a:r>
              <a:rPr lang="en-US" sz="4000" i="1">
                <a:solidFill>
                  <a:srgbClr val="990033"/>
                </a:solidFill>
                <a:latin typeface="Calibri" panose="020F0502020204030204" pitchFamily="34" charset="0"/>
                <a:ea typeface="Calibri" panose="020F0502020204030204" pitchFamily="34" charset="0"/>
                <a:cs typeface="Calibri" panose="020F0502020204030204" pitchFamily="34" charset="0"/>
              </a:rPr>
              <a:t>ương, 25 Điều và 5 phụ lục</a:t>
            </a:r>
          </a:p>
          <a:p>
            <a:pPr marL="0" indent="0" algn="just">
              <a:lnSpc>
                <a:spcPct val="107000"/>
              </a:lnSpc>
              <a:spcBef>
                <a:spcPts val="900"/>
              </a:spcBef>
              <a:spcAft>
                <a:spcPts val="800"/>
              </a:spcAft>
            </a:pPr>
            <a:endParaRPr lang="en-US" sz="4000">
              <a:solidFill>
                <a:srgbClr val="002060"/>
              </a:solidFill>
              <a:latin typeface="+mn-lt"/>
              <a:ea typeface="Calibri" panose="020F0502020204030204" pitchFamily="34" charset="0"/>
            </a:endParaRPr>
          </a:p>
          <a:p>
            <a:pPr marL="0" indent="0" algn="just">
              <a:lnSpc>
                <a:spcPct val="107000"/>
              </a:lnSpc>
              <a:spcBef>
                <a:spcPts val="900"/>
              </a:spcBef>
              <a:spcAft>
                <a:spcPts val="800"/>
              </a:spcAft>
            </a:pPr>
            <a:endParaRPr lang="en-US" sz="4000" dirty="0">
              <a:solidFill>
                <a:srgbClr val="002060"/>
              </a:solidFill>
              <a:latin typeface="+mn-lt"/>
              <a:ea typeface="Calibri" panose="020F0502020204030204" pitchFamily="34" charset="0"/>
            </a:endParaRPr>
          </a:p>
          <a:p>
            <a:pPr marL="0" indent="0" algn="just" defTabSz="1828800" eaLnBrk="0" fontAlgn="base" hangingPunct="0">
              <a:lnSpc>
                <a:spcPct val="150000"/>
              </a:lnSpc>
              <a:spcBef>
                <a:spcPts val="600"/>
              </a:spcBef>
              <a:spcAft>
                <a:spcPts val="600"/>
              </a:spcAft>
              <a:defRPr/>
            </a:pPr>
            <a:endParaRPr lang="en-US" altLang="en-US" sz="3200" b="1" dirty="0">
              <a:solidFill>
                <a:srgbClr val="002060"/>
              </a:solidFill>
              <a:latin typeface="+mn-lt"/>
              <a:ea typeface="Microsoft YaHei"/>
            </a:endParaRPr>
          </a:p>
          <a:p>
            <a:pPr marL="0" indent="0" algn="just" defTabSz="1828800" eaLnBrk="0" fontAlgn="base" hangingPunct="0">
              <a:lnSpc>
                <a:spcPct val="150000"/>
              </a:lnSpc>
              <a:spcBef>
                <a:spcPts val="600"/>
              </a:spcBef>
              <a:spcAft>
                <a:spcPts val="600"/>
              </a:spcAft>
              <a:defRPr/>
            </a:pPr>
            <a:endParaRPr lang="en-US" altLang="en-US" sz="3200" b="1" dirty="0">
              <a:solidFill>
                <a:srgbClr val="760427"/>
              </a:solidFill>
              <a:latin typeface="+mn-lt"/>
              <a:ea typeface="Microsoft YaHei"/>
            </a:endParaRPr>
          </a:p>
        </p:txBody>
      </p:sp>
    </p:spTree>
    <p:extLst>
      <p:ext uri="{BB962C8B-B14F-4D97-AF65-F5344CB8AC3E}">
        <p14:creationId xmlns:p14="http://schemas.microsoft.com/office/powerpoint/2010/main" val="1133057765"/>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2E3FB-CE95-40D3-9854-D6F4AED404E0}"/>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ĐỐI TƯỢNG SỬ DỤNG HÓA ĐƠN ĐIỆN TỬ </a:t>
            </a:r>
          </a:p>
        </p:txBody>
      </p:sp>
      <p:sp>
        <p:nvSpPr>
          <p:cNvPr id="3" name="Content Placeholder 2">
            <a:extLst>
              <a:ext uri="{FF2B5EF4-FFF2-40B4-BE49-F238E27FC236}">
                <a16:creationId xmlns:a16="http://schemas.microsoft.com/office/drawing/2014/main" id="{1E3C0CDF-E126-4916-B1C7-342C74051173}"/>
              </a:ext>
            </a:extLst>
          </p:cNvPr>
          <p:cNvSpPr>
            <a:spLocks noGrp="1"/>
          </p:cNvSpPr>
          <p:nvPr>
            <p:ph idx="1"/>
          </p:nvPr>
        </p:nvSpPr>
        <p:spPr>
          <a:xfrm>
            <a:off x="914401" y="1828800"/>
            <a:ext cx="16456026" cy="8039099"/>
          </a:xfrm>
        </p:spPr>
        <p:txBody>
          <a:bodyPr/>
          <a:lstStyle/>
          <a:p>
            <a:pPr marL="401955" indent="-244475">
              <a:spcBef>
                <a:spcPts val="1485"/>
              </a:spcBef>
              <a:spcAft>
                <a:spcPts val="0"/>
              </a:spcAft>
              <a:tabLst>
                <a:tab pos="584200" algn="l"/>
              </a:tabLs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  - </a:t>
            </a:r>
            <a: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Đối</a:t>
            </a:r>
            <a:r>
              <a:rPr lang="vi-VN" sz="3000" b="1" spc="2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tượng sử</a:t>
            </a:r>
            <a:r>
              <a:rPr lang="vi-VN" sz="3000" b="1" spc="4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vi-VN" sz="3000" b="1" spc="4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hóa</a:t>
            </a:r>
            <a:r>
              <a:rPr lang="vi-VN" sz="3000" b="1" spc="2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đơn</a:t>
            </a:r>
            <a:r>
              <a:rPr lang="vi-VN" sz="3000" b="1" spc="3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không</a:t>
            </a:r>
            <a:r>
              <a:rPr lang="vi-VN" sz="3000" b="1" spc="1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25">
                <a:solidFill>
                  <a:srgbClr val="002060"/>
                </a:solidFill>
                <a:effectLst/>
                <a:latin typeface="Calibri" panose="020F0502020204030204" pitchFamily="34" charset="0"/>
                <a:ea typeface="Calibri" panose="020F0502020204030204" pitchFamily="34" charset="0"/>
                <a:cs typeface="Calibri" panose="020F0502020204030204" pitchFamily="34" charset="0"/>
              </a:rPr>
              <a:t>mã:</a:t>
            </a:r>
            <a:b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br>
            <a:r>
              <a:rPr lang="vi-VN" sz="3000" b="1">
                <a:solidFill>
                  <a:srgbClr val="C00000"/>
                </a:solidFill>
                <a:effectLst/>
                <a:latin typeface="Calibri" panose="020F0502020204030204" pitchFamily="34" charset="0"/>
                <a:ea typeface="Calibri" panose="020F0502020204030204" pitchFamily="34" charset="0"/>
                <a:cs typeface="Calibri" panose="020F0502020204030204" pitchFamily="34" charset="0"/>
              </a:rPr>
              <a:t>Bổ sung</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 Doanh nghiệp kinh doanh ở lĩnh vực ngân hàng, chứng khoán, tài</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sản</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mã</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hóa,</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dịch</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vụ</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hỗ</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trợ</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giao</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dịch</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trên</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sàn</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giao</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dịch</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các-bon</a:t>
            </a:r>
            <a:r>
              <a:rPr lang="vi-VN" sz="3000"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r>
              <a:rPr lang="vi-VN" sz="3000" i="1">
                <a:solidFill>
                  <a:srgbClr val="002060"/>
                </a:solidFill>
                <a:effectLst/>
                <a:latin typeface="Calibri" panose="020F0502020204030204" pitchFamily="34" charset="0"/>
                <a:ea typeface="Calibri" panose="020F0502020204030204" pitchFamily="34" charset="0"/>
                <a:cs typeface="Calibri" panose="020F0502020204030204" pitchFamily="34" charset="0"/>
              </a:rPr>
              <a:t>điểm</a:t>
            </a:r>
            <a:r>
              <a:rPr lang="vi-VN" sz="3000" i="1" spc="2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i="1">
                <a:solidFill>
                  <a:srgbClr val="002060"/>
                </a:solidFill>
                <a:effectLst/>
                <a:latin typeface="Calibri" panose="020F0502020204030204" pitchFamily="34" charset="0"/>
                <a:ea typeface="Calibri" panose="020F0502020204030204" pitchFamily="34" charset="0"/>
                <a:cs typeface="Calibri" panose="020F0502020204030204" pitchFamily="34" charset="0"/>
              </a:rPr>
              <a:t>b khoản 1</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339725">
              <a:spcBef>
                <a:spcPts val="975"/>
              </a:spcBef>
              <a:spcAft>
                <a:spcPts val="0"/>
              </a:spcAft>
            </a:pPr>
            <a:r>
              <a:rPr lang="en-US" sz="3000" b="1">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3000" b="1">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rPr>
              <a:t>- Đối tượng sử dụng hóa đơn MTT </a:t>
            </a:r>
          </a:p>
          <a:p>
            <a:pPr marL="339725" algn="just">
              <a:spcBef>
                <a:spcPts val="975"/>
              </a:spcBef>
              <a:spcAft>
                <a:spcPts val="0"/>
              </a:spcAft>
            </a:pPr>
            <a:r>
              <a:rPr lang="en-US" sz="3000" b="1">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C00000"/>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105">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C00000"/>
                </a:solidFill>
                <a:effectLst/>
                <a:latin typeface="Calibri" panose="020F0502020204030204" pitchFamily="34" charset="0"/>
                <a:ea typeface="Calibri" panose="020F0502020204030204" pitchFamily="34" charset="0"/>
                <a:cs typeface="Calibri" panose="020F0502020204030204" pitchFamily="34" charset="0"/>
              </a:rPr>
              <a:t>sung</a:t>
            </a:r>
            <a:r>
              <a:rPr lang="vi-VN"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r>
              <a:rPr lang="vi-VN" sz="3000" b="1" spc="1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Trường</a:t>
            </a:r>
            <a:r>
              <a:rPr lang="vi-VN" sz="3000" spc="7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hợp</a:t>
            </a:r>
            <a:r>
              <a:rPr lang="vi-VN" sz="3000" spc="11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tổ</a:t>
            </a:r>
            <a:r>
              <a:rPr lang="vi-VN" sz="3000" spc="10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chức</a:t>
            </a:r>
            <a:r>
              <a:rPr lang="vi-VN" sz="3000" spc="7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115">
                <a:solidFill>
                  <a:srgbClr val="002060"/>
                </a:solidFill>
                <a:effectLst/>
                <a:latin typeface="Calibri" panose="020F0502020204030204" pitchFamily="34" charset="0"/>
                <a:ea typeface="Calibri" panose="020F0502020204030204" pitchFamily="34" charset="0"/>
                <a:cs typeface="Calibri" panose="020F0502020204030204" pitchFamily="34" charset="0"/>
              </a:rPr>
              <a:t>k</a:t>
            </a:r>
            <a:r>
              <a:rPr lang="vi-VN" sz="3000" spc="85">
                <a:solidFill>
                  <a:srgbClr val="002060"/>
                </a:solidFill>
                <a:effectLst/>
                <a:latin typeface="Calibri" panose="020F0502020204030204" pitchFamily="34" charset="0"/>
                <a:ea typeface="Calibri" panose="020F0502020204030204" pitchFamily="34" charset="0"/>
                <a:cs typeface="Calibri" panose="020F0502020204030204" pitchFamily="34" charset="0"/>
              </a:rPr>
              <a:t>i</a:t>
            </a:r>
            <a:r>
              <a:rPr lang="vi-VN" sz="3000" spc="100">
                <a:solidFill>
                  <a:srgbClr val="002060"/>
                </a:solidFill>
                <a:effectLst/>
                <a:latin typeface="Calibri" panose="020F0502020204030204" pitchFamily="34" charset="0"/>
                <a:ea typeface="Calibri" panose="020F0502020204030204" pitchFamily="34" charset="0"/>
                <a:cs typeface="Calibri" panose="020F0502020204030204" pitchFamily="34" charset="0"/>
              </a:rPr>
              <a:t>n</a:t>
            </a:r>
            <a:r>
              <a:rPr lang="vi-VN" sz="3000" spc="-525">
                <a:solidFill>
                  <a:srgbClr val="002060"/>
                </a:solidFill>
                <a:effectLst/>
                <a:latin typeface="Calibri" panose="020F0502020204030204" pitchFamily="34" charset="0"/>
                <a:ea typeface="Calibri" panose="020F0502020204030204" pitchFamily="34" charset="0"/>
                <a:cs typeface="Calibri" panose="020F0502020204030204" pitchFamily="34" charset="0"/>
              </a:rPr>
              <a:t>h</a:t>
            </a:r>
            <a:r>
              <a:rPr lang="vi-VN" sz="3000" spc="19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tế,</a:t>
            </a:r>
            <a:r>
              <a:rPr lang="vi-VN" sz="3000" spc="11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HKD,</a:t>
            </a:r>
            <a:r>
              <a:rPr lang="vi-VN" sz="3000" spc="9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CNKD</a:t>
            </a:r>
            <a:r>
              <a:rPr lang="vi-VN" sz="3000" spc="9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có</a:t>
            </a:r>
            <a:r>
              <a:rPr lang="vi-VN" sz="3000" spc="9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hoạt</a:t>
            </a:r>
            <a:r>
              <a:rPr lang="vi-VN" sz="3000" spc="6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động</a:t>
            </a:r>
            <a:r>
              <a:rPr lang="vi-VN" sz="3000" spc="7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bán</a:t>
            </a:r>
            <a:r>
              <a:rPr lang="vi-VN" sz="3000" spc="9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20">
                <a:solidFill>
                  <a:srgbClr val="002060"/>
                </a:solidFill>
                <a:effectLst/>
                <a:latin typeface="Calibri" panose="020F0502020204030204" pitchFamily="34" charset="0"/>
                <a:ea typeface="Calibri" panose="020F0502020204030204" pitchFamily="34" charset="0"/>
                <a:cs typeface="Calibri" panose="020F0502020204030204" pitchFamily="34" charset="0"/>
              </a:rPr>
              <a:t>hang</a:t>
            </a:r>
            <a:r>
              <a:rPr lang="en-US" sz="3000" spc="-2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vi-VN" sz="3000">
                <a:solidFill>
                  <a:srgbClr val="002060"/>
                </a:solidFill>
                <a:effectLst/>
                <a:latin typeface="Calibri" panose="020F0502020204030204" pitchFamily="34" charset="0"/>
                <a:ea typeface="Calibri" panose="020F0502020204030204" pitchFamily="34" charset="0"/>
                <a:cs typeface="Calibri" panose="020F0502020204030204" pitchFamily="34" charset="0"/>
              </a:rPr>
              <a:t>hóa, cung cấp dịch vụ trực tiếp đến người tiêu dùng đã đăng ký sử dụng hóa đơn điện tử có mã hoặc không có mã theo quy định tại điểm a, điểm b khoản này thì không bắt buộc đăng ký sử dụng hóa đơn điện tử từ máy tính tiền;</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339725">
              <a:spcBef>
                <a:spcPts val="1050"/>
              </a:spcBef>
              <a:spcAft>
                <a:spcPts val="0"/>
              </a:spcAft>
            </a:pPr>
            <a:r>
              <a:rPr lang="en-US" sz="3000" b="1">
                <a:solidFill>
                  <a:srgbClr val="002060"/>
                </a:solidFill>
                <a:effectLst/>
                <a:latin typeface="Calibri" panose="020F0502020204030204" pitchFamily="34" charset="0"/>
                <a:ea typeface="Calibri" panose="020F0502020204030204" pitchFamily="34" charset="0"/>
                <a:cs typeface="Calibri" panose="020F0502020204030204" pitchFamily="34" charset="0"/>
              </a:rPr>
              <a:t>    - Hóa đơn của HKD,CNKD: </a:t>
            </a:r>
          </a:p>
          <a:p>
            <a:pPr marL="339725">
              <a:spcBef>
                <a:spcPts val="1050"/>
              </a:spcBef>
              <a:spcAft>
                <a:spcPts val="0"/>
              </a:spcAft>
            </a:pPr>
            <a:r>
              <a:rPr lang="en-US" sz="3000" b="1">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990033"/>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5">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10">
                <a:solidFill>
                  <a:srgbClr val="990033"/>
                </a:solidFill>
                <a:effectLst/>
                <a:latin typeface="Calibri" panose="020F0502020204030204" pitchFamily="34" charset="0"/>
                <a:ea typeface="Calibri" panose="020F0502020204030204" pitchFamily="34" charset="0"/>
                <a:cs typeface="Calibri" panose="020F0502020204030204" pitchFamily="34" charset="0"/>
              </a:rPr>
              <a:t>sung</a:t>
            </a:r>
            <a:r>
              <a:rPr lang="vi-VN" sz="3000" b="1" spc="-10">
                <a:solidFill>
                  <a:srgbClr val="002060"/>
                </a:solidFill>
                <a:effectLst/>
                <a:latin typeface="Calibri" panose="020F0502020204030204" pitchFamily="34" charset="0"/>
                <a:ea typeface="Calibri" panose="020F0502020204030204" pitchFamily="34" charset="0"/>
                <a:cs typeface="Calibri" panose="020F0502020204030204" pitchFamily="34" charset="0"/>
              </a:rPr>
              <a:t>:</a:t>
            </a:r>
            <a:endParaRPr lang="en-US" sz="3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342900" marR="323850" lvl="0" indent="-342900" algn="l">
              <a:lnSpc>
                <a:spcPct val="110000"/>
              </a:lnSpc>
              <a:spcBef>
                <a:spcPts val="1050"/>
              </a:spcBef>
              <a:spcAft>
                <a:spcPts val="0"/>
              </a:spcAft>
              <a:buFont typeface="Wingdings" panose="05000000000000000000" pitchFamily="2" charset="2"/>
              <a:buChar char=""/>
              <a:tabLst>
                <a:tab pos="584835" algn="l"/>
              </a:tabLst>
            </a:pP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có doanh thu năm trên 01 tỷ đồng</a:t>
            </a:r>
            <a:r>
              <a:rPr lang="vi-VN" sz="3000" spc="40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hoặc </a:t>
            </a:r>
            <a:r>
              <a:rPr lang="vi-VN" sz="3000" b="1" spc="0">
                <a:solidFill>
                  <a:srgbClr val="002060"/>
                </a:solidFill>
                <a:effectLst/>
                <a:latin typeface="Calibri" panose="020F0502020204030204" pitchFamily="34" charset="0"/>
                <a:ea typeface="Calibri" panose="020F0502020204030204" pitchFamily="34" charset="0"/>
                <a:cs typeface="Calibri" panose="020F0502020204030204" pitchFamily="34" charset="0"/>
              </a:rPr>
              <a:t>HKD, CNKD bán tài sản phải đăng ký quyền sở hữu, quyền sử dụng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thì phải áp dụng hóa đơn điện tử có mã của CQT, hóa đơn điện tử khởi tạo từ MTT.</a:t>
            </a:r>
            <a:endParaRPr lang="en-US" sz="3000" spc="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342900" marR="334010" lvl="0" indent="-342900" algn="l">
              <a:lnSpc>
                <a:spcPct val="110000"/>
              </a:lnSpc>
              <a:spcBef>
                <a:spcPts val="845"/>
              </a:spcBef>
              <a:spcAft>
                <a:spcPts val="0"/>
              </a:spcAft>
              <a:buFont typeface="Wingdings" panose="05000000000000000000" pitchFamily="2" charset="2"/>
              <a:buChar char=""/>
              <a:tabLst>
                <a:tab pos="584835" algn="l"/>
              </a:tabLst>
            </a:pP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HKD,</a:t>
            </a:r>
            <a:r>
              <a:rPr lang="vi-VN" sz="3000" spc="-2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CNKD</a:t>
            </a:r>
            <a:r>
              <a:rPr lang="vi-VN" sz="3000" spc="-1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không</a:t>
            </a:r>
            <a:r>
              <a:rPr lang="vi-VN" sz="3000" spc="-2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thuộc</a:t>
            </a:r>
            <a:r>
              <a:rPr lang="vi-VN" sz="3000" spc="-1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60">
                <a:solidFill>
                  <a:srgbClr val="002060"/>
                </a:solidFill>
                <a:effectLst/>
                <a:latin typeface="Calibri" panose="020F0502020204030204" pitchFamily="34" charset="0"/>
                <a:ea typeface="Calibri" panose="020F0502020204030204" pitchFamily="34" charset="0"/>
                <a:cs typeface="Calibri" panose="020F0502020204030204" pitchFamily="34" charset="0"/>
              </a:rPr>
              <a:t>t</a:t>
            </a:r>
            <a:r>
              <a:rPr lang="vi-VN" sz="3000" spc="85">
                <a:solidFill>
                  <a:srgbClr val="002060"/>
                </a:solidFill>
                <a:effectLst/>
                <a:latin typeface="Calibri" panose="020F0502020204030204" pitchFamily="34" charset="0"/>
                <a:ea typeface="Calibri" panose="020F0502020204030204" pitchFamily="34" charset="0"/>
                <a:cs typeface="Calibri" panose="020F0502020204030204" pitchFamily="34" charset="0"/>
              </a:rPr>
              <a:t>r</a:t>
            </a:r>
            <a:r>
              <a:rPr lang="vi-VN" sz="3000" spc="70">
                <a:solidFill>
                  <a:srgbClr val="002060"/>
                </a:solidFill>
                <a:effectLst/>
                <a:latin typeface="Calibri" panose="020F0502020204030204" pitchFamily="34" charset="0"/>
                <a:ea typeface="Calibri" panose="020F0502020204030204" pitchFamily="34" charset="0"/>
                <a:cs typeface="Calibri" panose="020F0502020204030204" pitchFamily="34" charset="0"/>
              </a:rPr>
              <a:t>ư</a:t>
            </a:r>
            <a:r>
              <a:rPr lang="vi-VN" sz="3000" spc="75">
                <a:solidFill>
                  <a:srgbClr val="002060"/>
                </a:solidFill>
                <a:effectLst/>
                <a:latin typeface="Calibri" panose="020F0502020204030204" pitchFamily="34" charset="0"/>
                <a:ea typeface="Calibri" panose="020F0502020204030204" pitchFamily="34" charset="0"/>
                <a:cs typeface="Calibri" panose="020F0502020204030204" pitchFamily="34" charset="0"/>
              </a:rPr>
              <a:t>ờ</a:t>
            </a:r>
            <a:r>
              <a:rPr lang="vi-VN" sz="3000" spc="-455">
                <a:solidFill>
                  <a:srgbClr val="002060"/>
                </a:solidFill>
                <a:effectLst/>
                <a:latin typeface="Calibri" panose="020F0502020204030204" pitchFamily="34" charset="0"/>
                <a:ea typeface="Calibri" panose="020F0502020204030204" pitchFamily="34" charset="0"/>
                <a:cs typeface="Calibri" panose="020F0502020204030204" pitchFamily="34" charset="0"/>
              </a:rPr>
              <a:t>n</a:t>
            </a:r>
            <a:r>
              <a:rPr lang="vi-VN" sz="3000" spc="-6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g hợp</a:t>
            </a:r>
            <a:r>
              <a:rPr lang="vi-VN" sz="3000" spc="-1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sử</a:t>
            </a:r>
            <a:r>
              <a:rPr lang="vi-VN" sz="3000" spc="-1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dụng</a:t>
            </a:r>
            <a:r>
              <a:rPr lang="vi-VN" sz="3000" spc="-2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hóa</a:t>
            </a:r>
            <a:r>
              <a:rPr lang="vi-VN" sz="3000" spc="-15">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đơn</a:t>
            </a:r>
            <a:r>
              <a:rPr lang="vi-VN" sz="3000" spc="-1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điện</a:t>
            </a:r>
            <a:r>
              <a:rPr lang="vi-VN" sz="3000" spc="-1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002060"/>
                </a:solidFill>
                <a:effectLst/>
                <a:latin typeface="Calibri" panose="020F0502020204030204" pitchFamily="34" charset="0"/>
                <a:ea typeface="Calibri" panose="020F0502020204030204" pitchFamily="34" charset="0"/>
                <a:cs typeface="Calibri" panose="020F0502020204030204" pitchFamily="34" charset="0"/>
              </a:rPr>
              <a:t>tử mà có nhu cầu sử dụng hóa đơn điện tử thì đăng ký sử dụng hóa đơn điện tử có mã của cơ quan thuế hoặc hóa đơn điện tử khởi tạo từ máy tính tiền có kết nối dữ liệu với cơ quan thuế.</a:t>
            </a:r>
            <a:endParaRPr lang="en-US" sz="3000" spc="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339725" marR="285750" algn="just">
              <a:lnSpc>
                <a:spcPct val="105000"/>
              </a:lnSpc>
              <a:spcBef>
                <a:spcPts val="80"/>
              </a:spcBef>
              <a:spcAft>
                <a:spcPts val="0"/>
              </a:spcAft>
            </a:pPr>
            <a:endParaRPr lang="en-US" sz="1100">
              <a:effectLst/>
              <a:latin typeface="Times New Roman" panose="02020603050405020304" pitchFamily="18" charset="0"/>
              <a:ea typeface="Times New Roman" panose="02020603050405020304" pitchFamily="18" charset="0"/>
            </a:endParaRPr>
          </a:p>
          <a:p>
            <a:pPr marL="339725" marR="285750" algn="just">
              <a:lnSpc>
                <a:spcPct val="105000"/>
              </a:lnSpc>
              <a:spcBef>
                <a:spcPts val="80"/>
              </a:spcBef>
              <a:spcAft>
                <a:spcPts val="0"/>
              </a:spcAft>
            </a:pPr>
            <a:endParaRPr lang="en-US" sz="1100">
              <a:effectLst/>
              <a:latin typeface="Times New Roman" panose="02020603050405020304" pitchFamily="18" charset="0"/>
              <a:ea typeface="Times New Roman" panose="02020603050405020304" pitchFamily="18" charset="0"/>
            </a:endParaRPr>
          </a:p>
          <a:p>
            <a:r>
              <a:rPr lang="vi-VN" sz="1050">
                <a:effectLst/>
                <a:latin typeface="Times New Roman" panose="02020603050405020304" pitchFamily="18" charset="0"/>
                <a:ea typeface="Times New Roman" panose="02020603050405020304" pitchFamily="18" charset="0"/>
              </a:rPr>
              <a:t> </a:t>
            </a:r>
            <a:endParaRPr lang="en-US" sz="1400">
              <a:effectLst/>
              <a:latin typeface="Times New Roman" panose="02020603050405020304" pitchFamily="18" charset="0"/>
              <a:ea typeface="Times New Roman" panose="02020603050405020304" pitchFamily="18" charset="0"/>
            </a:endParaRPr>
          </a:p>
          <a:p>
            <a:endParaRPr lang="en-US"/>
          </a:p>
        </p:txBody>
      </p:sp>
    </p:spTree>
    <p:extLst>
      <p:ext uri="{BB962C8B-B14F-4D97-AF65-F5344CB8AC3E}">
        <p14:creationId xmlns:p14="http://schemas.microsoft.com/office/powerpoint/2010/main" val="277416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67C4F-782A-4277-B92B-65B2128B6F15}"/>
              </a:ext>
            </a:extLst>
          </p:cNvPr>
          <p:cNvSpPr>
            <a:spLocks noGrp="1"/>
          </p:cNvSpPr>
          <p:nvPr>
            <p:ph type="title"/>
          </p:nvPr>
        </p:nvSpPr>
        <p:spPr>
          <a:xfrm>
            <a:off x="914400" y="914401"/>
            <a:ext cx="16456027" cy="730250"/>
          </a:xfrm>
        </p:spPr>
        <p:txBody>
          <a:bodyPr/>
          <a:lstStyle/>
          <a:p>
            <a:r>
              <a:rPr lang="en-US" sz="4000">
                <a:solidFill>
                  <a:srgbClr val="002060"/>
                </a:solidFill>
                <a:latin typeface="Arial Bold" panose="020B0704020202020204" pitchFamily="34" charset="0"/>
                <a:cs typeface="Arial Bold" panose="020B0704020202020204" pitchFamily="34" charset="0"/>
              </a:rPr>
              <a:t>ĐỐI TƯỢNG SỬ DỤNG HÓA ĐƠN ĐIỆN TỬ </a:t>
            </a:r>
          </a:p>
        </p:txBody>
      </p:sp>
      <p:sp>
        <p:nvSpPr>
          <p:cNvPr id="4" name="Rectangle 2">
            <a:extLst>
              <a:ext uri="{FF2B5EF4-FFF2-40B4-BE49-F238E27FC236}">
                <a16:creationId xmlns:a16="http://schemas.microsoft.com/office/drawing/2014/main" id="{1B2F12BF-49DB-470D-9452-0290F0C95DC5}"/>
              </a:ext>
            </a:extLst>
          </p:cNvPr>
          <p:cNvSpPr>
            <a:spLocks noChangeArrowheads="1"/>
          </p:cNvSpPr>
          <p:nvPr/>
        </p:nvSpPr>
        <p:spPr bwMode="auto">
          <a:xfrm>
            <a:off x="0" y="1943100"/>
            <a:ext cx="17522827"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84016" tIns="45720" rIns="91440" bIns="45720" numCol="1" anchor="ctr" anchorCtr="0" compatLnSpc="1">
            <a:prstTxWarp prst="textNoShape">
              <a:avLst/>
            </a:prstTxWarp>
            <a:spAutoFit/>
          </a:bodyPr>
          <a:lstStyle>
            <a:lvl1pPr eaLnBrk="0" fontAlgn="base" hangingPunct="0">
              <a:spcBef>
                <a:spcPct val="0"/>
              </a:spcBef>
              <a:spcAft>
                <a:spcPct val="0"/>
              </a:spcAft>
              <a:tabLst>
                <a:tab pos="584200" algn="l"/>
              </a:tabLst>
              <a:defRPr>
                <a:solidFill>
                  <a:schemeClr val="tx1"/>
                </a:solidFill>
                <a:latin typeface="Arial" panose="020B0604020202020204" pitchFamily="34" charset="0"/>
              </a:defRPr>
            </a:lvl1pPr>
            <a:lvl2pPr eaLnBrk="0" fontAlgn="base" hangingPunct="0">
              <a:spcBef>
                <a:spcPct val="0"/>
              </a:spcBef>
              <a:spcAft>
                <a:spcPct val="0"/>
              </a:spcAft>
              <a:tabLst>
                <a:tab pos="584200" algn="l"/>
              </a:tabLst>
              <a:defRPr>
                <a:solidFill>
                  <a:schemeClr val="tx1"/>
                </a:solidFill>
                <a:latin typeface="Arial" panose="020B0604020202020204" pitchFamily="34" charset="0"/>
              </a:defRPr>
            </a:lvl2pPr>
            <a:lvl3pPr eaLnBrk="0" fontAlgn="base" hangingPunct="0">
              <a:spcBef>
                <a:spcPct val="0"/>
              </a:spcBef>
              <a:spcAft>
                <a:spcPct val="0"/>
              </a:spcAft>
              <a:tabLst>
                <a:tab pos="584200" algn="l"/>
              </a:tabLst>
              <a:defRPr>
                <a:solidFill>
                  <a:schemeClr val="tx1"/>
                </a:solidFill>
                <a:latin typeface="Arial" panose="020B0604020202020204" pitchFamily="34" charset="0"/>
              </a:defRPr>
            </a:lvl3pPr>
            <a:lvl4pPr eaLnBrk="0" fontAlgn="base" hangingPunct="0">
              <a:spcBef>
                <a:spcPct val="0"/>
              </a:spcBef>
              <a:spcAft>
                <a:spcPct val="0"/>
              </a:spcAft>
              <a:tabLst>
                <a:tab pos="584200" algn="l"/>
              </a:tabLst>
              <a:defRPr>
                <a:solidFill>
                  <a:schemeClr val="tx1"/>
                </a:solidFill>
                <a:latin typeface="Arial" panose="020B0604020202020204" pitchFamily="34" charset="0"/>
              </a:defRPr>
            </a:lvl4pPr>
            <a:lvl5pPr eaLnBrk="0" fontAlgn="base" hangingPunct="0">
              <a:spcBef>
                <a:spcPct val="0"/>
              </a:spcBef>
              <a:spcAft>
                <a:spcPct val="0"/>
              </a:spcAft>
              <a:tabLst>
                <a:tab pos="584200" algn="l"/>
              </a:tabLst>
              <a:defRPr>
                <a:solidFill>
                  <a:schemeClr val="tx1"/>
                </a:solidFill>
                <a:latin typeface="Arial" panose="020B0604020202020204" pitchFamily="34" charset="0"/>
              </a:defRPr>
            </a:lvl5pPr>
            <a:lvl6pPr eaLnBrk="0" fontAlgn="base" hangingPunct="0">
              <a:spcBef>
                <a:spcPct val="0"/>
              </a:spcBef>
              <a:spcAft>
                <a:spcPct val="0"/>
              </a:spcAft>
              <a:tabLst>
                <a:tab pos="584200" algn="l"/>
              </a:tabLst>
              <a:defRPr>
                <a:solidFill>
                  <a:schemeClr val="tx1"/>
                </a:solidFill>
                <a:latin typeface="Arial" panose="020B0604020202020204" pitchFamily="34" charset="0"/>
              </a:defRPr>
            </a:lvl6pPr>
            <a:lvl7pPr eaLnBrk="0" fontAlgn="base" hangingPunct="0">
              <a:spcBef>
                <a:spcPct val="0"/>
              </a:spcBef>
              <a:spcAft>
                <a:spcPct val="0"/>
              </a:spcAft>
              <a:tabLst>
                <a:tab pos="584200" algn="l"/>
              </a:tabLst>
              <a:defRPr>
                <a:solidFill>
                  <a:schemeClr val="tx1"/>
                </a:solidFill>
                <a:latin typeface="Arial" panose="020B0604020202020204" pitchFamily="34" charset="0"/>
              </a:defRPr>
            </a:lvl7pPr>
            <a:lvl8pPr eaLnBrk="0" fontAlgn="base" hangingPunct="0">
              <a:spcBef>
                <a:spcPct val="0"/>
              </a:spcBef>
              <a:spcAft>
                <a:spcPct val="0"/>
              </a:spcAft>
              <a:tabLst>
                <a:tab pos="584200" algn="l"/>
              </a:tabLst>
              <a:defRPr>
                <a:solidFill>
                  <a:schemeClr val="tx1"/>
                </a:solidFill>
                <a:latin typeface="Arial" panose="020B0604020202020204" pitchFamily="34" charset="0"/>
              </a:defRPr>
            </a:lvl8pPr>
            <a:lvl9pPr eaLnBrk="0" fontAlgn="base" hangingPunct="0">
              <a:spcBef>
                <a:spcPct val="0"/>
              </a:spcBef>
              <a:spcAft>
                <a:spcPct val="0"/>
              </a:spcAft>
              <a:tabLst>
                <a:tab pos="584200" algn="l"/>
              </a:tabLst>
              <a:defRPr>
                <a:solidFill>
                  <a:schemeClr val="tx1"/>
                </a:solidFill>
                <a:latin typeface="Arial" panose="020B0604020202020204" pitchFamily="34" charset="0"/>
              </a:defRPr>
            </a:lvl9pPr>
          </a:lstStyle>
          <a:p>
            <a:pPr marL="914400" marR="0" lvl="1" indent="-457200" algn="l" defTabSz="914400" rtl="0" eaLnBrk="0" fontAlgn="base" latinLnBrk="0" hangingPunct="0">
              <a:lnSpc>
                <a:spcPct val="100000"/>
              </a:lnSpc>
              <a:spcBef>
                <a:spcPts val="600"/>
              </a:spcBef>
              <a:spcAft>
                <a:spcPct val="0"/>
              </a:spcAft>
              <a:buClrTx/>
              <a:buSzTx/>
              <a:buFontTx/>
              <a:buChar char="-"/>
              <a:tabLst>
                <a:tab pos="584200" algn="l"/>
              </a:tabLst>
            </a:pPr>
            <a:r>
              <a:rPr kumimoji="0" lang="vi-VN" altLang="en-US" sz="3500" b="1" i="0" u="none" strike="noStrike" cap="none" normalizeH="0" baseline="0">
                <a:ln>
                  <a:noFill/>
                </a:ln>
                <a:solidFill>
                  <a:srgbClr val="BF0000"/>
                </a:solidFill>
                <a:effectLst/>
                <a:latin typeface="Calibri" panose="020F0502020204030204" pitchFamily="34" charset="0"/>
                <a:ea typeface="Calibri" panose="020F0502020204030204" pitchFamily="34" charset="0"/>
                <a:cs typeface="Calibri" panose="020F0502020204030204" pitchFamily="34" charset="0"/>
              </a:rPr>
              <a:t>Cấp hóa đơn có mã từng lần phát sinh:</a:t>
            </a:r>
            <a:endParaRPr lang="en-US" altLang="en-US" sz="3500" b="1">
              <a:latin typeface="Calibri" panose="020F0502020204030204" pitchFamily="34" charset="0"/>
              <a:ea typeface="Calibri" panose="020F0502020204030204" pitchFamily="34" charset="0"/>
              <a:cs typeface="Calibri" panose="020F0502020204030204" pitchFamily="34" charset="0"/>
            </a:endParaRPr>
          </a:p>
          <a:p>
            <a:pPr marR="0" lvl="1" algn="just" defTabSz="914400" rtl="0" eaLnBrk="0" fontAlgn="base" latinLnBrk="0" hangingPunct="0">
              <a:lnSpc>
                <a:spcPct val="100000"/>
              </a:lnSpc>
              <a:spcBef>
                <a:spcPts val="600"/>
              </a:spcBef>
              <a:spcAft>
                <a:spcPct val="0"/>
              </a:spcAft>
              <a:buClrTx/>
              <a:buSzTx/>
              <a:tabLst>
                <a:tab pos="584200" algn="l"/>
              </a:tabLst>
            </a:pPr>
            <a:r>
              <a:rPr lang="en-US" sz="3500">
                <a:sym typeface="Wingdings 2"/>
              </a:rPr>
              <a:t></a:t>
            </a:r>
            <a:r>
              <a:rPr lang="en-US" sz="35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Sửa đổi</a:t>
            </a:r>
            <a:r>
              <a:rPr kumimoji="0" lang="vi-VN" altLang="en-US" sz="3500" b="1" i="0"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en-US" sz="3500" b="0" i="0"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Tổ chức không KD nhưng có phát sinh giao dịch bán HH, cung cấp DV</a:t>
            </a:r>
            <a:r>
              <a:rPr kumimoji="0" lang="en-US" altLang="en-US" sz="3500" b="0" i="0"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 t</a:t>
            </a:r>
            <a:r>
              <a:rPr kumimoji="0" lang="en-US" altLang="en-US" sz="3500" b="0" i="0" u="none" strike="noStrike" cap="none" normalizeH="0" baseline="0">
                <a:ln>
                  <a:noFill/>
                </a:ln>
                <a:solidFill>
                  <a:srgbClr val="FF0000"/>
                </a:solidFill>
                <a:effectLst/>
                <a:latin typeface="Calibri" panose="020F0502020204030204" pitchFamily="34" charset="0"/>
                <a:ea typeface="Calibri" panose="020F0502020204030204" pitchFamily="34" charset="0"/>
                <a:cs typeface="Calibri" panose="020F0502020204030204" pitchFamily="34" charset="0"/>
              </a:rPr>
              <a:t>huộc đối tượng chịu thuế theo quy định của PL thuế GTGT, thuế TNDN và các loại thuế khác (nếu có</a:t>
            </a:r>
            <a:r>
              <a:rPr kumimoji="0" lang="en-US" altLang="en-US" sz="3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lang="en-US" altLang="en-US" sz="3500">
                <a:latin typeface="Calibri" panose="020F0502020204030204" pitchFamily="34" charset="0"/>
                <a:ea typeface="Calibri" panose="020F0502020204030204" pitchFamily="34" charset="0"/>
                <a:cs typeface="Calibri" panose="020F0502020204030204" pitchFamily="34" charset="0"/>
              </a:rPr>
              <a:t>;</a:t>
            </a:r>
          </a:p>
          <a:p>
            <a:pPr marR="0" lvl="1" algn="just" defTabSz="914400" rtl="0" eaLnBrk="0" fontAlgn="base" latinLnBrk="0" hangingPunct="0">
              <a:lnSpc>
                <a:spcPct val="100000"/>
              </a:lnSpc>
              <a:spcBef>
                <a:spcPts val="600"/>
              </a:spcBef>
              <a:spcAft>
                <a:spcPct val="0"/>
              </a:spcAft>
              <a:buClrTx/>
              <a:buSzTx/>
              <a:tabLst>
                <a:tab pos="584200" algn="l"/>
              </a:tabLst>
            </a:pPr>
            <a:r>
              <a:rPr lang="en-US" sz="3500">
                <a:sym typeface="Wingdings 2"/>
              </a:rPr>
              <a:t></a:t>
            </a:r>
            <a:r>
              <a:rPr lang="en-US" sz="3500">
                <a:solidFill>
                  <a:srgbClr val="FF0000"/>
                </a:solidFill>
                <a:sym typeface="Wingdings 2"/>
              </a:rPr>
              <a:t>Bổ sung</a:t>
            </a:r>
            <a:r>
              <a:rPr lang="en-US" sz="3500">
                <a:sym typeface="Wingdings 2"/>
              </a:rPr>
              <a:t>: </a:t>
            </a:r>
            <a:r>
              <a:rPr lang="en-US" sz="3500">
                <a:solidFill>
                  <a:schemeClr val="accent6">
                    <a:lumMod val="75000"/>
                  </a:schemeClr>
                </a:solidFill>
                <a:sym typeface="Wingdings 2"/>
              </a:rPr>
              <a:t>Cấp hóa đơn bán tài sản công có mã của cơ quan thuế theo từng lần phát sinh trong trường hợp cơ quan được giao nhiệm vụ tổ chức xử lý tài sản công là người nộp thuế GTGT bị cưỡng chế bằng biện pháp ngừng sử dụng hóa đơn</a:t>
            </a:r>
            <a:r>
              <a:rPr lang="en-US" sz="3500">
                <a:sym typeface="Wingdings 2"/>
              </a:rPr>
              <a:t>.</a:t>
            </a:r>
          </a:p>
          <a:p>
            <a:pPr marR="0" lvl="1" algn="just" defTabSz="914400" rtl="0" eaLnBrk="0" fontAlgn="base" latinLnBrk="0" hangingPunct="0">
              <a:lnSpc>
                <a:spcPct val="100000"/>
              </a:lnSpc>
              <a:spcBef>
                <a:spcPts val="600"/>
              </a:spcBef>
              <a:spcAft>
                <a:spcPct val="0"/>
              </a:spcAft>
              <a:buClrTx/>
              <a:buSzTx/>
              <a:tabLst>
                <a:tab pos="584200" algn="l"/>
              </a:tabLst>
            </a:pPr>
            <a:r>
              <a:rPr lang="en-US" sz="3500">
                <a:sym typeface="Wingdings 2"/>
              </a:rPr>
              <a:t></a:t>
            </a:r>
            <a:r>
              <a:rPr lang="en-US" sz="3500">
                <a:solidFill>
                  <a:srgbClr val="FF0000"/>
                </a:solidFill>
                <a:sym typeface="Wingdings 2"/>
              </a:rPr>
              <a:t>Bỏ</a:t>
            </a:r>
            <a:r>
              <a:rPr lang="en-US" sz="3500">
                <a:sym typeface="Wingdings 2"/>
              </a:rPr>
              <a:t>: </a:t>
            </a:r>
            <a:r>
              <a:rPr lang="en-US" sz="3500">
                <a:solidFill>
                  <a:schemeClr val="accent6">
                    <a:lumMod val="75000"/>
                  </a:schemeClr>
                </a:solidFill>
                <a:sym typeface="Wingdings 2"/>
              </a:rPr>
              <a:t>quy định cấp hóa đơn theo từng lần phát sinh đối với doanh nghiệp sau khi đã giải thể, phá sản, đã chấm dứt hiệu lực mã số thuế.</a:t>
            </a:r>
            <a:endParaRPr kumimoji="0" lang="en-US" altLang="en-US" sz="3500" b="0" i="0"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4200"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82">
            <a:extLst>
              <a:ext uri="{FF2B5EF4-FFF2-40B4-BE49-F238E27FC236}">
                <a16:creationId xmlns:a16="http://schemas.microsoft.com/office/drawing/2014/main" id="{B27936F6-6B31-4282-BFF0-2E8356A4F5F8}"/>
              </a:ext>
            </a:extLst>
          </p:cNvPr>
          <p:cNvSpPr txBox="1">
            <a:spLocks noChangeArrowheads="1"/>
          </p:cNvSpPr>
          <p:nvPr/>
        </p:nvSpPr>
        <p:spPr bwMode="auto">
          <a:xfrm>
            <a:off x="3444875" y="3405188"/>
            <a:ext cx="61913" cy="6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400" b="0" i="0" u="none" strike="noStrike" cap="none" normalizeH="0" baseline="0">
                <a:ln>
                  <a:noFill/>
                </a:ln>
                <a:solidFill>
                  <a:srgbClr val="898989"/>
                </a:solidFill>
                <a:effectLst/>
                <a:latin typeface="Arial" panose="020B0604020202020204" pitchFamily="34" charset="0"/>
                <a:ea typeface="Times New Roman" panose="02020603050405020304" pitchFamily="18" charset="0"/>
                <a:cs typeface="Arial" panose="020B0604020202020204" pitchFamily="34" charset="0"/>
              </a:rPr>
              <a:t>12</a:t>
            </a:r>
            <a:endParaRPr kumimoji="0" lang="vi-VN"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7293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72301-2065-498D-BADB-69F73A321953}"/>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ĐỐI TƯỢNG SỬ DỤNG HÓA ĐƠN ĐIỆN TỬ </a:t>
            </a:r>
          </a:p>
        </p:txBody>
      </p:sp>
      <p:sp>
        <p:nvSpPr>
          <p:cNvPr id="3" name="Content Placeholder 2">
            <a:extLst>
              <a:ext uri="{FF2B5EF4-FFF2-40B4-BE49-F238E27FC236}">
                <a16:creationId xmlns:a16="http://schemas.microsoft.com/office/drawing/2014/main" id="{139FC730-6BE7-431C-9AA1-0F27BDE23330}"/>
              </a:ext>
            </a:extLst>
          </p:cNvPr>
          <p:cNvSpPr>
            <a:spLocks noGrp="1"/>
          </p:cNvSpPr>
          <p:nvPr>
            <p:ph idx="1"/>
          </p:nvPr>
        </p:nvSpPr>
        <p:spPr/>
        <p:txBody>
          <a:bodyPr/>
          <a:lstStyle/>
          <a:p>
            <a:pPr marL="742950" lvl="1" indent="-285750">
              <a:spcBef>
                <a:spcPts val="35"/>
              </a:spcBef>
              <a:spcAft>
                <a:spcPts val="0"/>
              </a:spcAft>
              <a:buFont typeface="Wingdings" panose="05000000000000000000" pitchFamily="2" charset="2"/>
              <a:buChar char=""/>
              <a:tabLst>
                <a:tab pos="584200" algn="l"/>
              </a:tabLst>
            </a:pP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Sử</a:t>
            </a:r>
            <a:r>
              <a:rPr lang="vi-VN" sz="3000" b="1" spc="2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dụng</a:t>
            </a:r>
            <a:r>
              <a:rPr lang="vi-VN" sz="3000" b="1" spc="2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hóa</a:t>
            </a:r>
            <a:r>
              <a:rPr lang="vi-VN" sz="3000" b="1" spc="1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đơn</a:t>
            </a:r>
            <a:r>
              <a:rPr lang="vi-VN" sz="3000" b="1" spc="4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trong</a:t>
            </a:r>
            <a:r>
              <a:rPr lang="vi-VN" sz="3000" b="1" spc="-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1</a:t>
            </a:r>
            <a:r>
              <a:rPr lang="vi-VN" sz="3000" b="1" spc="2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số</a:t>
            </a:r>
            <a:r>
              <a:rPr lang="vi-VN" sz="3000" b="1" spc="2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trường</a:t>
            </a:r>
            <a:r>
              <a:rPr lang="vi-VN" sz="3000" b="1" spc="1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hợp</a:t>
            </a:r>
            <a:r>
              <a:rPr lang="vi-VN" sz="3000" b="1" spc="3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cụ</a:t>
            </a:r>
            <a:r>
              <a:rPr lang="vi-VN" sz="3000" b="1" spc="3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20">
                <a:solidFill>
                  <a:srgbClr val="BF0000"/>
                </a:solidFill>
                <a:effectLst/>
                <a:latin typeface="Calibri" panose="020F0502020204030204" pitchFamily="34" charset="0"/>
                <a:ea typeface="Calibri" panose="020F0502020204030204" pitchFamily="34" charset="0"/>
                <a:cs typeface="Calibri" panose="020F0502020204030204" pitchFamily="34" charset="0"/>
              </a:rPr>
              <a:t>thể:</a:t>
            </a:r>
            <a:endParaRPr lang="en-US" sz="3000" b="1" spc="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l">
              <a:spcBef>
                <a:spcPts val="670"/>
              </a:spcBef>
              <a:buFont typeface="Wingdings" panose="05000000000000000000" pitchFamily="2" charset="2"/>
              <a:buChar char=""/>
              <a:tabLst>
                <a:tab pos="584835" algn="l"/>
              </a:tabLst>
            </a:pP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25">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10">
                <a:solidFill>
                  <a:srgbClr val="FF0000"/>
                </a:solidFill>
                <a:effectLst/>
                <a:latin typeface="Calibri" panose="020F0502020204030204" pitchFamily="34" charset="0"/>
                <a:ea typeface="Calibri" panose="020F0502020204030204" pitchFamily="34" charset="0"/>
                <a:cs typeface="Calibri" panose="020F0502020204030204" pitchFamily="34" charset="0"/>
              </a:rPr>
              <a:t>sung:</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0" marR="287020" lvl="0" indent="0" algn="just">
              <a:lnSpc>
                <a:spcPct val="106000"/>
              </a:lnSpc>
              <a:spcBef>
                <a:spcPts val="670"/>
              </a:spcBef>
              <a:spcAft>
                <a:spcPts val="0"/>
              </a:spcAft>
              <a:buSzPts val="1400"/>
              <a:tabLst>
                <a:tab pos="570865" algn="l"/>
              </a:tabLst>
            </a:pPr>
            <a:r>
              <a:rPr lang="en-US" sz="3000" spc="-30">
                <a:effectLst/>
                <a:latin typeface="Calibri" panose="020F0502020204030204" pitchFamily="34" charset="0"/>
                <a:ea typeface="Calibri" panose="020F0502020204030204" pitchFamily="34" charset="0"/>
                <a:cs typeface="Calibri" panose="020F0502020204030204" pitchFamily="34" charset="0"/>
              </a:rPr>
              <a:t>   (i) </a:t>
            </a:r>
            <a:r>
              <a:rPr lang="vi-VN" sz="3000" spc="-30">
                <a:effectLst/>
                <a:latin typeface="Calibri" panose="020F0502020204030204" pitchFamily="34" charset="0"/>
                <a:ea typeface="Calibri" panose="020F0502020204030204" pitchFamily="34" charset="0"/>
                <a:cs typeface="Calibri" panose="020F0502020204030204" pitchFamily="34" charset="0"/>
              </a:rPr>
              <a:t>Cơ</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sở</a:t>
            </a:r>
            <a:r>
              <a:rPr lang="vi-VN" sz="3000" spc="18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nhận</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uỷ</a:t>
            </a:r>
            <a:r>
              <a:rPr lang="vi-VN" sz="3000" spc="1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thác</a:t>
            </a:r>
            <a:r>
              <a:rPr lang="vi-VN" sz="3000" spc="16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xuất</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khẩu</a:t>
            </a:r>
            <a:r>
              <a:rPr lang="vi-VN" sz="3000" spc="17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lập</a:t>
            </a:r>
            <a:r>
              <a:rPr lang="vi-VN" sz="3000" spc="15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hóa</a:t>
            </a:r>
            <a:r>
              <a:rPr lang="vi-VN" sz="3000" spc="16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đơn</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giá</a:t>
            </a:r>
            <a:r>
              <a:rPr lang="vi-VN" sz="3000" spc="16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trị</a:t>
            </a:r>
            <a:r>
              <a:rPr lang="vi-VN" sz="3000" spc="15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gia</a:t>
            </a:r>
            <a:r>
              <a:rPr lang="vi-VN" sz="3000" spc="16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tăng</a:t>
            </a:r>
            <a:r>
              <a:rPr lang="vi-VN" sz="3000" spc="15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điện</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tử</a:t>
            </a:r>
            <a:r>
              <a:rPr lang="vi-VN" sz="3000" spc="16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hoặc</a:t>
            </a:r>
            <a:r>
              <a:rPr lang="vi-VN" sz="3000" spc="14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hóa</a:t>
            </a:r>
            <a:r>
              <a:rPr lang="vi-VN" sz="3000" spc="16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đơn bán hàng điện tử để thu phí ủy thác của cơ sở có hàng hóa ủy thác;</a:t>
            </a:r>
            <a:endParaRPr lang="en-US" sz="3000" spc="-30">
              <a:effectLst/>
              <a:latin typeface="Calibri" panose="020F0502020204030204" pitchFamily="34" charset="0"/>
              <a:ea typeface="Calibri" panose="020F0502020204030204" pitchFamily="34" charset="0"/>
              <a:cs typeface="Calibri" panose="020F0502020204030204" pitchFamily="34" charset="0"/>
            </a:endParaRPr>
          </a:p>
          <a:p>
            <a:pPr marL="0" marR="285115" lvl="0" indent="0" algn="just">
              <a:lnSpc>
                <a:spcPct val="106000"/>
              </a:lnSpc>
              <a:spcBef>
                <a:spcPts val="555"/>
              </a:spcBef>
              <a:spcAft>
                <a:spcPts val="0"/>
              </a:spcAft>
              <a:buSzPts val="1400"/>
              <a:tabLst>
                <a:tab pos="613410" algn="l"/>
              </a:tabLst>
            </a:pPr>
            <a:r>
              <a:rPr lang="en-US" sz="3000" spc="-30">
                <a:effectLst/>
                <a:latin typeface="Calibri" panose="020F0502020204030204" pitchFamily="34" charset="0"/>
                <a:ea typeface="Calibri" panose="020F0502020204030204" pitchFamily="34" charset="0"/>
                <a:cs typeface="Calibri" panose="020F0502020204030204" pitchFamily="34" charset="0"/>
              </a:rPr>
              <a:t>   (ii)</a:t>
            </a:r>
            <a:r>
              <a:rPr lang="vi-VN" sz="3000" spc="-30">
                <a:effectLst/>
                <a:latin typeface="Calibri" panose="020F0502020204030204" pitchFamily="34" charset="0"/>
                <a:ea typeface="Calibri" panose="020F0502020204030204" pitchFamily="34" charset="0"/>
                <a:cs typeface="Calibri" panose="020F0502020204030204" pitchFamily="34" charset="0"/>
              </a:rPr>
              <a:t>Trường</a:t>
            </a:r>
            <a:r>
              <a:rPr lang="vi-VN" sz="3000" spc="1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hợp</a:t>
            </a:r>
            <a:r>
              <a:rPr lang="vi-VN" sz="3000" spc="11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các</a:t>
            </a:r>
            <a:r>
              <a:rPr lang="vi-VN" sz="3000" spc="11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bên</a:t>
            </a:r>
            <a:r>
              <a:rPr lang="vi-VN" sz="3000" spc="1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tham gia</a:t>
            </a:r>
            <a:r>
              <a:rPr lang="vi-VN" sz="3000" spc="11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hợp</a:t>
            </a:r>
            <a:r>
              <a:rPr lang="vi-VN" sz="3000" spc="1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đồng</a:t>
            </a:r>
            <a:r>
              <a:rPr lang="vi-VN" sz="3000" spc="1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hợp</a:t>
            </a:r>
            <a:r>
              <a:rPr lang="vi-VN" sz="3000" spc="1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tác</a:t>
            </a:r>
            <a:r>
              <a:rPr lang="vi-VN" sz="3000" spc="12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kinh</a:t>
            </a:r>
            <a:r>
              <a:rPr lang="vi-VN" sz="3000" spc="11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doanh</a:t>
            </a:r>
            <a:r>
              <a:rPr lang="vi-VN" sz="3000" spc="11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phân</a:t>
            </a:r>
            <a:r>
              <a:rPr lang="vi-VN" sz="3000" spc="1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chia</a:t>
            </a:r>
            <a:r>
              <a:rPr lang="vi-VN" sz="3000" spc="11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doanh</a:t>
            </a:r>
            <a:r>
              <a:rPr lang="vi-VN" sz="3000" spc="11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thu và</a:t>
            </a:r>
            <a:r>
              <a:rPr lang="vi-VN" sz="3000" spc="4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có</a:t>
            </a:r>
            <a:r>
              <a:rPr lang="vi-VN" sz="3000" spc="3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thỏa</a:t>
            </a:r>
            <a:r>
              <a:rPr lang="vi-VN" sz="3000" spc="4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thuận</a:t>
            </a:r>
            <a:r>
              <a:rPr lang="vi-VN" sz="3000" spc="3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cử</a:t>
            </a:r>
            <a:r>
              <a:rPr lang="vi-VN" sz="3000" spc="2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một</a:t>
            </a:r>
            <a:r>
              <a:rPr lang="vi-VN" sz="3000" spc="3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bên</a:t>
            </a:r>
            <a:r>
              <a:rPr lang="vi-VN" sz="3000" spc="4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làm</a:t>
            </a:r>
            <a:r>
              <a:rPr lang="vi-VN" sz="3000" spc="2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đại</a:t>
            </a:r>
            <a:r>
              <a:rPr lang="vi-VN" sz="3000" spc="3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diện</a:t>
            </a:r>
            <a:r>
              <a:rPr lang="vi-VN" sz="3000" spc="5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có</a:t>
            </a:r>
            <a:r>
              <a:rPr lang="vi-VN" sz="3000" spc="4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trách</a:t>
            </a:r>
            <a:r>
              <a:rPr lang="vi-VN" sz="3000" spc="5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nhiệm</a:t>
            </a:r>
            <a:r>
              <a:rPr lang="vi-VN" sz="3000" spc="2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lập</a:t>
            </a:r>
            <a:r>
              <a:rPr lang="vi-VN" sz="3000" spc="3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hóa</a:t>
            </a:r>
            <a:r>
              <a:rPr lang="vi-VN" sz="3000" spc="4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đơn</a:t>
            </a:r>
            <a:r>
              <a:rPr lang="vi-VN" sz="3000" spc="4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cho</a:t>
            </a:r>
            <a:r>
              <a:rPr lang="vi-VN" sz="3000" spc="3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khách</a:t>
            </a:r>
            <a:r>
              <a:rPr lang="vi-VN" sz="3000" spc="30">
                <a:effectLst/>
                <a:latin typeface="Calibri" panose="020F0502020204030204" pitchFamily="34" charset="0"/>
                <a:ea typeface="Calibri" panose="020F0502020204030204" pitchFamily="34" charset="0"/>
                <a:cs typeface="Calibri" panose="020F0502020204030204" pitchFamily="34" charset="0"/>
              </a:rPr>
              <a:t> </a:t>
            </a:r>
            <a:r>
              <a:rPr lang="vi-VN" sz="3000" spc="-20">
                <a:effectLst/>
                <a:latin typeface="Calibri" panose="020F0502020204030204" pitchFamily="34" charset="0"/>
                <a:ea typeface="Calibri" panose="020F0502020204030204" pitchFamily="34" charset="0"/>
                <a:cs typeface="Calibri" panose="020F0502020204030204" pitchFamily="34" charset="0"/>
              </a:rPr>
              <a:t>hàng</a:t>
            </a:r>
            <a:endParaRPr lang="en-US" sz="3000" spc="-30">
              <a:effectLst/>
              <a:latin typeface="Calibri" panose="020F0502020204030204" pitchFamily="34" charset="0"/>
              <a:ea typeface="Calibri" panose="020F0502020204030204" pitchFamily="34" charset="0"/>
              <a:cs typeface="Calibri" panose="020F0502020204030204" pitchFamily="34" charset="0"/>
            </a:endParaRPr>
          </a:p>
          <a:p>
            <a:pPr marL="339725" algn="just">
              <a:lnSpc>
                <a:spcPts val="1585"/>
              </a:lnSpc>
            </a:pPr>
            <a:r>
              <a:rPr lang="vi-VN" sz="3000">
                <a:effectLst/>
                <a:latin typeface="Calibri" panose="020F0502020204030204" pitchFamily="34" charset="0"/>
                <a:ea typeface="Calibri" panose="020F0502020204030204" pitchFamily="34" charset="0"/>
                <a:cs typeface="Calibri" panose="020F0502020204030204" pitchFamily="34" charset="0"/>
              </a:rPr>
              <a:t>thì</a:t>
            </a:r>
            <a:r>
              <a:rPr lang="vi-VN" sz="3000" spc="6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các</a:t>
            </a:r>
            <a:r>
              <a:rPr lang="vi-VN" sz="3000" spc="6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bên</a:t>
            </a:r>
            <a:r>
              <a:rPr lang="vi-VN" sz="3000" spc="8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còn</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lại</a:t>
            </a:r>
            <a:r>
              <a:rPr lang="vi-VN" sz="3000" spc="7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trong</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hợp</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đồng</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spc="140">
                <a:effectLst/>
                <a:latin typeface="Calibri" panose="020F0502020204030204" pitchFamily="34" charset="0"/>
                <a:ea typeface="Calibri" panose="020F0502020204030204" pitchFamily="34" charset="0"/>
                <a:cs typeface="Calibri" panose="020F0502020204030204" pitchFamily="34" charset="0"/>
              </a:rPr>
              <a:t>h</a:t>
            </a:r>
            <a:r>
              <a:rPr lang="vi-VN" sz="3000" spc="115">
                <a:effectLst/>
                <a:latin typeface="Calibri" panose="020F0502020204030204" pitchFamily="34" charset="0"/>
                <a:ea typeface="Calibri" panose="020F0502020204030204" pitchFamily="34" charset="0"/>
                <a:cs typeface="Calibri" panose="020F0502020204030204" pitchFamily="34" charset="0"/>
              </a:rPr>
              <a:t>ợ</a:t>
            </a:r>
            <a:r>
              <a:rPr lang="vi-VN" sz="3000" spc="-520">
                <a:effectLst/>
                <a:latin typeface="Calibri" panose="020F0502020204030204" pitchFamily="34" charset="0"/>
                <a:ea typeface="Calibri" panose="020F0502020204030204" pitchFamily="34" charset="0"/>
                <a:cs typeface="Calibri" panose="020F0502020204030204" pitchFamily="34" charset="0"/>
              </a:rPr>
              <a:t>p</a:t>
            </a:r>
            <a:r>
              <a:rPr lang="vi-VN" sz="3000" spc="130">
                <a:solidFill>
                  <a:srgbClr val="898989"/>
                </a:solidFill>
                <a:effectLst/>
                <a:latin typeface="Calibri" panose="020F0502020204030204" pitchFamily="34" charset="0"/>
                <a:ea typeface="Calibri" panose="020F0502020204030204" pitchFamily="34" charset="0"/>
                <a:cs typeface="Calibri" panose="020F0502020204030204" pitchFamily="34" charset="0"/>
              </a:rPr>
              <a:t>13</a:t>
            </a:r>
            <a:r>
              <a:rPr lang="vi-VN" sz="3000" spc="175">
                <a:solidFill>
                  <a:srgbClr val="898989"/>
                </a:solidFill>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tác</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kinh</a:t>
            </a:r>
            <a:r>
              <a:rPr lang="vi-VN" sz="3000" spc="8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doanh</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lập</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hóa</a:t>
            </a:r>
            <a:r>
              <a:rPr lang="vi-VN" sz="3000" spc="5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đơn</a:t>
            </a:r>
            <a:r>
              <a:rPr lang="vi-VN" sz="3000" spc="5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cho</a:t>
            </a:r>
            <a:r>
              <a:rPr lang="vi-VN" sz="3000" spc="7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bên</a:t>
            </a:r>
            <a:r>
              <a:rPr lang="vi-VN" sz="3000" spc="8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đại</a:t>
            </a:r>
            <a:r>
              <a:rPr lang="vi-VN" sz="3000" spc="60">
                <a:effectLst/>
                <a:latin typeface="Calibri" panose="020F0502020204030204" pitchFamily="34" charset="0"/>
                <a:ea typeface="Calibri" panose="020F0502020204030204" pitchFamily="34" charset="0"/>
                <a:cs typeface="Calibri" panose="020F0502020204030204" pitchFamily="34" charset="0"/>
              </a:rPr>
              <a:t> </a:t>
            </a:r>
            <a:r>
              <a:rPr lang="vi-VN" sz="3000" spc="-20">
                <a:effectLst/>
                <a:latin typeface="Calibri" panose="020F0502020204030204" pitchFamily="34" charset="0"/>
                <a:ea typeface="Calibri" panose="020F0502020204030204" pitchFamily="34" charset="0"/>
                <a:cs typeface="Calibri" panose="020F0502020204030204" pitchFamily="34" charset="0"/>
              </a:rPr>
              <a:t>diện</a:t>
            </a:r>
            <a:endParaRPr lang="en-US" sz="3000">
              <a:effectLst/>
              <a:latin typeface="Calibri" panose="020F0502020204030204" pitchFamily="34" charset="0"/>
              <a:ea typeface="Calibri" panose="020F0502020204030204" pitchFamily="34" charset="0"/>
              <a:cs typeface="Calibri" panose="020F0502020204030204" pitchFamily="34" charset="0"/>
            </a:endParaRPr>
          </a:p>
          <a:p>
            <a:pPr marL="339725" algn="just">
              <a:spcBef>
                <a:spcPts val="105"/>
              </a:spcBef>
              <a:spcAft>
                <a:spcPts val="0"/>
              </a:spcAft>
            </a:pPr>
            <a:r>
              <a:rPr lang="vi-VN" sz="3000">
                <a:effectLst/>
                <a:latin typeface="Calibri" panose="020F0502020204030204" pitchFamily="34" charset="0"/>
                <a:ea typeface="Calibri" panose="020F0502020204030204" pitchFamily="34" charset="0"/>
                <a:cs typeface="Calibri" panose="020F0502020204030204" pitchFamily="34" charset="0"/>
              </a:rPr>
              <a:t>phần</a:t>
            </a:r>
            <a:r>
              <a:rPr lang="vi-VN" sz="3000" spc="1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doanh</a:t>
            </a:r>
            <a:r>
              <a:rPr lang="vi-VN" sz="3000" spc="-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thu</a:t>
            </a:r>
            <a:r>
              <a:rPr lang="vi-VN" sz="3000" spc="1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được</a:t>
            </a:r>
            <a:r>
              <a:rPr lang="vi-VN" sz="3000" spc="4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chia</a:t>
            </a:r>
            <a:r>
              <a:rPr lang="vi-VN" sz="3000" spc="1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cho</a:t>
            </a:r>
            <a:r>
              <a:rPr lang="vi-VN" sz="3000" spc="3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từng</a:t>
            </a:r>
            <a:r>
              <a:rPr lang="vi-VN" sz="3000" spc="1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bên</a:t>
            </a:r>
            <a:r>
              <a:rPr lang="vi-VN" sz="3000" spc="1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theo</a:t>
            </a:r>
            <a:r>
              <a:rPr lang="vi-VN" sz="3000" spc="15">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hợp</a:t>
            </a:r>
            <a:r>
              <a:rPr lang="vi-VN" sz="3000" spc="30">
                <a:effectLst/>
                <a:latin typeface="Calibri" panose="020F0502020204030204" pitchFamily="34" charset="0"/>
                <a:ea typeface="Calibri" panose="020F0502020204030204" pitchFamily="34" charset="0"/>
                <a:cs typeface="Calibri" panose="020F0502020204030204" pitchFamily="34" charset="0"/>
              </a:rPr>
              <a:t> </a:t>
            </a:r>
            <a:r>
              <a:rPr lang="vi-VN" sz="3000" spc="-10">
                <a:effectLst/>
                <a:latin typeface="Calibri" panose="020F0502020204030204" pitchFamily="34" charset="0"/>
                <a:ea typeface="Calibri" panose="020F0502020204030204" pitchFamily="34" charset="0"/>
                <a:cs typeface="Calibri" panose="020F0502020204030204" pitchFamily="34" charset="0"/>
              </a:rPr>
              <a:t>đồng;</a:t>
            </a:r>
            <a:endParaRPr lang="en-US" sz="3000">
              <a:latin typeface="Calibri" panose="020F0502020204030204" pitchFamily="34" charset="0"/>
              <a:ea typeface="Calibri" panose="020F0502020204030204" pitchFamily="34" charset="0"/>
              <a:cs typeface="Calibri" panose="020F0502020204030204" pitchFamily="34" charset="0"/>
            </a:endParaRPr>
          </a:p>
          <a:p>
            <a:pPr marL="0" indent="179388" algn="just">
              <a:spcBef>
                <a:spcPts val="105"/>
              </a:spcBef>
              <a:spcAft>
                <a:spcPts val="0"/>
              </a:spcAft>
            </a:pPr>
            <a:r>
              <a:rPr lang="en-US" sz="3000" spc="-30">
                <a:effectLst/>
                <a:latin typeface="Calibri" panose="020F0502020204030204" pitchFamily="34" charset="0"/>
                <a:ea typeface="Calibri" panose="020F0502020204030204" pitchFamily="34" charset="0"/>
                <a:cs typeface="Calibri" panose="020F0502020204030204" pitchFamily="34" charset="0"/>
              </a:rPr>
              <a:t> (iii)</a:t>
            </a:r>
            <a:r>
              <a:rPr lang="vi-VN" sz="3000" spc="-30">
                <a:effectLst/>
                <a:latin typeface="Calibri" panose="020F0502020204030204" pitchFamily="34" charset="0"/>
                <a:ea typeface="Calibri" panose="020F0502020204030204" pitchFamily="34" charset="0"/>
                <a:cs typeface="Calibri" panose="020F0502020204030204" pitchFamily="34" charset="0"/>
              </a:rPr>
              <a:t>Trường</a:t>
            </a:r>
            <a:r>
              <a:rPr lang="vi-VN" sz="3000" spc="17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hợp</a:t>
            </a:r>
            <a:r>
              <a:rPr lang="vi-VN" sz="3000" spc="15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các</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bên</a:t>
            </a:r>
            <a:r>
              <a:rPr lang="vi-VN" sz="3000" spc="15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tham gia</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hợp</a:t>
            </a:r>
            <a:r>
              <a:rPr lang="vi-VN" sz="3000" spc="17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đồng</a:t>
            </a:r>
            <a:r>
              <a:rPr lang="vi-VN" sz="3000" spc="17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hợp</a:t>
            </a:r>
            <a:r>
              <a:rPr lang="vi-VN" sz="3000" spc="17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tác</a:t>
            </a:r>
            <a:r>
              <a:rPr lang="vi-VN" sz="3000" spc="16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kinh</a:t>
            </a:r>
            <a:r>
              <a:rPr lang="vi-VN" sz="3000" spc="17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doanh</a:t>
            </a:r>
            <a:r>
              <a:rPr lang="vi-VN" sz="3000" spc="155">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theo</a:t>
            </a:r>
            <a:r>
              <a:rPr lang="vi-VN" sz="3000" spc="17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phân</a:t>
            </a:r>
            <a:r>
              <a:rPr lang="vi-VN" sz="3000" spc="17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chia</a:t>
            </a:r>
            <a:r>
              <a:rPr lang="vi-VN" sz="3000" spc="150">
                <a:effectLst/>
                <a:latin typeface="Calibri" panose="020F0502020204030204" pitchFamily="34" charset="0"/>
                <a:ea typeface="Calibri" panose="020F0502020204030204" pitchFamily="34" charset="0"/>
                <a:cs typeface="Calibri" panose="020F0502020204030204" pitchFamily="34" charset="0"/>
              </a:rPr>
              <a:t> </a:t>
            </a:r>
            <a:r>
              <a:rPr lang="vi-VN" sz="3000" spc="-30">
                <a:effectLst/>
                <a:latin typeface="Calibri" panose="020F0502020204030204" pitchFamily="34" charset="0"/>
                <a:ea typeface="Calibri" panose="020F0502020204030204" pitchFamily="34" charset="0"/>
                <a:cs typeface="Calibri" panose="020F0502020204030204" pitchFamily="34" charset="0"/>
              </a:rPr>
              <a:t>chi phí và có thỏa thuận cử một bên làm đại diện có trách nhiệm nhận hóa đơn của người bán thì bên đại diện nhận hóa đơn lập hóa đơn để phân chia phần chi phí cho các bên còn lại theo hợp đồng.</a:t>
            </a:r>
            <a:endParaRPr lang="en-US" sz="3000" spc="-30">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2390276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7A200-CFC1-4204-BB24-935EF0EDF813}"/>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TRƯỜNG HỢP KHÔNG PHẢI SỬ DỤNG HÓA ĐƠN ĐIỆN TỬ </a:t>
            </a:r>
          </a:p>
        </p:txBody>
      </p:sp>
      <p:sp>
        <p:nvSpPr>
          <p:cNvPr id="3" name="Content Placeholder 2">
            <a:extLst>
              <a:ext uri="{FF2B5EF4-FFF2-40B4-BE49-F238E27FC236}">
                <a16:creationId xmlns:a16="http://schemas.microsoft.com/office/drawing/2014/main" id="{2FE5B0BA-7864-4F7D-A73E-B316E487EFFC}"/>
              </a:ext>
            </a:extLst>
          </p:cNvPr>
          <p:cNvSpPr>
            <a:spLocks noGrp="1"/>
          </p:cNvSpPr>
          <p:nvPr>
            <p:ph idx="1"/>
          </p:nvPr>
        </p:nvSpPr>
        <p:spPr>
          <a:xfrm>
            <a:off x="914401" y="1828801"/>
            <a:ext cx="16456026" cy="8267699"/>
          </a:xfrm>
        </p:spPr>
        <p:txBody>
          <a:bodyPr/>
          <a:lstStyle/>
          <a:p>
            <a:pPr marL="742950" lvl="1" indent="-285750" algn="l">
              <a:spcBef>
                <a:spcPts val="5"/>
              </a:spcBef>
              <a:spcAft>
                <a:spcPts val="0"/>
              </a:spcAft>
              <a:buFont typeface="Wingdings" panose="05000000000000000000" pitchFamily="2" charset="2"/>
              <a:buChar char=""/>
              <a:tabLst>
                <a:tab pos="584200" algn="l"/>
              </a:tabLst>
            </a:pPr>
            <a:r>
              <a:rPr lang="vi-VN" sz="28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a:t>
            </a:r>
            <a:r>
              <a:rPr lang="vi-VN" sz="2800" b="1" spc="45">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28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sung</a:t>
            </a:r>
            <a:r>
              <a:rPr lang="vi-VN" sz="2800" b="1" spc="15">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28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01</a:t>
            </a:r>
            <a:r>
              <a:rPr lang="vi-VN" sz="2800" b="1" spc="3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28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Điều</a:t>
            </a:r>
            <a:r>
              <a:rPr lang="vi-VN" sz="2800" b="1" spc="2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28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mới</a:t>
            </a:r>
            <a:r>
              <a:rPr lang="vi-VN" sz="2800" b="1" spc="55">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quy</a:t>
            </a:r>
            <a:r>
              <a:rPr lang="vi-VN" sz="2800" spc="15">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định không phải sử</a:t>
            </a:r>
            <a:r>
              <a:rPr lang="vi-VN" sz="2800" spc="25">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dụng hóa</a:t>
            </a:r>
            <a:r>
              <a:rPr lang="vi-VN" sz="2800" spc="1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đơn</a:t>
            </a:r>
            <a:r>
              <a:rPr lang="vi-VN" sz="2800" spc="3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điện</a:t>
            </a:r>
            <a:r>
              <a:rPr lang="vi-VN" sz="2800" spc="15">
                <a:effectLst/>
                <a:latin typeface="Calibri" panose="020F0502020204030204" pitchFamily="34" charset="0"/>
                <a:ea typeface="Calibri" panose="020F0502020204030204" pitchFamily="34" charset="0"/>
                <a:cs typeface="Calibri" panose="020F0502020204030204" pitchFamily="34" charset="0"/>
              </a:rPr>
              <a:t> </a:t>
            </a:r>
            <a:r>
              <a:rPr lang="vi-VN" sz="2800" spc="-25">
                <a:effectLst/>
                <a:latin typeface="Calibri" panose="020F0502020204030204" pitchFamily="34" charset="0"/>
                <a:ea typeface="Calibri" panose="020F0502020204030204" pitchFamily="34" charset="0"/>
                <a:cs typeface="Calibri" panose="020F0502020204030204" pitchFamily="34" charset="0"/>
              </a:rPr>
              <a:t>tử:</a:t>
            </a:r>
            <a:endParaRPr lang="en-US" sz="2800" spc="0">
              <a:effectLst/>
              <a:latin typeface="Calibri" panose="020F0502020204030204" pitchFamily="34" charset="0"/>
              <a:ea typeface="Calibri" panose="020F0502020204030204" pitchFamily="34" charset="0"/>
              <a:cs typeface="Calibri" panose="020F0502020204030204" pitchFamily="34" charset="0"/>
            </a:endParaRPr>
          </a:p>
          <a:p>
            <a:pPr marL="342900" marR="284480" lvl="0" indent="-342900" algn="just">
              <a:lnSpc>
                <a:spcPct val="105000"/>
              </a:lnSpc>
              <a:spcBef>
                <a:spcPts val="955"/>
              </a:spcBef>
              <a:spcAft>
                <a:spcPts val="0"/>
              </a:spcAft>
              <a:buFont typeface="Wingdings" panose="05000000000000000000" pitchFamily="2" charset="2"/>
              <a:buChar char=""/>
              <a:tabLst>
                <a:tab pos="584835" algn="l"/>
              </a:tabLst>
            </a:pPr>
            <a:r>
              <a:rPr lang="vi-VN" sz="2800" spc="0">
                <a:effectLst/>
                <a:latin typeface="Calibri" panose="020F0502020204030204" pitchFamily="34" charset="0"/>
                <a:ea typeface="Calibri" panose="020F0502020204030204" pitchFamily="34" charset="0"/>
                <a:cs typeface="Calibri" panose="020F0502020204030204" pitchFamily="34" charset="0"/>
              </a:rPr>
              <a:t>HKD, CNKD bán hàng hóa, dịch vụ thuộc trường hợp lập Bảng kê thu mua hàng hóa, dịch vụ theo quy định pháp luật về thuế TNDN, trừ trường hợp đăng ký sử dụng hóa đơn điện tử;</a:t>
            </a:r>
            <a:endParaRPr lang="en-US" sz="2800" spc="0">
              <a:effectLst/>
              <a:latin typeface="Calibri" panose="020F0502020204030204" pitchFamily="34" charset="0"/>
              <a:ea typeface="Calibri" panose="020F0502020204030204" pitchFamily="34" charset="0"/>
              <a:cs typeface="Calibri" panose="020F0502020204030204" pitchFamily="34" charset="0"/>
            </a:endParaRPr>
          </a:p>
          <a:p>
            <a:pPr marL="342900" marR="283210" lvl="0" indent="-342900" algn="just">
              <a:lnSpc>
                <a:spcPct val="105000"/>
              </a:lnSpc>
              <a:spcBef>
                <a:spcPts val="870"/>
              </a:spcBef>
              <a:spcAft>
                <a:spcPts val="0"/>
              </a:spcAft>
              <a:buFont typeface="Wingdings" panose="05000000000000000000" pitchFamily="2" charset="2"/>
              <a:buChar char=""/>
              <a:tabLst>
                <a:tab pos="584835" algn="l"/>
              </a:tabLst>
            </a:pPr>
            <a:r>
              <a:rPr lang="vi-VN" sz="2800" spc="0">
                <a:effectLst/>
                <a:latin typeface="Calibri" panose="020F0502020204030204" pitchFamily="34" charset="0"/>
                <a:ea typeface="Calibri" panose="020F0502020204030204" pitchFamily="34" charset="0"/>
                <a:cs typeface="Calibri" panose="020F0502020204030204" pitchFamily="34" charset="0"/>
              </a:rPr>
              <a:t>HKD,</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CNKD</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có</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thu</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nhập</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từ</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hoạt</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động</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cho</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thuê</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BĐS;</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thu</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nhập</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từ</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hoạt</a:t>
            </a:r>
            <a:r>
              <a:rPr lang="vi-VN" sz="2800" spc="200">
                <a:effectLst/>
                <a:latin typeface="Calibri" panose="020F0502020204030204" pitchFamily="34" charset="0"/>
                <a:ea typeface="Calibri" panose="020F0502020204030204" pitchFamily="34" charset="0"/>
                <a:cs typeface="Calibri" panose="020F0502020204030204" pitchFamily="34" charset="0"/>
              </a:rPr>
              <a:t> </a:t>
            </a:r>
            <a:r>
              <a:rPr lang="vi-VN" sz="2800" spc="0">
                <a:effectLst/>
                <a:latin typeface="Calibri" panose="020F0502020204030204" pitchFamily="34" charset="0"/>
                <a:ea typeface="Calibri" panose="020F0502020204030204" pitchFamily="34" charset="0"/>
                <a:cs typeface="Calibri" panose="020F0502020204030204" pitchFamily="34" charset="0"/>
              </a:rPr>
              <a:t>động cung cấp sản phẩm và DV nội dung thông tin số về giải trí, trò chơi điện tử, phim số, ảnh số, nhạc số, quảng cáo số ch</a:t>
            </a:r>
            <a:r>
              <a:rPr lang="vi-VN" sz="2800" spc="0">
                <a:solidFill>
                  <a:srgbClr val="898989"/>
                </a:solidFill>
                <a:effectLst/>
                <a:latin typeface="Calibri" panose="020F0502020204030204" pitchFamily="34" charset="0"/>
                <a:ea typeface="Calibri" panose="020F0502020204030204" pitchFamily="34" charset="0"/>
                <a:cs typeface="Calibri" panose="020F0502020204030204" pitchFamily="34" charset="0"/>
              </a:rPr>
              <a:t>14</a:t>
            </a:r>
            <a:r>
              <a:rPr lang="vi-VN" sz="2800" spc="0">
                <a:effectLst/>
                <a:latin typeface="Calibri" panose="020F0502020204030204" pitchFamily="34" charset="0"/>
                <a:ea typeface="Calibri" panose="020F0502020204030204" pitchFamily="34" charset="0"/>
                <a:cs typeface="Calibri" panose="020F0502020204030204" pitchFamily="34" charset="0"/>
              </a:rPr>
              <a:t>o tổ chức, cá nhân ở nước ngoài;</a:t>
            </a:r>
            <a:endParaRPr lang="en-US" sz="2800" spc="0">
              <a:effectLst/>
              <a:latin typeface="Calibri" panose="020F0502020204030204" pitchFamily="34" charset="0"/>
              <a:ea typeface="Calibri" panose="020F0502020204030204" pitchFamily="34" charset="0"/>
              <a:cs typeface="Calibri" panose="020F0502020204030204" pitchFamily="34" charset="0"/>
            </a:endParaRPr>
          </a:p>
          <a:p>
            <a:pPr algn="just"/>
            <a:r>
              <a:rPr lang="en-US" sz="2800">
                <a:effectLst/>
                <a:latin typeface="Calibri" panose="020F0502020204030204" pitchFamily="34" charset="0"/>
                <a:ea typeface="Calibri" panose="020F0502020204030204" pitchFamily="34" charset="0"/>
                <a:cs typeface="Calibri" panose="020F0502020204030204" pitchFamily="34" charset="0"/>
              </a:rPr>
              <a:t> </a:t>
            </a:r>
            <a:r>
              <a:rPr lang="en-US" sz="2800">
                <a:latin typeface="Calibri" panose="020F0502020204030204" pitchFamily="34" charset="0"/>
                <a:ea typeface="Calibri" panose="020F0502020204030204" pitchFamily="34" charset="0"/>
                <a:cs typeface="Calibri" panose="020F0502020204030204" pitchFamily="34" charset="0"/>
                <a:sym typeface="Wingdings 2"/>
              </a:rPr>
              <a:t></a:t>
            </a:r>
            <a:r>
              <a:rPr lang="vi-VN" sz="2800">
                <a:effectLst/>
                <a:latin typeface="Calibri" panose="020F0502020204030204" pitchFamily="34" charset="0"/>
                <a:ea typeface="Calibri" panose="020F0502020204030204" pitchFamily="34" charset="0"/>
                <a:cs typeface="Calibri" panose="020F0502020204030204" pitchFamily="34" charset="0"/>
              </a:rPr>
              <a:t>HKD,</a:t>
            </a:r>
            <a:r>
              <a:rPr lang="vi-VN" sz="2800" spc="13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CNKD</a:t>
            </a:r>
            <a:r>
              <a:rPr lang="vi-VN" sz="2800" spc="125">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làm</a:t>
            </a:r>
            <a:r>
              <a:rPr lang="vi-VN" sz="2800" spc="135">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đại</a:t>
            </a:r>
            <a:r>
              <a:rPr lang="vi-VN" sz="2800" spc="12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lý</a:t>
            </a:r>
            <a:r>
              <a:rPr lang="vi-VN" sz="2800" spc="145">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XS,</a:t>
            </a:r>
            <a:r>
              <a:rPr lang="vi-VN" sz="2800" spc="13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đại</a:t>
            </a:r>
            <a:r>
              <a:rPr lang="vi-VN" sz="2800" spc="12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lý</a:t>
            </a:r>
            <a:r>
              <a:rPr lang="vi-VN" sz="2800" spc="13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bảo</a:t>
            </a:r>
            <a:r>
              <a:rPr lang="vi-VN" sz="2800" spc="115">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hiểm,</a:t>
            </a:r>
            <a:r>
              <a:rPr lang="vi-VN" sz="2800" spc="13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đại</a:t>
            </a:r>
            <a:r>
              <a:rPr lang="vi-VN" sz="2800" spc="12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lý</a:t>
            </a:r>
            <a:r>
              <a:rPr lang="vi-VN" sz="2800" spc="13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bán</a:t>
            </a:r>
            <a:r>
              <a:rPr lang="vi-VN" sz="2800" spc="13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hàng</a:t>
            </a:r>
            <a:r>
              <a:rPr lang="vi-VN" sz="2800" spc="13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đa</a:t>
            </a:r>
            <a:r>
              <a:rPr lang="vi-VN" sz="2800" spc="140">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cấp</a:t>
            </a:r>
            <a:r>
              <a:rPr lang="vi-VN" sz="2800" spc="115">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mà</a:t>
            </a:r>
            <a:r>
              <a:rPr lang="vi-VN" sz="2800" spc="125">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DN</a:t>
            </a:r>
            <a:r>
              <a:rPr lang="vi-VN" sz="2800" spc="125">
                <a:effectLst/>
                <a:latin typeface="Calibri" panose="020F0502020204030204" pitchFamily="34" charset="0"/>
                <a:ea typeface="Calibri" panose="020F0502020204030204" pitchFamily="34" charset="0"/>
                <a:cs typeface="Calibri" panose="020F0502020204030204" pitchFamily="34" charset="0"/>
              </a:rPr>
              <a:t> </a:t>
            </a:r>
            <a:r>
              <a:rPr lang="vi-VN" sz="2800">
                <a:effectLst/>
                <a:latin typeface="Calibri" panose="020F0502020204030204" pitchFamily="34" charset="0"/>
                <a:ea typeface="Calibri" panose="020F0502020204030204" pitchFamily="34" charset="0"/>
                <a:cs typeface="Calibri" panose="020F0502020204030204" pitchFamily="34" charset="0"/>
              </a:rPr>
              <a:t>xổ số, bảo hiểm, bán hàng đa cấp đã khấu trừ thuế theo quy định pháp luật quản lý </a:t>
            </a:r>
            <a:r>
              <a:rPr lang="vi-VN" sz="2800" spc="-10">
                <a:effectLst/>
                <a:latin typeface="Calibri" panose="020F0502020204030204" pitchFamily="34" charset="0"/>
                <a:ea typeface="Calibri" panose="020F0502020204030204" pitchFamily="34" charset="0"/>
                <a:cs typeface="Calibri" panose="020F0502020204030204" pitchFamily="34" charset="0"/>
              </a:rPr>
              <a:t>thuế</a:t>
            </a:r>
            <a:endParaRPr lang="en-US" sz="2800" spc="-10">
              <a:effectLst/>
              <a:latin typeface="Calibri" panose="020F0502020204030204" pitchFamily="34" charset="0"/>
              <a:ea typeface="Calibri" panose="020F0502020204030204" pitchFamily="34" charset="0"/>
              <a:cs typeface="Calibri" panose="020F0502020204030204" pitchFamily="34" charset="0"/>
            </a:endParaRPr>
          </a:p>
          <a:p>
            <a:pPr marL="287338" indent="-287338" algn="just">
              <a:buFont typeface="Wingdings 2" panose="05020102010507070707" pitchFamily="18" charset="2"/>
              <a:buChar char="P"/>
            </a:pPr>
            <a:r>
              <a:rPr lang="en-US" sz="2800">
                <a:latin typeface="Calibri" panose="020F0502020204030204" pitchFamily="34" charset="0"/>
                <a:ea typeface="Calibri" panose="020F0502020204030204" pitchFamily="34" charset="0"/>
                <a:cs typeface="Calibri" panose="020F0502020204030204" pitchFamily="34" charset="0"/>
                <a:sym typeface="Wingdings 2"/>
              </a:rPr>
              <a:t>Các khoản phí và các khoản thu khác phát sinh từ hoạt động tái bảo hiểm (bao gồm nhượng tái bảo hiểm và các khoản thu khác về nhượng tái bảo hiểm), nhận tiền gửi, hoạt động tài chính (phát hành chứng chỉ tiền gửi, phát hành chứng khoán sơ cấp, phát hành giấy tờ có giá), bán nợ, giao dịch ngoại tệ và sản phẩm phái sinh;</a:t>
            </a:r>
          </a:p>
          <a:p>
            <a:pPr marL="0" indent="0" algn="just"/>
            <a:r>
              <a:rPr lang="en-US" sz="2800">
                <a:latin typeface="Calibri" panose="020F0502020204030204" pitchFamily="34" charset="0"/>
                <a:ea typeface="Calibri" panose="020F0502020204030204" pitchFamily="34" charset="0"/>
                <a:cs typeface="Calibri" panose="020F0502020204030204" pitchFamily="34" charset="0"/>
                <a:sym typeface="Wingdings 2"/>
              </a:rPr>
              <a:t>Đối với giao dịch bán ngoại tệ, căn cứ hệ thống quản lý dữ liệu của đơn vị, cuối tháng đơn vị thực hiện lập bảng tổng hợp chi tiết từng giao dịch phát sinh trong tháng, chịu trách nhiệm về tính chính xác nội dung thông tin từng giao dịch và cung cấp bảng tổng hợp chi tiết giao dịch bán ngoại tệ khi cơ quan nhà nước có thẩm quyền yêu cầu. (</a:t>
            </a:r>
            <a:r>
              <a:rPr lang="en-US" sz="2800">
                <a:solidFill>
                  <a:srgbClr val="FF0000"/>
                </a:solidFill>
                <a:latin typeface="Calibri" panose="020F0502020204030204" pitchFamily="34" charset="0"/>
                <a:ea typeface="Calibri" panose="020F0502020204030204" pitchFamily="34" charset="0"/>
                <a:cs typeface="Calibri" panose="020F0502020204030204" pitchFamily="34" charset="0"/>
              </a:rPr>
              <a:t>(Điều 7)</a:t>
            </a:r>
            <a:endParaRPr lang="en-US" sz="2800">
              <a:latin typeface="Calibri" panose="020F0502020204030204" pitchFamily="34" charset="0"/>
              <a:ea typeface="Calibri" panose="020F0502020204030204" pitchFamily="34" charset="0"/>
              <a:cs typeface="Calibri" panose="020F0502020204030204" pitchFamily="34" charset="0"/>
              <a:sym typeface="Wingdings 2"/>
            </a:endParaRPr>
          </a:p>
          <a:p>
            <a:pPr>
              <a:buFont typeface="Wingdings 2" panose="05020102010507070707" pitchFamily="18" charset="2"/>
              <a:buChar char="P"/>
            </a:pPr>
            <a:endParaRPr lang="en-US" sz="3000" spc="-10">
              <a:effectLst/>
              <a:latin typeface="Calibri" panose="020F0502020204030204" pitchFamily="34" charset="0"/>
              <a:ea typeface="Calibri" panose="020F0502020204030204" pitchFamily="34" charset="0"/>
              <a:cs typeface="Calibri" panose="020F0502020204030204" pitchFamily="34" charset="0"/>
            </a:endParaRPr>
          </a:p>
          <a:p>
            <a:r>
              <a:rPr lang="en-US" sz="3000">
                <a:solidFill>
                  <a:srgbClr val="FF0000"/>
                </a:solidFill>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7464715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7A200-CFC1-4204-BB24-935EF0EDF813}"/>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TRƯỜNG HỢP KHÔNG PHẢI SỬ DỤNG HÓA ĐƠN ĐIỆN TỬ </a:t>
            </a:r>
          </a:p>
        </p:txBody>
      </p:sp>
      <p:sp>
        <p:nvSpPr>
          <p:cNvPr id="3" name="Content Placeholder 2">
            <a:extLst>
              <a:ext uri="{FF2B5EF4-FFF2-40B4-BE49-F238E27FC236}">
                <a16:creationId xmlns:a16="http://schemas.microsoft.com/office/drawing/2014/main" id="{2FE5B0BA-7864-4F7D-A73E-B316E487EFFC}"/>
              </a:ext>
            </a:extLst>
          </p:cNvPr>
          <p:cNvSpPr>
            <a:spLocks noGrp="1"/>
          </p:cNvSpPr>
          <p:nvPr>
            <p:ph idx="1"/>
          </p:nvPr>
        </p:nvSpPr>
        <p:spPr>
          <a:xfrm>
            <a:off x="914401" y="1828801"/>
            <a:ext cx="16456026" cy="8267699"/>
          </a:xfrm>
        </p:spPr>
        <p:txBody>
          <a:bodyPr/>
          <a:lstStyle/>
          <a:p>
            <a:pPr algn="just">
              <a:lnSpc>
                <a:spcPct val="150000"/>
              </a:lnSpc>
              <a:buFont typeface="Wingdings 2" panose="05020102010507070707" pitchFamily="18" charset="2"/>
              <a:buChar char="P"/>
            </a:pPr>
            <a:r>
              <a:rPr kumimoji="0" lang="vi-VN"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Máy móc, thiết bị cho mượn là tài sản cố định và công cụ, dụng cụ phục vụ gia công hàng hóa của bên cho mượn, không thu tiền, không chuyển quyền sở hữu;</a:t>
            </a:r>
            <a:endParaRPr kumimoji="0" lang="en-US"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Font typeface="Wingdings 2" panose="05020102010507070707" pitchFamily="18" charset="2"/>
              <a:buChar char="P"/>
            </a:pPr>
            <a:r>
              <a:rPr kumimoji="0" lang="vi-VN"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Các trường hợp theo quy định tại điểm a, điểm b khoản 1 Điều 6, điểm b khoản 1 Điều 14 Nghị định số 181/2025/NĐ-CP của Chính phủ quy định chi tiết thi hành một số điều của Luật Thuế GTGT:</a:t>
            </a:r>
            <a:endParaRPr kumimoji="0" lang="en-US"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393700" marR="0" lvl="0" indent="-393700" algn="just" defTabSz="914400" rtl="0" eaLnBrk="0" fontAlgn="base" latinLnBrk="0" hangingPunct="0">
              <a:lnSpc>
                <a:spcPct val="150000"/>
              </a:lnSpc>
              <a:spcBef>
                <a:spcPct val="0"/>
              </a:spcBef>
              <a:spcAft>
                <a:spcPct val="0"/>
              </a:spcAft>
              <a:buClrTx/>
              <a:buSzTx/>
              <a:buFontTx/>
              <a:buChar char="•"/>
              <a:tabLst>
                <a:tab pos="584200" algn="l"/>
              </a:tabLst>
            </a:pPr>
            <a:r>
              <a:rPr kumimoji="0" lang="en-US" altLang="en-US" sz="3000" b="1"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en-US" sz="300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HHDV xuất hoặc cung cấp để sử dụng phục vụ SXKD</a:t>
            </a:r>
            <a:endParaRPr kumimoji="0" lang="en-US" altLang="en-US" sz="300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393700" indent="-393700" algn="just" defTabSz="914400">
              <a:lnSpc>
                <a:spcPct val="150000"/>
              </a:lnSpc>
              <a:spcBef>
                <a:spcPct val="0"/>
              </a:spcBef>
              <a:buClrTx/>
              <a:buSzTx/>
              <a:buFontTx/>
              <a:buChar char="•"/>
              <a:tabLst>
                <a:tab pos="584200" algn="l"/>
              </a:tabLst>
            </a:pPr>
            <a:r>
              <a:rPr kumimoji="0" lang="en-US"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HH, DV tiếp tục quá trình SXKD</a:t>
            </a:r>
            <a:endParaRPr kumimoji="0" lang="en-US" altLang="en-US" sz="3000" b="1"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tab pos="584200" algn="l"/>
              </a:tabLst>
            </a:pPr>
            <a:r>
              <a:rPr kumimoji="0" lang="en-US"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kumimoji="0" lang="vi-VN"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rPr>
              <a:t>Các khoản thu không liên quan đến bán HH, cung cấp DV của CSKD</a:t>
            </a:r>
            <a:endParaRPr kumimoji="0" lang="en-US" altLang="en-US" sz="3000" b="0" i="0" u="none" strike="noStrike" cap="none" normalizeH="0" baseline="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50000"/>
              </a:lnSpc>
              <a:spcBef>
                <a:spcPct val="0"/>
              </a:spcBef>
              <a:spcAft>
                <a:spcPct val="0"/>
              </a:spcAft>
              <a:buClrTx/>
              <a:buSzTx/>
              <a:tabLst>
                <a:tab pos="584200" algn="l"/>
              </a:tabLst>
            </a:pPr>
            <a:r>
              <a:rPr kumimoji="0" lang="en-US" altLang="en-US" sz="3000" b="0" i="0" u="none" strike="noStrike" cap="none" normalizeH="0" baseline="0">
                <a:ln>
                  <a:noFill/>
                </a:ln>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altLang="en-US" sz="3000">
                <a:solidFill>
                  <a:srgbClr val="990033"/>
                </a:solidFill>
                <a:latin typeface="Calibri" panose="020F0502020204030204" pitchFamily="34" charset="0"/>
                <a:ea typeface="Calibri" panose="020F0502020204030204" pitchFamily="34" charset="0"/>
                <a:cs typeface="Calibri" panose="020F0502020204030204" pitchFamily="34" charset="0"/>
              </a:rPr>
              <a:t>Điều 7)</a:t>
            </a:r>
            <a:endParaRPr kumimoji="0" lang="en-US" altLang="en-US" sz="3000" b="0" i="0" u="none" strike="noStrike" cap="none" normalizeH="0" baseline="0">
              <a:ln>
                <a:noFill/>
              </a:ln>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endParaRPr lang="en-US" sz="300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109">
            <a:extLst>
              <a:ext uri="{FF2B5EF4-FFF2-40B4-BE49-F238E27FC236}">
                <a16:creationId xmlns:a16="http://schemas.microsoft.com/office/drawing/2014/main" id="{A36B1C5B-9BEB-45B0-9151-8BC44C7BF210}"/>
              </a:ext>
            </a:extLst>
          </p:cNvPr>
          <p:cNvSpPr txBox="1">
            <a:spLocks noChangeArrowheads="1"/>
          </p:cNvSpPr>
          <p:nvPr/>
        </p:nvSpPr>
        <p:spPr bwMode="auto">
          <a:xfrm>
            <a:off x="3597275" y="555625"/>
            <a:ext cx="61913" cy="6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400" b="0" i="0" u="none" strike="noStrike" cap="none" normalizeH="0" baseline="0">
                <a:ln>
                  <a:noFill/>
                </a:ln>
                <a:solidFill>
                  <a:srgbClr val="898989"/>
                </a:solidFill>
                <a:effectLst/>
                <a:latin typeface="Arial" panose="020B0604020202020204" pitchFamily="34" charset="0"/>
                <a:ea typeface="Times New Roman" panose="02020603050405020304" pitchFamily="18" charset="0"/>
                <a:cs typeface="Arial" panose="020B0604020202020204" pitchFamily="34" charset="0"/>
              </a:rPr>
              <a:t>16</a:t>
            </a:r>
            <a:endParaRPr kumimoji="0" lang="vi-VN"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27658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err="1">
                <a:solidFill>
                  <a:srgbClr val="990033"/>
                </a:solidFill>
                <a:latin typeface="Arial Bold" panose="020B0704020202020204" pitchFamily="34" charset="0"/>
                <a:cs typeface="Arial Bold" panose="020B0704020202020204" pitchFamily="34" charset="0"/>
              </a:rPr>
              <a:t>THỜI</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ĐIỂM</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LẬP</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HÓA</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ĐƠN</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marL="742950" marR="497205" lvl="1" indent="-285750" algn="just">
              <a:lnSpc>
                <a:spcPct val="111000"/>
              </a:lnSpc>
              <a:spcAft>
                <a:spcPts val="0"/>
              </a:spcAft>
              <a:buFont typeface="Wingdings" panose="05000000000000000000" pitchFamily="2" charset="2"/>
              <a:buChar char=""/>
              <a:tabLst>
                <a:tab pos="583565" algn="l"/>
                <a:tab pos="584835" algn="l"/>
              </a:tabLst>
            </a:pP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Bổ sung </a:t>
            </a:r>
            <a:r>
              <a:rPr lang="vi-VN" sz="3000" spc="0">
                <a:effectLst/>
                <a:latin typeface="Calibri" panose="020F0502020204030204" pitchFamily="34" charset="0"/>
                <a:ea typeface="Calibri" panose="020F0502020204030204" pitchFamily="34" charset="0"/>
                <a:cs typeface="Calibri" panose="020F0502020204030204" pitchFamily="34" charset="0"/>
              </a:rPr>
              <a:t>quy định trường hợp khi </a:t>
            </a:r>
            <a:r>
              <a:rPr lang="vi-VN" sz="3000" i="1" spc="0">
                <a:effectLst/>
                <a:latin typeface="Calibri" panose="020F0502020204030204" pitchFamily="34" charset="0"/>
                <a:ea typeface="Calibri" panose="020F0502020204030204" pitchFamily="34" charset="0"/>
                <a:cs typeface="Calibri" panose="020F0502020204030204" pitchFamily="34" charset="0"/>
              </a:rPr>
              <a:t>thu tiền đặt cọc theo quy định Bộ luật Dân sự để đảm bảo thực hiện hợp đồng cung cấp dịch vụ </a:t>
            </a:r>
            <a:r>
              <a:rPr lang="vi-VN" sz="3000" spc="0">
                <a:effectLst/>
                <a:latin typeface="Calibri" panose="020F0502020204030204" pitchFamily="34" charset="0"/>
                <a:ea typeface="Calibri" panose="020F0502020204030204" pitchFamily="34" charset="0"/>
                <a:cs typeface="Calibri" panose="020F0502020204030204" pitchFamily="34" charset="0"/>
              </a:rPr>
              <a:t>thì không phải lập hóa đơn.</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just">
              <a:spcBef>
                <a:spcPts val="845"/>
              </a:spcBef>
              <a:spcAft>
                <a:spcPts val="0"/>
              </a:spcAft>
              <a:buFont typeface="Wingdings" panose="05000000000000000000" pitchFamily="2" charset="2"/>
              <a:buChar char=""/>
              <a:tabLst>
                <a:tab pos="584200" algn="l"/>
              </a:tabLst>
            </a:pP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sung</a:t>
            </a:r>
            <a:r>
              <a:rPr lang="vi-VN" sz="3000" b="1" spc="2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thời</a:t>
            </a:r>
            <a:r>
              <a:rPr lang="vi-VN" sz="3000" spc="15">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điểm</a:t>
            </a:r>
            <a:r>
              <a:rPr lang="vi-VN" sz="3000" spc="2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lập</a:t>
            </a:r>
            <a:r>
              <a:rPr lang="vi-VN" sz="3000" spc="1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hóa</a:t>
            </a:r>
            <a:r>
              <a:rPr lang="vi-VN" sz="3000" spc="25">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đơn</a:t>
            </a:r>
            <a:r>
              <a:rPr lang="vi-VN" sz="3000" spc="1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đối</a:t>
            </a:r>
            <a:r>
              <a:rPr lang="vi-VN" sz="3000" spc="2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với</a:t>
            </a:r>
            <a:r>
              <a:rPr lang="vi-VN" sz="3000" spc="15">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một</a:t>
            </a:r>
            <a:r>
              <a:rPr lang="vi-VN" sz="3000" spc="2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số</a:t>
            </a:r>
            <a:r>
              <a:rPr lang="vi-VN" sz="3000" spc="3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trường</a:t>
            </a:r>
            <a:r>
              <a:rPr lang="vi-VN" sz="3000" spc="1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hợp</a:t>
            </a:r>
            <a:r>
              <a:rPr lang="vi-VN" sz="3000" spc="3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cụ</a:t>
            </a:r>
            <a:r>
              <a:rPr lang="vi-VN" sz="3000" spc="1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thể</a:t>
            </a:r>
            <a:r>
              <a:rPr lang="vi-VN" sz="3000" spc="25">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(khoản</a:t>
            </a:r>
            <a:r>
              <a:rPr lang="vi-VN" sz="3000" spc="-20">
                <a:effectLst/>
                <a:latin typeface="Calibri" panose="020F0502020204030204" pitchFamily="34" charset="0"/>
                <a:ea typeface="Calibri" panose="020F0502020204030204" pitchFamily="34" charset="0"/>
                <a:cs typeface="Calibri" panose="020F0502020204030204" pitchFamily="34" charset="0"/>
              </a:rPr>
              <a:t> </a:t>
            </a:r>
            <a:r>
              <a:rPr lang="vi-VN" sz="3000" spc="-25">
                <a:effectLst/>
                <a:latin typeface="Calibri" panose="020F0502020204030204" pitchFamily="34" charset="0"/>
                <a:ea typeface="Calibri" panose="020F0502020204030204" pitchFamily="34" charset="0"/>
                <a:cs typeface="Calibri" panose="020F0502020204030204" pitchFamily="34" charset="0"/>
              </a:rPr>
              <a:t>4):</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342900" marR="284480" lvl="0" indent="-342900" algn="just">
              <a:lnSpc>
                <a:spcPct val="113000"/>
              </a:lnSpc>
              <a:spcBef>
                <a:spcPts val="1075"/>
              </a:spcBef>
              <a:spcAft>
                <a:spcPts val="0"/>
              </a:spcAft>
              <a:buFont typeface="Wingdings" panose="05000000000000000000" pitchFamily="2" charset="2"/>
              <a:buChar char=""/>
              <a:tabLst>
                <a:tab pos="584835" algn="l"/>
              </a:tabLst>
            </a:pP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 sung </a:t>
            </a:r>
            <a:r>
              <a:rPr lang="vi-VN" sz="3000" spc="0">
                <a:effectLst/>
                <a:latin typeface="Calibri" panose="020F0502020204030204" pitchFamily="34" charset="0"/>
                <a:ea typeface="Calibri" panose="020F0502020204030204" pitchFamily="34" charset="0"/>
                <a:cs typeface="Calibri" panose="020F0502020204030204" pitchFamily="34" charset="0"/>
              </a:rPr>
              <a:t>một số DV phát sinh thường xuyên cần thời gian đối soát dữ liệu thuộc</a:t>
            </a:r>
            <a:r>
              <a:rPr lang="vi-VN" sz="3000" spc="4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các trường hợp lập hóa đơn chậm sau 07 ngày như: </a:t>
            </a:r>
            <a:r>
              <a:rPr lang="vi-VN" sz="3000" i="1" spc="0">
                <a:effectLst/>
                <a:latin typeface="Calibri" panose="020F0502020204030204" pitchFamily="34" charset="0"/>
                <a:ea typeface="Calibri" panose="020F0502020204030204" pitchFamily="34" charset="0"/>
                <a:cs typeface="Calibri" panose="020F0502020204030204" pitchFamily="34" charset="0"/>
              </a:rPr>
              <a:t>DV hoa tiêu hàng hải, DV quảng</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cáo</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trên</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các</a:t>
            </a:r>
            <a:r>
              <a:rPr lang="vi-VN" sz="3000" i="1"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trang</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báo</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điện</a:t>
            </a:r>
            <a:r>
              <a:rPr lang="vi-VN" sz="3000" i="1" spc="12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tử,</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DV</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công</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nghệ</a:t>
            </a:r>
            <a:r>
              <a:rPr lang="vi-VN" sz="3000" i="1"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số,</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nền</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tảng</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số,</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DV</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CNTT</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107950" indent="-38100" algn="just">
              <a:lnSpc>
                <a:spcPct val="150000"/>
              </a:lnSpc>
            </a:pPr>
            <a:r>
              <a:rPr lang="vi-VN" sz="3000" i="1">
                <a:effectLst/>
                <a:latin typeface="Calibri" panose="020F0502020204030204" pitchFamily="34" charset="0"/>
                <a:ea typeface="Calibri" panose="020F0502020204030204" pitchFamily="34" charset="0"/>
                <a:cs typeface="Calibri" panose="020F0502020204030204" pitchFamily="34" charset="0"/>
              </a:rPr>
              <a:t>(bao</a:t>
            </a:r>
            <a:r>
              <a:rPr lang="vi-VN" sz="3000" i="1" spc="1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gồm</a:t>
            </a:r>
            <a:r>
              <a:rPr lang="vi-VN" sz="3000" i="1" spc="1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DV</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trung</a:t>
            </a:r>
            <a:r>
              <a:rPr lang="vi-VN" sz="3000" i="1" spc="2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gian</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thanh</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to</a:t>
            </a:r>
            <a:r>
              <a:rPr lang="en-US" sz="3000" i="1">
                <a:latin typeface="Calibri" panose="020F0502020204030204" pitchFamily="34" charset="0"/>
                <a:ea typeface="Calibri" panose="020F0502020204030204" pitchFamily="34" charset="0"/>
                <a:cs typeface="Calibri" panose="020F0502020204030204" pitchFamily="34" charset="0"/>
              </a:rPr>
              <a:t>án</a:t>
            </a:r>
            <a:r>
              <a:rPr lang="vi-VN" sz="3000" spc="195">
                <a:solidFill>
                  <a:srgbClr val="898989"/>
                </a:solidFill>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sử</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dụng</a:t>
            </a:r>
            <a:r>
              <a:rPr lang="vi-VN" sz="3000" i="1" spc="4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trên</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nền</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tảng</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viễn</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thông,</a:t>
            </a:r>
            <a:r>
              <a:rPr lang="vi-VN" sz="3000" i="1" spc="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công</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spc="-20">
                <a:effectLst/>
                <a:latin typeface="Calibri" panose="020F0502020204030204" pitchFamily="34" charset="0"/>
                <a:ea typeface="Calibri" panose="020F0502020204030204" pitchFamily="34" charset="0"/>
                <a:cs typeface="Calibri" panose="020F0502020204030204" pitchFamily="34" charset="0"/>
              </a:rPr>
              <a:t>nghệ</a:t>
            </a:r>
            <a:r>
              <a:rPr lang="en-US" sz="3000" i="1" spc="-2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thông tin, trừ trường hợp quy định tại điểm b khoản này) được bán theo kỳ nhất định; DV tài sản mã hóa, DV hỗ trợ giao dịch trên sàn giao dịch các-bon, DV bảo hiểm; DV bảo vệ, DV KD vận tải hành khách (bằng xe taxi, xe hợp đồng, xe mô tô hai bánh sử dụng phần mềm hỗ trợ kết nối vận tải theo pháp luật về đường bộ)</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cung cấp DV cho khách hàng là các doanh nghiệp, tổ chức.</a:t>
            </a:r>
            <a:endPar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0" algn="just">
              <a:spcBef>
                <a:spcPts val="600"/>
              </a:spcBef>
              <a:spcAft>
                <a:spcPts val="1000"/>
              </a:spcAft>
              <a:defRPr sz="1800"/>
            </a:pPr>
            <a:r>
              <a:rPr lang="en-US" sz="30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 9 </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Nghị</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a:t>
            </a:r>
          </a:p>
          <a:p>
            <a:pPr>
              <a:spcAft>
                <a:spcPts val="1000"/>
              </a:spcAft>
              <a:defRPr sz="1800"/>
            </a:pPr>
            <a:endParaRPr lang="vi-VN" sz="3000" dirty="0">
              <a:latin typeface="Calibri" panose="020F0502020204030204" pitchFamily="34" charset="0"/>
              <a:ea typeface="Calibri" panose="020F0502020204030204" pitchFamily="34" charset="0"/>
              <a:cs typeface="Calibri" panose="020F0502020204030204" pitchFamily="34"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latin typeface="+mj-lt"/>
              <a:ea typeface="Times New Roman" panose="02020603050405020304" pitchFamily="18" charset="0"/>
            </a:endParaRPr>
          </a:p>
          <a:p>
            <a:pPr>
              <a:spcAft>
                <a:spcPts val="1000"/>
              </a:spcAft>
              <a:defRPr sz="1800"/>
            </a:pPr>
            <a:endPar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spcAft>
                <a:spcPts val="1000"/>
              </a:spcAft>
              <a:defRPr sz="1800"/>
            </a:pP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    </a:t>
            </a:r>
            <a:endParaRPr lang="en-US" sz="3600" dirty="0">
              <a:solidFill>
                <a:srgbClr val="002060"/>
              </a:solidFill>
              <a:latin typeface="+mj-lt"/>
              <a:ea typeface="Times New Roman" panose="02020603050405020304" pitchFamily="18" charset="0"/>
            </a:endParaRP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12769851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B2240-2C1F-449D-9CCB-25A107BD7B3B}"/>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THỜI ĐIỂM LẬP HÓA ĐƠN </a:t>
            </a:r>
          </a:p>
        </p:txBody>
      </p:sp>
      <p:sp>
        <p:nvSpPr>
          <p:cNvPr id="3" name="Content Placeholder 2">
            <a:extLst>
              <a:ext uri="{FF2B5EF4-FFF2-40B4-BE49-F238E27FC236}">
                <a16:creationId xmlns:a16="http://schemas.microsoft.com/office/drawing/2014/main" id="{ABA156C3-8DD3-4808-8AFD-DF5569CFDE1D}"/>
              </a:ext>
            </a:extLst>
          </p:cNvPr>
          <p:cNvSpPr>
            <a:spLocks noGrp="1"/>
          </p:cNvSpPr>
          <p:nvPr>
            <p:ph idx="1"/>
          </p:nvPr>
        </p:nvSpPr>
        <p:spPr/>
        <p:txBody>
          <a:bodyPr/>
          <a:lstStyle/>
          <a:p>
            <a:pPr marL="742950" marR="285115" lvl="1" indent="-688975" algn="just">
              <a:lnSpc>
                <a:spcPct val="113000"/>
              </a:lnSpc>
              <a:spcAft>
                <a:spcPts val="0"/>
              </a:spcAft>
              <a:buSzPts val="1250"/>
              <a:buFont typeface="Wingdings" panose="05000000000000000000" pitchFamily="2" charset="2"/>
              <a:buChar char=""/>
              <a:tabLst>
                <a:tab pos="806450" algn="l"/>
              </a:tabLst>
            </a:pP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 sung </a:t>
            </a:r>
            <a:r>
              <a:rPr lang="vi-VN" sz="3000" spc="0">
                <a:effectLst/>
                <a:latin typeface="Calibri" panose="020F0502020204030204" pitchFamily="34" charset="0"/>
                <a:ea typeface="Calibri" panose="020F0502020204030204" pitchFamily="34" charset="0"/>
                <a:cs typeface="Calibri" panose="020F0502020204030204" pitchFamily="34" charset="0"/>
              </a:rPr>
              <a:t>tại điểm b: </a:t>
            </a:r>
            <a:r>
              <a:rPr lang="vi-VN" sz="3000" i="1" spc="0">
                <a:effectLst/>
                <a:latin typeface="Calibri" panose="020F0502020204030204" pitchFamily="34" charset="0"/>
                <a:ea typeface="Calibri" panose="020F0502020204030204" pitchFamily="34" charset="0"/>
                <a:cs typeface="Calibri" panose="020F0502020204030204" pitchFamily="34" charset="0"/>
              </a:rPr>
              <a:t>sản phẩm, dịch vụ về dữ liệu cần đối soát dữ liệu </a:t>
            </a:r>
            <a:r>
              <a:rPr lang="vi-VN" sz="3000" spc="0">
                <a:effectLst/>
                <a:latin typeface="Calibri" panose="020F0502020204030204" pitchFamily="34" charset="0"/>
                <a:ea typeface="Calibri" panose="020F0502020204030204" pitchFamily="34" charset="0"/>
                <a:cs typeface="Calibri" panose="020F0502020204030204" pitchFamily="34" charset="0"/>
              </a:rPr>
              <a:t>nhưng chậm nhất không quá 2 tháng kể từ tháng phát sinh.</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742950" marR="283210" lvl="1" indent="-688975" algn="just">
              <a:lnSpc>
                <a:spcPct val="115000"/>
              </a:lnSpc>
              <a:spcBef>
                <a:spcPts val="875"/>
              </a:spcBef>
              <a:spcAft>
                <a:spcPts val="0"/>
              </a:spcAft>
              <a:buSzPts val="1250"/>
              <a:buFont typeface="Wingdings" panose="05000000000000000000" pitchFamily="2" charset="2"/>
              <a:buChar char=""/>
              <a:tabLst>
                <a:tab pos="681038" algn="l"/>
                <a:tab pos="806450" algn="l"/>
              </a:tabLst>
            </a:pP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17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sung</a:t>
            </a:r>
            <a:r>
              <a:rPr lang="vi-VN" sz="3000" b="1" spc="145">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quy định</a:t>
            </a:r>
            <a:r>
              <a:rPr lang="vi-VN" sz="3000" spc="16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tại điểm o:</a:t>
            </a:r>
            <a:r>
              <a:rPr lang="vi-VN" sz="3000"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Đối</a:t>
            </a:r>
            <a:r>
              <a:rPr lang="vi-VN" sz="3000" i="1" spc="16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với</a:t>
            </a:r>
            <a:r>
              <a:rPr lang="vi-VN" sz="3000" i="1" spc="16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hợp</a:t>
            </a:r>
            <a:r>
              <a:rPr lang="vi-VN" sz="3000" i="1" spc="16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đồng</a:t>
            </a:r>
            <a:r>
              <a:rPr lang="vi-VN" sz="3000" i="1" spc="16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đồng</a:t>
            </a:r>
            <a:r>
              <a:rPr lang="vi-VN" sz="3000" i="1" spc="17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bảo hiểm:</a:t>
            </a:r>
            <a:r>
              <a:rPr lang="vi-VN" sz="3000" i="1" spc="17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Khi</a:t>
            </a:r>
            <a:r>
              <a:rPr lang="vi-VN" sz="3000" i="1" spc="16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thu phí</a:t>
            </a:r>
            <a:r>
              <a:rPr lang="vi-VN" sz="3000" i="1"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bảo</a:t>
            </a:r>
            <a:r>
              <a:rPr lang="vi-VN" sz="3000" i="1" spc="16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hiểm, từng doanh nghiệp đồng bảo hiểm lập hóa đơn cho khách hàng theo phí bảo hiểm nhận được. Trường hợp ủy quyền cho một doanh nghiệp thu hộ phí bảo hiểm thì doanh nghiệp thu hộ thực hiện lập hóa đơn cho khách hàng trên toàn bộ giá trị hợp đồng và doanh</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nghiệp</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nhờ</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thu</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hộ</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lập</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hóa</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đơn</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cho</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doanh</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nghiệp</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thu</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hộ</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đối</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với</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phí</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bảo</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hiểm</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được hưởng</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theo</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thỏa</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thuận</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của</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các</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bên.</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Khi</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mua</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hàng</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hóa,</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dịch</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vụ</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để</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bồi</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thường</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hoặc thanh toán các khoản chi khác liên quan đến hợp đồng đồng bảo hiểm, trường hợp một doanh nghiệp bảo hiểm được ủy quyền chi hộ thì doanh nghiệp chi hộ thực hiện lập hóa đơn khi thu đòi các doanh nghiệp bảo hiểm nhờ chi hộ;</a:t>
            </a:r>
            <a:endParaRPr lang="en-US" sz="3000" i="1">
              <a:latin typeface="Calibri" panose="020F0502020204030204" pitchFamily="34" charset="0"/>
              <a:ea typeface="Calibri" panose="020F0502020204030204" pitchFamily="34" charset="0"/>
              <a:cs typeface="Calibri" panose="020F0502020204030204" pitchFamily="34" charset="0"/>
            </a:endParaRPr>
          </a:p>
          <a:p>
            <a:pPr marL="742950" marR="283210" lvl="1" indent="-688975" algn="just">
              <a:lnSpc>
                <a:spcPct val="115000"/>
              </a:lnSpc>
              <a:spcBef>
                <a:spcPts val="875"/>
              </a:spcBef>
              <a:spcAft>
                <a:spcPts val="0"/>
              </a:spcAft>
              <a:buSzPts val="1250"/>
              <a:buFont typeface="Wingdings" panose="05000000000000000000" pitchFamily="2" charset="2"/>
              <a:buChar char=""/>
              <a:tabLst>
                <a:tab pos="681038" algn="l"/>
                <a:tab pos="806450" algn="l"/>
              </a:tabLst>
            </a:pPr>
            <a:r>
              <a:rPr lang="en-US" sz="3000" i="1">
                <a:solidFill>
                  <a:srgbClr val="990033"/>
                </a:solidFill>
                <a:latin typeface="Calibri" panose="020F0502020204030204" pitchFamily="34" charset="0"/>
                <a:ea typeface="Calibri" panose="020F0502020204030204" pitchFamily="34" charset="0"/>
                <a:cs typeface="Calibri" panose="020F0502020204030204" pitchFamily="34" charset="0"/>
              </a:rPr>
              <a:t>(Điều 9)</a:t>
            </a:r>
            <a:endParaRPr lang="en-US" sz="3000" spc="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13607140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5D0C-DBCA-4950-B186-FB8A5A39086D}"/>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THỜI ĐIỂM LẬP HÓA ĐƠN </a:t>
            </a:r>
          </a:p>
        </p:txBody>
      </p:sp>
      <p:sp>
        <p:nvSpPr>
          <p:cNvPr id="3" name="Content Placeholder 2">
            <a:extLst>
              <a:ext uri="{FF2B5EF4-FFF2-40B4-BE49-F238E27FC236}">
                <a16:creationId xmlns:a16="http://schemas.microsoft.com/office/drawing/2014/main" id="{2F4545E1-B179-4E08-A23A-47B891E6A4B5}"/>
              </a:ext>
            </a:extLst>
          </p:cNvPr>
          <p:cNvSpPr>
            <a:spLocks noGrp="1"/>
          </p:cNvSpPr>
          <p:nvPr>
            <p:ph idx="1"/>
          </p:nvPr>
        </p:nvSpPr>
        <p:spPr/>
        <p:txBody>
          <a:bodyPr/>
          <a:lstStyle/>
          <a:p>
            <a:pPr marL="0" indent="0" algn="just">
              <a:lnSpc>
                <a:spcPct val="150000"/>
              </a:lnSpc>
            </a:pPr>
            <a:r>
              <a:rPr lang="en-US"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 sung </a:t>
            </a:r>
            <a:r>
              <a:rPr lang="vi-VN" sz="3000" spc="0">
                <a:effectLst/>
                <a:latin typeface="Calibri" panose="020F0502020204030204" pitchFamily="34" charset="0"/>
                <a:ea typeface="Calibri" panose="020F0502020204030204" pitchFamily="34" charset="0"/>
                <a:cs typeface="Calibri" panose="020F0502020204030204" pitchFamily="34" charset="0"/>
              </a:rPr>
              <a:t>điểm r về việc lập Bảng thông chi tiết giao dịch đối với một số dịch vụ cung cấp cho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cá nhân là người tiêu dùng</a:t>
            </a:r>
            <a:r>
              <a:rPr lang="vi-VN" sz="3000" spc="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DV ngân hàng; DV trung gian thanh toán; DV thông tin tín dụng; KD chứng khoán; giao dịch TS mã hóa; DV hỗ trợ</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giao</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dịch</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trên</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sàn</a:t>
            </a:r>
            <a:r>
              <a:rPr lang="vi-VN" sz="3000" i="1" spc="1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giao</a:t>
            </a:r>
            <a:r>
              <a:rPr lang="vi-VN" sz="3000" i="1" spc="1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dịch</a:t>
            </a:r>
            <a:r>
              <a:rPr lang="vi-VN" sz="3000" i="1" spc="1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các-bon;</a:t>
            </a:r>
            <a:r>
              <a:rPr lang="vi-VN" sz="3000" i="1"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KD</a:t>
            </a:r>
            <a:r>
              <a:rPr lang="vi-VN" sz="3000" i="1" spc="16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bảo</a:t>
            </a:r>
            <a:r>
              <a:rPr lang="vi-VN" sz="3000" i="1" spc="1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hiểm;</a:t>
            </a:r>
            <a:r>
              <a:rPr lang="vi-VN" sz="3000" i="1"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DV</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chuyển</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tiền</a:t>
            </a:r>
            <a:r>
              <a:rPr lang="vi-VN" sz="3000" i="1" spc="1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qua</a:t>
            </a:r>
            <a:r>
              <a:rPr lang="vi-VN" sz="3000" i="1" spc="15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ví</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điện tử; DV ngừng, cấp điện trở lại; DV thương mại điện tử; DV bưu chính, vận chuyển trực tiếp phục vụ hoạt động TMĐT; DV vận tải hành khách công cộng bằng tàu điện,</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xe</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buýt;</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KD</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vận</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tải</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hành</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khách</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bằng</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xe</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taxi,</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xe</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hợp</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đồng,</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xe</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mô</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tô</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hai bánh; DV trông giữ xe; hoạt động </a:t>
            </a:r>
            <a:r>
              <a:rPr lang="en-US" sz="3000" i="1">
                <a:latin typeface="Calibri" panose="020F0502020204030204" pitchFamily="34" charset="0"/>
                <a:ea typeface="Calibri" panose="020F0502020204030204" pitchFamily="34" charset="0"/>
                <a:cs typeface="Calibri" panose="020F0502020204030204" pitchFamily="34" charset="0"/>
              </a:rPr>
              <a:t>C</a:t>
            </a:r>
            <a:r>
              <a:rPr lang="vi-VN" sz="3000" i="1" spc="0">
                <a:effectLst/>
                <a:latin typeface="Calibri" panose="020F0502020204030204" pitchFamily="34" charset="0"/>
                <a:ea typeface="Calibri" panose="020F0502020204030204" pitchFamily="34" charset="0"/>
                <a:cs typeface="Calibri" panose="020F0502020204030204" pitchFamily="34" charset="0"/>
              </a:rPr>
              <a:t>hiếu phim và các DV khác, đáp ứng điều kiện có hệ thống phần mềm quản lý chi tiết từng giao dịch, có dữ liệu thu tiền được lưu trữ trên hệ thống theo từng giao dịch thì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cơ sở dữ liệu thông tin chi tiết giao dịch phát sinh của doanh nghiệp được chuyển đến cơ quan thuế theo Bảng thông tin chi tiết</a:t>
            </a:r>
            <a:r>
              <a:rPr lang="vi-VN" sz="3000" i="1" spc="20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giao</a:t>
            </a:r>
            <a:r>
              <a:rPr lang="vi-VN" sz="3000" i="1" spc="20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dịch</a:t>
            </a:r>
            <a:r>
              <a:rPr lang="vi-VN" sz="3000" i="1" spc="20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theo</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mẫu</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số</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01/TTGD</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Phụ</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lục</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III</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kèm</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theo</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Thông</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tư</a:t>
            </a:r>
            <a:r>
              <a:rPr lang="vi-VN" sz="3000" spc="20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số </a:t>
            </a:r>
            <a:r>
              <a:rPr lang="vi-VN" sz="3000" spc="-10">
                <a:effectLst/>
                <a:latin typeface="Calibri" panose="020F0502020204030204" pitchFamily="34" charset="0"/>
                <a:ea typeface="Calibri" panose="020F0502020204030204" pitchFamily="34" charset="0"/>
                <a:cs typeface="Calibri" panose="020F0502020204030204" pitchFamily="34" charset="0"/>
              </a:rPr>
              <a:t>91/2026/TT-BTC.</a:t>
            </a:r>
            <a:endParaRPr lang="en-US" sz="3000" spc="-1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50000"/>
              </a:lnSpc>
            </a:pPr>
            <a:r>
              <a:rPr lang="en-US" sz="3000" spc="-10">
                <a:solidFill>
                  <a:srgbClr val="990033"/>
                </a:solidFill>
                <a:latin typeface="Calibri" panose="020F0502020204030204" pitchFamily="34" charset="0"/>
                <a:ea typeface="Calibri" panose="020F0502020204030204" pitchFamily="34" charset="0"/>
                <a:cs typeface="Calibri" panose="020F0502020204030204" pitchFamily="34" charset="0"/>
              </a:rPr>
              <a:t>(Điều 9)</a:t>
            </a:r>
            <a:endParaRPr lang="en-US" sz="3000" spc="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4287892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D7BF3-9D7C-43DE-BC9D-850496DC745C}"/>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ea typeface="Calibri" panose="020F0502020204030204" pitchFamily="34" charset="0"/>
                <a:cs typeface="Arial Bold" panose="020B0704020202020204" pitchFamily="34" charset="0"/>
              </a:rPr>
              <a:t>THỜI ĐIỂM LẬP HÓA ĐƠN </a:t>
            </a:r>
          </a:p>
        </p:txBody>
      </p:sp>
      <p:sp>
        <p:nvSpPr>
          <p:cNvPr id="3" name="Content Placeholder 2">
            <a:extLst>
              <a:ext uri="{FF2B5EF4-FFF2-40B4-BE49-F238E27FC236}">
                <a16:creationId xmlns:a16="http://schemas.microsoft.com/office/drawing/2014/main" id="{043EEA6B-573C-4B59-A5B0-EF22EEE221EE}"/>
              </a:ext>
            </a:extLst>
          </p:cNvPr>
          <p:cNvSpPr>
            <a:spLocks noGrp="1"/>
          </p:cNvSpPr>
          <p:nvPr>
            <p:ph idx="1"/>
          </p:nvPr>
        </p:nvSpPr>
        <p:spPr>
          <a:xfrm>
            <a:off x="914401" y="1828801"/>
            <a:ext cx="16456026" cy="3467099"/>
          </a:xfrm>
        </p:spPr>
        <p:txBody>
          <a:bodyPr/>
          <a:lstStyle/>
          <a:p>
            <a:pPr marL="342900" marR="11430" lvl="0" indent="-342900" algn="just">
              <a:lnSpc>
                <a:spcPct val="112000"/>
              </a:lnSpc>
              <a:spcAft>
                <a:spcPts val="0"/>
              </a:spcAft>
              <a:buSzPts val="1550"/>
              <a:buFont typeface="Wingdings" panose="05000000000000000000" pitchFamily="2" charset="2"/>
              <a:buChar char=""/>
              <a:tabLst>
                <a:tab pos="202565" algn="l"/>
                <a:tab pos="203835" algn="l"/>
              </a:tabLst>
            </a:pPr>
            <a:r>
              <a:rPr lang="vi-VN" sz="35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Bổ sung </a:t>
            </a:r>
            <a:r>
              <a:rPr lang="vi-VN" sz="3500" spc="0">
                <a:effectLst/>
                <a:latin typeface="Calibri" panose="020F0502020204030204" pitchFamily="34" charset="0"/>
                <a:ea typeface="Calibri" panose="020F0502020204030204" pitchFamily="34" charset="0"/>
                <a:cs typeface="Calibri" panose="020F0502020204030204" pitchFamily="34" charset="0"/>
              </a:rPr>
              <a:t>quy định trường hợp </a:t>
            </a:r>
            <a:r>
              <a:rPr lang="vi-VN" sz="3500" i="1" spc="0">
                <a:effectLst/>
                <a:latin typeface="Calibri" panose="020F0502020204030204" pitchFamily="34" charset="0"/>
                <a:ea typeface="Calibri" panose="020F0502020204030204" pitchFamily="34" charset="0"/>
                <a:cs typeface="Calibri" panose="020F0502020204030204" pitchFamily="34" charset="0"/>
              </a:rPr>
              <a:t>người bán không có phần mềm lập hóa đơn</a:t>
            </a:r>
            <a:r>
              <a:rPr lang="vi-VN" sz="3500" i="1" spc="200">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tự động có phát sinh giao dịch bán hàng hóa, cung cấp dịch vụ trong giờ làm</a:t>
            </a:r>
            <a:r>
              <a:rPr lang="vi-VN" sz="3500" i="1" spc="130">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việc</a:t>
            </a:r>
            <a:r>
              <a:rPr lang="vi-VN" sz="3500" i="1" spc="12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ban</a:t>
            </a:r>
            <a:r>
              <a:rPr lang="vi-VN" sz="3500" i="1" spc="13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đêm</a:t>
            </a:r>
            <a:r>
              <a:rPr lang="vi-VN" sz="3500" i="1" spc="11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theo</a:t>
            </a:r>
            <a:r>
              <a:rPr lang="vi-VN" sz="3500" i="1" spc="11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quy</a:t>
            </a:r>
            <a:r>
              <a:rPr lang="vi-VN" sz="3500" i="1" spc="12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định</a:t>
            </a:r>
            <a:r>
              <a:rPr lang="vi-VN" sz="3500" i="1" spc="150">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của</a:t>
            </a:r>
            <a:r>
              <a:rPr lang="vi-VN" sz="3500" i="1" spc="11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Bộ</a:t>
            </a:r>
            <a:r>
              <a:rPr lang="vi-VN" sz="3500" i="1" spc="150">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luật</a:t>
            </a:r>
            <a:r>
              <a:rPr lang="vi-VN" sz="3500" i="1" spc="13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Lao</a:t>
            </a:r>
            <a:r>
              <a:rPr lang="vi-VN" sz="3500" i="1" spc="150">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động,</a:t>
            </a:r>
            <a:r>
              <a:rPr lang="vi-VN" sz="3500" i="1" spc="11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thời</a:t>
            </a:r>
            <a:r>
              <a:rPr lang="vi-VN" sz="3500" i="1" spc="120">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điểm</a:t>
            </a:r>
            <a:r>
              <a:rPr lang="vi-VN" sz="3500" i="1" spc="14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lập</a:t>
            </a:r>
            <a:r>
              <a:rPr lang="vi-VN" sz="3500" i="1" spc="135">
                <a:effectLst/>
                <a:latin typeface="Calibri" panose="020F0502020204030204" pitchFamily="34" charset="0"/>
                <a:ea typeface="Calibri" panose="020F0502020204030204" pitchFamily="34" charset="0"/>
                <a:cs typeface="Calibri" panose="020F0502020204030204" pitchFamily="34" charset="0"/>
              </a:rPr>
              <a:t> </a:t>
            </a:r>
            <a:r>
              <a:rPr lang="vi-VN" sz="3500" i="1" spc="0">
                <a:effectLst/>
                <a:latin typeface="Calibri" panose="020F0502020204030204" pitchFamily="34" charset="0"/>
                <a:ea typeface="Calibri" panose="020F0502020204030204" pitchFamily="34" charset="0"/>
                <a:cs typeface="Calibri" panose="020F0502020204030204" pitchFamily="34" charset="0"/>
              </a:rPr>
              <a:t>hóa</a:t>
            </a:r>
            <a:r>
              <a:rPr lang="en-US" sz="3500">
                <a:latin typeface="Calibri" panose="020F0502020204030204" pitchFamily="34" charset="0"/>
                <a:ea typeface="Calibri" panose="020F0502020204030204" pitchFamily="34" charset="0"/>
                <a:cs typeface="Calibri" panose="020F0502020204030204" pitchFamily="34" charset="0"/>
              </a:rPr>
              <a:t> </a:t>
            </a:r>
            <a:r>
              <a:rPr lang="vi-VN" sz="3500" i="1">
                <a:effectLst/>
                <a:latin typeface="Calibri" panose="020F0502020204030204" pitchFamily="34" charset="0"/>
                <a:ea typeface="Calibri" panose="020F0502020204030204" pitchFamily="34" charset="0"/>
                <a:cs typeface="Calibri" panose="020F0502020204030204" pitchFamily="34" charset="0"/>
              </a:rPr>
              <a:t>đơn</a:t>
            </a:r>
            <a:r>
              <a:rPr lang="vi-VN" sz="3500" i="1" spc="5">
                <a:effectLst/>
                <a:latin typeface="Calibri" panose="020F0502020204030204" pitchFamily="34" charset="0"/>
                <a:ea typeface="Calibri" panose="020F0502020204030204" pitchFamily="34" charset="0"/>
                <a:cs typeface="Calibri" panose="020F0502020204030204" pitchFamily="34" charset="0"/>
              </a:rPr>
              <a:t> </a:t>
            </a:r>
            <a:r>
              <a:rPr lang="vi-VN" sz="3500" i="1">
                <a:solidFill>
                  <a:srgbClr val="A50021"/>
                </a:solidFill>
                <a:effectLst/>
                <a:latin typeface="Calibri" panose="020F0502020204030204" pitchFamily="34" charset="0"/>
                <a:ea typeface="Calibri" panose="020F0502020204030204" pitchFamily="34" charset="0"/>
                <a:cs typeface="Calibri" panose="020F0502020204030204" pitchFamily="34" charset="0"/>
              </a:rPr>
              <a:t>chậm</a:t>
            </a:r>
            <a:r>
              <a:rPr lang="vi-VN" sz="3500" i="1" spc="5">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500" i="1">
                <a:solidFill>
                  <a:srgbClr val="A50021"/>
                </a:solidFill>
                <a:effectLst/>
                <a:latin typeface="Calibri" panose="020F0502020204030204" pitchFamily="34" charset="0"/>
                <a:ea typeface="Calibri" panose="020F0502020204030204" pitchFamily="34" charset="0"/>
                <a:cs typeface="Calibri" panose="020F0502020204030204" pitchFamily="34" charset="0"/>
              </a:rPr>
              <a:t>nhất</a:t>
            </a:r>
            <a:r>
              <a:rPr lang="vi-VN" sz="3500" i="1" spc="15">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500" i="1">
                <a:solidFill>
                  <a:srgbClr val="A50021"/>
                </a:solidFill>
                <a:effectLst/>
                <a:latin typeface="Calibri" panose="020F0502020204030204" pitchFamily="34" charset="0"/>
                <a:ea typeface="Calibri" panose="020F0502020204030204" pitchFamily="34" charset="0"/>
                <a:cs typeface="Calibri" panose="020F0502020204030204" pitchFamily="34" charset="0"/>
              </a:rPr>
              <a:t>là</a:t>
            </a:r>
            <a:r>
              <a:rPr lang="vi-VN" sz="3500" i="1" spc="4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500" i="1">
                <a:solidFill>
                  <a:srgbClr val="A50021"/>
                </a:solidFill>
                <a:effectLst/>
                <a:latin typeface="Calibri" panose="020F0502020204030204" pitchFamily="34" charset="0"/>
                <a:ea typeface="Calibri" panose="020F0502020204030204" pitchFamily="34" charset="0"/>
                <a:cs typeface="Calibri" panose="020F0502020204030204" pitchFamily="34" charset="0"/>
              </a:rPr>
              <a:t>ngày</a:t>
            </a:r>
            <a:r>
              <a:rPr lang="vi-VN" sz="3500" i="1" spc="5">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500" i="1">
                <a:solidFill>
                  <a:srgbClr val="A50021"/>
                </a:solidFill>
                <a:effectLst/>
                <a:latin typeface="Calibri" panose="020F0502020204030204" pitchFamily="34" charset="0"/>
                <a:ea typeface="Calibri" panose="020F0502020204030204" pitchFamily="34" charset="0"/>
                <a:cs typeface="Calibri" panose="020F0502020204030204" pitchFamily="34" charset="0"/>
              </a:rPr>
              <a:t>làm</a:t>
            </a:r>
            <a:r>
              <a:rPr lang="vi-VN" sz="3500" i="1" spc="5">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500" i="1">
                <a:solidFill>
                  <a:srgbClr val="A50021"/>
                </a:solidFill>
                <a:effectLst/>
                <a:latin typeface="Calibri" panose="020F0502020204030204" pitchFamily="34" charset="0"/>
                <a:ea typeface="Calibri" panose="020F0502020204030204" pitchFamily="34" charset="0"/>
                <a:cs typeface="Calibri" panose="020F0502020204030204" pitchFamily="34" charset="0"/>
              </a:rPr>
              <a:t>việc</a:t>
            </a:r>
            <a:r>
              <a:rPr lang="vi-VN" sz="3500" i="1" spc="4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500" i="1">
                <a:solidFill>
                  <a:srgbClr val="A50021"/>
                </a:solidFill>
                <a:effectLst/>
                <a:latin typeface="Calibri" panose="020F0502020204030204" pitchFamily="34" charset="0"/>
                <a:ea typeface="Calibri" panose="020F0502020204030204" pitchFamily="34" charset="0"/>
                <a:cs typeface="Calibri" panose="020F0502020204030204" pitchFamily="34" charset="0"/>
              </a:rPr>
              <a:t>tiếp</a:t>
            </a:r>
            <a:r>
              <a:rPr lang="vi-VN" sz="3500" i="1" spc="25">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500" i="1" spc="-10">
                <a:solidFill>
                  <a:srgbClr val="A50021"/>
                </a:solidFill>
                <a:effectLst/>
                <a:latin typeface="Calibri" panose="020F0502020204030204" pitchFamily="34" charset="0"/>
                <a:ea typeface="Calibri" panose="020F0502020204030204" pitchFamily="34" charset="0"/>
                <a:cs typeface="Calibri" panose="020F0502020204030204" pitchFamily="34" charset="0"/>
              </a:rPr>
              <a:t>theo</a:t>
            </a:r>
            <a:r>
              <a:rPr lang="vi-VN" sz="3500" i="1" spc="-10">
                <a:effectLst/>
                <a:latin typeface="Calibri" panose="020F0502020204030204" pitchFamily="34" charset="0"/>
                <a:ea typeface="Calibri" panose="020F0502020204030204" pitchFamily="34" charset="0"/>
                <a:cs typeface="Calibri" panose="020F0502020204030204" pitchFamily="34" charset="0"/>
              </a:rPr>
              <a:t>.</a:t>
            </a:r>
            <a:endParaRPr lang="en-US" sz="3500" i="1" spc="-10">
              <a:effectLst/>
              <a:latin typeface="Calibri" panose="020F0502020204030204" pitchFamily="34" charset="0"/>
              <a:ea typeface="Calibri" panose="020F0502020204030204" pitchFamily="34" charset="0"/>
              <a:cs typeface="Calibri" panose="020F0502020204030204" pitchFamily="34" charset="0"/>
            </a:endParaRPr>
          </a:p>
          <a:p>
            <a:pPr marL="0" marR="11430" lvl="0" indent="0" algn="just">
              <a:lnSpc>
                <a:spcPct val="112000"/>
              </a:lnSpc>
              <a:spcAft>
                <a:spcPts val="0"/>
              </a:spcAft>
              <a:buSzPts val="1550"/>
              <a:tabLst>
                <a:tab pos="202565" algn="l"/>
                <a:tab pos="203835" algn="l"/>
              </a:tabLst>
            </a:pPr>
            <a:r>
              <a:rPr lang="en-US" sz="3500" i="1" spc="-10">
                <a:solidFill>
                  <a:srgbClr val="990033"/>
                </a:solidFill>
                <a:effectLst/>
                <a:latin typeface="Calibri" panose="020F0502020204030204" pitchFamily="34" charset="0"/>
                <a:ea typeface="Calibri" panose="020F0502020204030204" pitchFamily="34" charset="0"/>
                <a:cs typeface="Calibri" panose="020F0502020204030204" pitchFamily="34" charset="0"/>
              </a:rPr>
              <a:t>(Điều 9)</a:t>
            </a:r>
            <a:endParaRPr lang="en-US" sz="350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4053840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NỘI</a:t>
            </a:r>
            <a:r>
              <a:rPr lang="en-US" sz="4000" b="1" dirty="0">
                <a:solidFill>
                  <a:srgbClr val="990033"/>
                </a:solidFill>
                <a:latin typeface="Arial Bold" panose="020B0704020202020204" pitchFamily="34" charset="0"/>
                <a:cs typeface="Arial Bold" panose="020B0704020202020204" pitchFamily="34" charset="0"/>
              </a:rPr>
              <a:t> DUNG </a:t>
            </a:r>
            <a:r>
              <a:rPr lang="en-US" sz="4000" b="1" dirty="0" err="1">
                <a:solidFill>
                  <a:srgbClr val="990033"/>
                </a:solidFill>
                <a:latin typeface="Arial Bold" panose="020B0704020202020204" pitchFamily="34" charset="0"/>
                <a:cs typeface="Arial Bold" panose="020B0704020202020204" pitchFamily="34" charset="0"/>
              </a:rPr>
              <a:t>HÓA</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ĐƠN</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7" name="Content Placeholder 6">
            <a:extLst>
              <a:ext uri="{FF2B5EF4-FFF2-40B4-BE49-F238E27FC236}">
                <a16:creationId xmlns:a16="http://schemas.microsoft.com/office/drawing/2014/main" id="{53B972A1-389E-46E7-A563-B984B8A1F8DD}"/>
              </a:ext>
            </a:extLst>
          </p:cNvPr>
          <p:cNvSpPr>
            <a:spLocks noGrp="1"/>
          </p:cNvSpPr>
          <p:nvPr>
            <p:ph idx="1"/>
          </p:nvPr>
        </p:nvSpPr>
        <p:spPr>
          <a:xfrm>
            <a:off x="1066801" y="1714501"/>
            <a:ext cx="16456026" cy="7654926"/>
          </a:xfrm>
        </p:spPr>
        <p:txBody>
          <a:bodyPr/>
          <a:lstStyle/>
          <a:p>
            <a:pPr marL="142874" indent="-285750">
              <a:buFont typeface="Wingdings" panose="05000000000000000000" pitchFamily="2" charset="2"/>
              <a:buChar char=""/>
              <a:tabLst>
                <a:tab pos="543560" algn="l"/>
              </a:tabLst>
            </a:pPr>
            <a:r>
              <a:rPr lang="vi-VN" sz="36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Bổ</a:t>
            </a:r>
            <a:r>
              <a:rPr lang="vi-VN" sz="3600" b="1"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sung</a:t>
            </a:r>
            <a:r>
              <a:rPr lang="vi-VN" sz="3600" b="1" spc="1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effectLst/>
                <a:latin typeface="Calibri" panose="020F0502020204030204" pitchFamily="34" charset="0"/>
                <a:ea typeface="Calibri" panose="020F0502020204030204" pitchFamily="34" charset="0"/>
                <a:cs typeface="Calibri" panose="020F0502020204030204" pitchFamily="34" charset="0"/>
              </a:rPr>
              <a:t>nội dung</a:t>
            </a:r>
            <a:r>
              <a:rPr lang="vi-VN" sz="3600" spc="15">
                <a:effectLst/>
                <a:latin typeface="Calibri" panose="020F0502020204030204" pitchFamily="34" charset="0"/>
                <a:ea typeface="Calibri" panose="020F0502020204030204" pitchFamily="34" charset="0"/>
                <a:cs typeface="Calibri" panose="020F0502020204030204" pitchFamily="34" charset="0"/>
              </a:rPr>
              <a:t> </a:t>
            </a:r>
            <a:r>
              <a:rPr lang="vi-VN" sz="3600" spc="0">
                <a:effectLst/>
                <a:latin typeface="Calibri" panose="020F0502020204030204" pitchFamily="34" charset="0"/>
                <a:ea typeface="Calibri" panose="020F0502020204030204" pitchFamily="34" charset="0"/>
                <a:cs typeface="Calibri" panose="020F0502020204030204" pitchFamily="34" charset="0"/>
              </a:rPr>
              <a:t>“</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Tên,</a:t>
            </a:r>
            <a:r>
              <a:rPr lang="vi-VN" sz="3600" spc="-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địa</a:t>
            </a:r>
            <a:r>
              <a:rPr lang="vi-VN" sz="3600" spc="2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chỉ,</a:t>
            </a:r>
            <a:r>
              <a:rPr lang="vi-VN" sz="3600" spc="1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mã</a:t>
            </a:r>
            <a:r>
              <a:rPr lang="vi-VN" sz="3600"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số</a:t>
            </a:r>
            <a:r>
              <a:rPr lang="vi-VN" sz="3600" spc="2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thuế</a:t>
            </a:r>
            <a:r>
              <a:rPr lang="vi-VN" sz="3600" spc="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của</a:t>
            </a:r>
            <a:r>
              <a:rPr lang="vi-VN" sz="3600" spc="2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người</a:t>
            </a:r>
            <a:r>
              <a:rPr lang="vi-VN" sz="3600" spc="2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600" spc="-10">
                <a:solidFill>
                  <a:srgbClr val="BF0000"/>
                </a:solidFill>
                <a:effectLst/>
                <a:latin typeface="Calibri" panose="020F0502020204030204" pitchFamily="34" charset="0"/>
                <a:ea typeface="Calibri" panose="020F0502020204030204" pitchFamily="34" charset="0"/>
                <a:cs typeface="Calibri" panose="020F0502020204030204" pitchFamily="34" charset="0"/>
              </a:rPr>
              <a:t>bán</a:t>
            </a:r>
            <a:r>
              <a:rPr lang="vi-VN" sz="3600" spc="-10">
                <a:effectLst/>
                <a:latin typeface="Calibri" panose="020F0502020204030204" pitchFamily="34" charset="0"/>
                <a:ea typeface="Calibri" panose="020F0502020204030204" pitchFamily="34" charset="0"/>
                <a:cs typeface="Calibri" panose="020F0502020204030204" pitchFamily="34" charset="0"/>
              </a:rPr>
              <a:t>”:</a:t>
            </a:r>
            <a:endParaRPr lang="en-US" sz="3600" spc="0">
              <a:effectLst/>
              <a:latin typeface="Calibri" panose="020F0502020204030204" pitchFamily="34" charset="0"/>
              <a:ea typeface="Calibri" panose="020F0502020204030204" pitchFamily="34" charset="0"/>
              <a:cs typeface="Calibri" panose="020F0502020204030204" pitchFamily="34" charset="0"/>
            </a:endParaRPr>
          </a:p>
          <a:p>
            <a:pPr marL="342900" marR="285115" lvl="0" indent="-342900" algn="just">
              <a:lnSpc>
                <a:spcPct val="113000"/>
              </a:lnSpc>
              <a:spcBef>
                <a:spcPts val="1075"/>
              </a:spcBef>
              <a:spcAft>
                <a:spcPts val="0"/>
              </a:spcAft>
              <a:buFont typeface="Wingdings" panose="05000000000000000000" pitchFamily="2" charset="2"/>
              <a:buChar char=""/>
              <a:tabLst>
                <a:tab pos="543560" algn="l"/>
              </a:tabLst>
            </a:pPr>
            <a:r>
              <a:rPr lang="vi-VN" sz="3000" i="1" spc="0">
                <a:effectLst/>
                <a:latin typeface="Calibri" panose="020F0502020204030204" pitchFamily="34" charset="0"/>
                <a:ea typeface="Calibri" panose="020F0502020204030204" pitchFamily="34" charset="0"/>
                <a:cs typeface="Calibri" panose="020F0502020204030204" pitchFamily="34" charset="0"/>
              </a:rPr>
              <a:t>HKD, CNKD thuộc đối tượng sử dụng hóa đơn điện tử và sử dụng mã số thuế của HKD,</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CNKD</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cho</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tất</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cả</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các</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cửa</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hàng</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thì</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phải</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thể</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hiện</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rõ</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b="1"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tên,</a:t>
            </a:r>
            <a:r>
              <a:rPr lang="vi-VN" sz="3000" b="1" i="1" spc="19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mã</a:t>
            </a:r>
            <a:r>
              <a:rPr lang="vi-VN" sz="3000" i="1" spc="0">
                <a:effectLst/>
                <a:latin typeface="Calibri" panose="020F0502020204030204" pitchFamily="34" charset="0"/>
                <a:ea typeface="Calibri" panose="020F0502020204030204" pitchFamily="34" charset="0"/>
                <a:cs typeface="Calibri" panose="020F0502020204030204" pitchFamily="34" charset="0"/>
              </a:rPr>
              <a:t>,</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địa</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chỉ</a:t>
            </a:r>
            <a:r>
              <a:rPr lang="vi-VN" sz="3000" i="1" spc="20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địa điểm kinh doanh trên hóa đơn;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Trường hợp doanh nghiệp kinh doanh xăng dầu thì phải thể hiện</a:t>
            </a:r>
            <a:r>
              <a:rPr lang="vi-VN" sz="3000" i="1" spc="15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rõ</a:t>
            </a:r>
            <a:r>
              <a:rPr lang="vi-VN" sz="3000" i="1" spc="15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mã, địa</a:t>
            </a:r>
            <a:r>
              <a:rPr lang="vi-VN" sz="3000" i="1" spc="15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chỉ địa điểm kinh doanh do cơ quan</a:t>
            </a:r>
            <a:r>
              <a:rPr lang="vi-VN" sz="3000" i="1" spc="15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có thẩm quyền</a:t>
            </a:r>
            <a:r>
              <a:rPr lang="vi-VN" sz="3000" i="1" spc="150">
                <a:solidFill>
                  <a:srgbClr val="A50021"/>
                </a:solidFill>
                <a:effectLst/>
                <a:latin typeface="Calibri" panose="020F0502020204030204" pitchFamily="34" charset="0"/>
                <a:ea typeface="Calibri" panose="020F0502020204030204" pitchFamily="34" charset="0"/>
                <a:cs typeface="Calibri" panose="020F0502020204030204" pitchFamily="34" charset="0"/>
              </a:rPr>
              <a:t> </a:t>
            </a:r>
            <a:r>
              <a:rPr lang="vi-VN" sz="3000" i="1" spc="0">
                <a:solidFill>
                  <a:srgbClr val="A50021"/>
                </a:solidFill>
                <a:effectLst/>
                <a:latin typeface="Calibri" panose="020F0502020204030204" pitchFamily="34" charset="0"/>
                <a:ea typeface="Calibri" panose="020F0502020204030204" pitchFamily="34" charset="0"/>
                <a:cs typeface="Calibri" panose="020F0502020204030204" pitchFamily="34" charset="0"/>
              </a:rPr>
              <a:t>cấp của từng địa điểm kinh doanh trên hóa đơn</a:t>
            </a:r>
            <a:r>
              <a:rPr lang="vi-VN" sz="3000" i="1" spc="0">
                <a:effectLst/>
                <a:latin typeface="Calibri" panose="020F0502020204030204" pitchFamily="34" charset="0"/>
                <a:ea typeface="Calibri" panose="020F0502020204030204" pitchFamily="34" charset="0"/>
                <a:cs typeface="Calibri" panose="020F0502020204030204" pitchFamily="34" charset="0"/>
              </a:rPr>
              <a:t>.</a:t>
            </a:r>
            <a:endParaRPr lang="en-US" sz="3000" i="1" spc="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542925" algn="l"/>
              </a:tabLst>
            </a:pPr>
            <a:r>
              <a:rPr lang="en-US" sz="3200">
                <a:sym typeface="Wingdings 2"/>
              </a:rPr>
              <a:t></a:t>
            </a:r>
            <a:r>
              <a:rPr kumimoji="0" lang="en-US" altLang="en-US" sz="3200" b="0" i="1" u="none" strike="noStrike" cap="none" normalizeH="0" baseline="0">
                <a:ln>
                  <a:noFill/>
                </a:ln>
                <a:solidFill>
                  <a:schemeClr val="tx1"/>
                </a:solidFill>
                <a:effectLst/>
                <a:latin typeface="Arial" panose="020B0604020202020204" pitchFamily="34" charset="0"/>
              </a:rPr>
              <a:t> </a:t>
            </a:r>
            <a:r>
              <a:rPr kumimoji="0" lang="vi-VN" altLang="en-US" sz="3000" b="0" i="1"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Hóa đơn điện tử ủy nhiệm thì thể hiện tên, địa chỉ, mã số thuế của bên ủy nhiệm và tên, địa chỉ, mã số thuế của bên nhận ủy nhiệm.</a:t>
            </a:r>
            <a:endParaRPr kumimoji="0" lang="en-US" altLang="en-US" sz="3000" b="0" i="0"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tabLst>
                <a:tab pos="542925" algn="l"/>
              </a:tabLst>
            </a:pPr>
            <a:r>
              <a:rPr lang="en-US" sz="3200">
                <a:solidFill>
                  <a:schemeClr val="accent6">
                    <a:lumMod val="75000"/>
                  </a:schemeClr>
                </a:solidFill>
                <a:sym typeface="Wingdings 2"/>
              </a:rPr>
              <a:t></a:t>
            </a:r>
            <a:r>
              <a:rPr kumimoji="0" lang="vi-VN" altLang="en-US" sz="3000" b="0" i="1"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Bán đấu giá tài sản để thi hành án thì hóa đơn phải thể hiện tên, địa chỉ, mã số thuế của cơ quan được giao bán đấu giá tài sản và tên, địa chỉ, mã số thuế của người bán.</a:t>
            </a:r>
            <a:endParaRPr kumimoji="0" lang="vi-VN" altLang="en-US" sz="3000" b="0" i="0" u="none" strike="noStrike" cap="none" normalizeH="0" baseline="0">
              <a:ln>
                <a:noFill/>
              </a:ln>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285115" lvl="0" indent="0" algn="just">
              <a:lnSpc>
                <a:spcPct val="113000"/>
              </a:lnSpc>
              <a:spcBef>
                <a:spcPts val="1075"/>
              </a:spcBef>
              <a:spcAft>
                <a:spcPts val="0"/>
              </a:spcAft>
              <a:tabLst>
                <a:tab pos="543560" algn="l"/>
              </a:tabLst>
            </a:pPr>
            <a:r>
              <a:rPr lang="en-US" sz="3000" spc="0">
                <a:solidFill>
                  <a:srgbClr val="990033"/>
                </a:solidFill>
                <a:effectLst/>
                <a:latin typeface="Calibri" panose="020F0502020204030204" pitchFamily="34" charset="0"/>
                <a:ea typeface="Calibri" panose="020F0502020204030204" pitchFamily="34" charset="0"/>
                <a:cs typeface="Calibri" panose="020F0502020204030204" pitchFamily="34" charset="0"/>
              </a:rPr>
              <a:t>(Điều 10 Nghị định)</a:t>
            </a:r>
          </a:p>
          <a:p>
            <a:pPr marL="0" marR="285115" lvl="0" indent="0" algn="just">
              <a:lnSpc>
                <a:spcPct val="113000"/>
              </a:lnSpc>
              <a:spcBef>
                <a:spcPts val="1075"/>
              </a:spcBef>
              <a:spcAft>
                <a:spcPts val="0"/>
              </a:spcAft>
              <a:tabLst>
                <a:tab pos="543560" algn="l"/>
              </a:tabLst>
            </a:pP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42925" algn="l"/>
              </a:tabLst>
            </a:pPr>
            <a:r>
              <a:rPr kumimoji="0" lang="en-US" altLang="en-US" sz="3000" b="0" i="1"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lang="en-US"/>
          </a:p>
        </p:txBody>
      </p:sp>
      <p:sp>
        <p:nvSpPr>
          <p:cNvPr id="14" name="Textbox 139">
            <a:extLst>
              <a:ext uri="{FF2B5EF4-FFF2-40B4-BE49-F238E27FC236}">
                <a16:creationId xmlns:a16="http://schemas.microsoft.com/office/drawing/2014/main" id="{8E514C1B-4EFA-4047-93F5-87C532EF193C}"/>
              </a:ext>
            </a:extLst>
          </p:cNvPr>
          <p:cNvSpPr txBox="1">
            <a:spLocks noChangeArrowheads="1"/>
          </p:cNvSpPr>
          <p:nvPr/>
        </p:nvSpPr>
        <p:spPr bwMode="auto">
          <a:xfrm>
            <a:off x="4542778" y="3646488"/>
            <a:ext cx="61913" cy="6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400" b="0" i="0" u="none" strike="noStrike" cap="none" normalizeH="0" baseline="0">
                <a:ln>
                  <a:noFill/>
                </a:ln>
                <a:solidFill>
                  <a:srgbClr val="898989"/>
                </a:solidFill>
                <a:effectLst/>
                <a:latin typeface="Arial" panose="020B0604020202020204" pitchFamily="34" charset="0"/>
                <a:ea typeface="Times New Roman" panose="02020603050405020304" pitchFamily="18" charset="0"/>
                <a:cs typeface="Arial" panose="020B0604020202020204" pitchFamily="34" charset="0"/>
              </a:rPr>
              <a:t>21</a:t>
            </a:r>
            <a:endParaRPr kumimoji="0" lang="vi-VN"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B283C3EB-760C-4DF2-A298-66C1EDF2AA0D}"/>
              </a:ext>
            </a:extLst>
          </p:cNvPr>
          <p:cNvSpPr>
            <a:spLocks noChangeArrowheads="1"/>
          </p:cNvSpPr>
          <p:nvPr/>
        </p:nvSpPr>
        <p:spPr bwMode="auto">
          <a:xfrm>
            <a:off x="152400" y="-11430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Textbox 139">
            <a:extLst>
              <a:ext uri="{FF2B5EF4-FFF2-40B4-BE49-F238E27FC236}">
                <a16:creationId xmlns:a16="http://schemas.microsoft.com/office/drawing/2014/main" id="{C6C9EAF3-A9D4-47BC-990A-73F4A18B1537}"/>
              </a:ext>
            </a:extLst>
          </p:cNvPr>
          <p:cNvSpPr txBox="1">
            <a:spLocks noChangeArrowheads="1"/>
          </p:cNvSpPr>
          <p:nvPr/>
        </p:nvSpPr>
        <p:spPr bwMode="auto">
          <a:xfrm>
            <a:off x="3749675" y="446088"/>
            <a:ext cx="61913" cy="6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400" b="0" i="0" u="none" strike="noStrike" cap="none" normalizeH="0" baseline="0">
                <a:ln>
                  <a:noFill/>
                </a:ln>
                <a:solidFill>
                  <a:srgbClr val="898989"/>
                </a:solidFill>
                <a:effectLst/>
                <a:latin typeface="Arial" panose="020B0604020202020204" pitchFamily="34" charset="0"/>
                <a:ea typeface="Times New Roman" panose="02020603050405020304" pitchFamily="18" charset="0"/>
                <a:cs typeface="Arial" panose="020B0604020202020204" pitchFamily="34" charset="0"/>
              </a:rPr>
              <a:t>21</a:t>
            </a:r>
            <a:endParaRPr kumimoji="0" lang="vi-VN"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8">
            <a:extLst>
              <a:ext uri="{FF2B5EF4-FFF2-40B4-BE49-F238E27FC236}">
                <a16:creationId xmlns:a16="http://schemas.microsoft.com/office/drawing/2014/main" id="{242F35FC-C765-4D8C-A5C2-977896D209A6}"/>
              </a:ext>
            </a:extLst>
          </p:cNvPr>
          <p:cNvSpPr>
            <a:spLocks noChangeArrowheads="1"/>
          </p:cNvSpPr>
          <p:nvPr/>
        </p:nvSpPr>
        <p:spPr bwMode="auto">
          <a:xfrm>
            <a:off x="0" y="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Textbox 139">
            <a:extLst>
              <a:ext uri="{FF2B5EF4-FFF2-40B4-BE49-F238E27FC236}">
                <a16:creationId xmlns:a16="http://schemas.microsoft.com/office/drawing/2014/main" id="{7ED4D20A-82F7-4CAF-8ED3-CEE52F02017C}"/>
              </a:ext>
            </a:extLst>
          </p:cNvPr>
          <p:cNvSpPr txBox="1">
            <a:spLocks noChangeArrowheads="1"/>
          </p:cNvSpPr>
          <p:nvPr/>
        </p:nvSpPr>
        <p:spPr bwMode="auto">
          <a:xfrm>
            <a:off x="3597275" y="560388"/>
            <a:ext cx="61913" cy="6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400" b="0" i="0" u="none" strike="noStrike" cap="none" normalizeH="0" baseline="0">
                <a:ln>
                  <a:noFill/>
                </a:ln>
                <a:solidFill>
                  <a:srgbClr val="898989"/>
                </a:solidFill>
                <a:effectLst/>
                <a:latin typeface="Arial" panose="020B0604020202020204" pitchFamily="34" charset="0"/>
                <a:ea typeface="Times New Roman" panose="02020603050405020304" pitchFamily="18" charset="0"/>
                <a:cs typeface="Arial" panose="020B0604020202020204" pitchFamily="34" charset="0"/>
              </a:rPr>
              <a:t>21</a:t>
            </a:r>
            <a:endParaRPr kumimoji="0" lang="vi-VN"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19203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C007C-BC72-4065-A549-688D3D80CEAE}"/>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NỘI DUNG HÓA ĐƠN </a:t>
            </a:r>
          </a:p>
        </p:txBody>
      </p:sp>
      <p:sp>
        <p:nvSpPr>
          <p:cNvPr id="3" name="Content Placeholder 2">
            <a:extLst>
              <a:ext uri="{FF2B5EF4-FFF2-40B4-BE49-F238E27FC236}">
                <a16:creationId xmlns:a16="http://schemas.microsoft.com/office/drawing/2014/main" id="{DE9E5BEE-9907-40A8-9787-0AF64B2C4785}"/>
              </a:ext>
            </a:extLst>
          </p:cNvPr>
          <p:cNvSpPr>
            <a:spLocks noGrp="1"/>
          </p:cNvSpPr>
          <p:nvPr>
            <p:ph idx="1"/>
          </p:nvPr>
        </p:nvSpPr>
        <p:spPr/>
        <p:txBody>
          <a:bodyPr/>
          <a:lstStyle/>
          <a:p>
            <a:pPr marL="742950" marR="286385" lvl="1" indent="-285750" algn="just">
              <a:lnSpc>
                <a:spcPct val="107000"/>
              </a:lnSpc>
              <a:spcBef>
                <a:spcPts val="5"/>
              </a:spcBef>
              <a:spcAft>
                <a:spcPts val="0"/>
              </a:spcAft>
              <a:buFont typeface="Wingdings" panose="05000000000000000000" pitchFamily="2" charset="2"/>
              <a:buChar char=""/>
              <a:tabLst>
                <a:tab pos="543560" algn="l"/>
              </a:tabLst>
            </a:pP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16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BF0000"/>
                </a:solidFill>
                <a:effectLst/>
                <a:latin typeface="Calibri" panose="020F0502020204030204" pitchFamily="34" charset="0"/>
                <a:ea typeface="Calibri" panose="020F0502020204030204" pitchFamily="34" charset="0"/>
                <a:cs typeface="Calibri" panose="020F0502020204030204" pitchFamily="34" charset="0"/>
              </a:rPr>
              <a:t>sung</a:t>
            </a:r>
            <a:r>
              <a:rPr lang="vi-VN" sz="3000" b="1"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nội</a:t>
            </a:r>
            <a:r>
              <a:rPr lang="vi-VN" sz="3000" spc="140">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dung</a:t>
            </a:r>
            <a:r>
              <a:rPr lang="vi-VN" sz="3000" spc="155">
                <a:effectLst/>
                <a:latin typeface="Calibri" panose="020F0502020204030204" pitchFamily="34" charset="0"/>
                <a:ea typeface="Calibri" panose="020F0502020204030204" pitchFamily="34" charset="0"/>
                <a:cs typeface="Calibri" panose="020F0502020204030204" pitchFamily="34" charset="0"/>
              </a:rPr>
              <a:t> </a:t>
            </a:r>
            <a:r>
              <a:rPr lang="vi-VN" sz="3000" spc="0">
                <a:effectLst/>
                <a:latin typeface="Calibri" panose="020F0502020204030204" pitchFamily="34" charset="0"/>
                <a:ea typeface="Calibri" panose="020F0502020204030204" pitchFamily="34" charset="0"/>
                <a:cs typeface="Calibri" panose="020F0502020204030204" pitchFamily="34" charset="0"/>
              </a:rPr>
              <a:t>“</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Tên,</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địa chỉ,</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mã</a:t>
            </a:r>
            <a:r>
              <a:rPr lang="vi-VN" sz="3000"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số</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thuế</a:t>
            </a:r>
            <a:r>
              <a:rPr lang="vi-VN" sz="3000"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hoặc</a:t>
            </a:r>
            <a:r>
              <a:rPr lang="vi-VN" sz="3000"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mã</a:t>
            </a:r>
            <a:r>
              <a:rPr lang="vi-VN" sz="3000"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số</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đơn</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vị</a:t>
            </a:r>
            <a:r>
              <a:rPr lang="vi-VN" sz="3000" spc="1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có</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quan</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hệ với</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ngân</a:t>
            </a:r>
            <a:r>
              <a:rPr lang="vi-VN" sz="3000" spc="15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sách hoặc số định danh cá nhân của người mua</a:t>
            </a:r>
            <a:r>
              <a:rPr lang="vi-VN" sz="3000" spc="0">
                <a:effectLst/>
                <a:latin typeface="Calibri" panose="020F0502020204030204" pitchFamily="34" charset="0"/>
                <a:ea typeface="Calibri" panose="020F0502020204030204" pitchFamily="34" charset="0"/>
                <a:cs typeface="Calibri" panose="020F0502020204030204" pitchFamily="34" charset="0"/>
              </a:rPr>
              <a:t>”</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342900" marR="286385" lvl="0" indent="-342900" algn="just">
              <a:lnSpc>
                <a:spcPct val="107000"/>
              </a:lnSpc>
              <a:spcBef>
                <a:spcPts val="830"/>
              </a:spcBef>
              <a:spcAft>
                <a:spcPts val="0"/>
              </a:spcAft>
              <a:buFont typeface="Wingdings" panose="05000000000000000000" pitchFamily="2" charset="2"/>
              <a:buChar char=""/>
              <a:tabLst>
                <a:tab pos="542290" algn="l"/>
                <a:tab pos="543560" algn="l"/>
              </a:tabLst>
            </a:pPr>
            <a:r>
              <a:rPr lang="vi-VN" sz="3000" i="1" spc="0">
                <a:effectLst/>
                <a:latin typeface="Calibri" panose="020F0502020204030204" pitchFamily="34" charset="0"/>
                <a:ea typeface="Calibri" panose="020F0502020204030204" pitchFamily="34" charset="0"/>
                <a:cs typeface="Calibri" panose="020F0502020204030204" pitchFamily="34" charset="0"/>
              </a:rPr>
              <a:t>Trường hợp người mua là CSKD (</a:t>
            </a:r>
            <a:r>
              <a:rPr lang="vi-VN" sz="3000" b="1" i="1" spc="0">
                <a:effectLst/>
                <a:latin typeface="Calibri" panose="020F0502020204030204" pitchFamily="34" charset="0"/>
                <a:ea typeface="Calibri" panose="020F0502020204030204" pitchFamily="34" charset="0"/>
                <a:cs typeface="Calibri" panose="020F0502020204030204" pitchFamily="34" charset="0"/>
              </a:rPr>
              <a:t>TCKT, HKD, CNKD) </a:t>
            </a:r>
            <a:r>
              <a:rPr lang="vi-VN" sz="3000" i="1" spc="0">
                <a:effectLst/>
                <a:latin typeface="Calibri" panose="020F0502020204030204" pitchFamily="34" charset="0"/>
                <a:ea typeface="Calibri" panose="020F0502020204030204" pitchFamily="34" charset="0"/>
                <a:cs typeface="Calibri" panose="020F0502020204030204" pitchFamily="34" charset="0"/>
              </a:rPr>
              <a:t>có MST thì tên, địa chỉ, MST của người</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mua thể</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hiện trên hóa đơn phải ghi theo đúng tại giấy chứng nhận</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342900" marR="284480" lvl="0" indent="-342900" algn="just">
              <a:lnSpc>
                <a:spcPct val="106000"/>
              </a:lnSpc>
              <a:spcBef>
                <a:spcPts val="845"/>
              </a:spcBef>
              <a:spcAft>
                <a:spcPts val="0"/>
              </a:spcAft>
              <a:buFont typeface="Wingdings" panose="05000000000000000000" pitchFamily="2" charset="2"/>
              <a:buChar char=""/>
              <a:tabLst>
                <a:tab pos="542290" algn="l"/>
                <a:tab pos="543560" algn="l"/>
              </a:tabLst>
            </a:pPr>
            <a:r>
              <a:rPr lang="vi-VN" sz="3000" i="1" spc="0">
                <a:effectLst/>
                <a:latin typeface="Calibri" panose="020F0502020204030204" pitchFamily="34" charset="0"/>
                <a:ea typeface="Calibri" panose="020F0502020204030204" pitchFamily="34" charset="0"/>
                <a:cs typeface="Calibri" panose="020F0502020204030204" pitchFamily="34" charset="0"/>
              </a:rPr>
              <a:t>Người</a:t>
            </a:r>
            <a:r>
              <a:rPr lang="vi-VN" sz="3000" i="1"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mua</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là</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NTD</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cung</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cấp</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tên,</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địa</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chỉ,</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số định</a:t>
            </a:r>
            <a:r>
              <a:rPr lang="vi-VN" sz="3000" i="1" spc="15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danh</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cá</a:t>
            </a:r>
            <a:r>
              <a:rPr lang="vi-VN" sz="3000" i="1" spc="15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nhân</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thì trên</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hóa</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đơn</a:t>
            </a:r>
            <a:r>
              <a:rPr lang="vi-VN" sz="3000" i="1" spc="15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phải</a:t>
            </a:r>
            <a:r>
              <a:rPr lang="vi-VN" sz="3000" i="1" spc="14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thể hiện tên, địa chỉ, số định danh cá nhân (đối với người mua là người nước ngoài cung cấp thông</a:t>
            </a:r>
            <a:r>
              <a:rPr lang="vi-VN" sz="3000" i="1" spc="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tin</a:t>
            </a:r>
            <a:r>
              <a:rPr lang="vi-VN" sz="3000" i="1" spc="7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để</a:t>
            </a:r>
            <a:r>
              <a:rPr lang="vi-VN" sz="3000" i="1" spc="7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lập</a:t>
            </a:r>
            <a:r>
              <a:rPr lang="vi-VN" sz="3000" i="1" spc="7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hóa</a:t>
            </a:r>
            <a:r>
              <a:rPr lang="vi-VN" sz="3000" i="1" spc="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đơn</a:t>
            </a:r>
            <a:r>
              <a:rPr lang="vi-VN" sz="3000" i="1" spc="9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thì</a:t>
            </a:r>
            <a:r>
              <a:rPr lang="vi-VN" sz="3000" i="1" spc="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thông</a:t>
            </a:r>
            <a:r>
              <a:rPr lang="vi-VN" sz="3000" i="1" spc="7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tin</a:t>
            </a:r>
            <a:r>
              <a:rPr lang="vi-VN" sz="3000" i="1" spc="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về</a:t>
            </a:r>
            <a:r>
              <a:rPr lang="vi-VN" sz="3000" i="1" spc="7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địa</a:t>
            </a:r>
            <a:r>
              <a:rPr lang="vi-VN" sz="3000" i="1" spc="7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chỉ,</a:t>
            </a:r>
            <a:r>
              <a:rPr lang="vi-VN" sz="3000" i="1" spc="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số</a:t>
            </a:r>
            <a:r>
              <a:rPr lang="vi-VN" sz="3000" i="1" spc="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định</a:t>
            </a:r>
            <a:r>
              <a:rPr lang="vi-VN" sz="3000" i="1" spc="7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danh</a:t>
            </a:r>
            <a:r>
              <a:rPr lang="vi-VN" sz="3000" i="1" spc="7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cá</a:t>
            </a:r>
            <a:r>
              <a:rPr lang="vi-VN" sz="3000" i="1" spc="7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nhân</a:t>
            </a:r>
            <a:r>
              <a:rPr lang="vi-VN" sz="3000" i="1" spc="9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có</a:t>
            </a:r>
            <a:r>
              <a:rPr lang="vi-VN" sz="3000" i="1" spc="6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thể</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được</a:t>
            </a:r>
            <a:r>
              <a:rPr lang="vi-VN" sz="3000" i="1" spc="7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thay</a:t>
            </a:r>
            <a:r>
              <a:rPr lang="vi-VN" sz="3000" i="1" spc="70">
                <a:effectLst/>
                <a:latin typeface="Calibri" panose="020F0502020204030204" pitchFamily="34" charset="0"/>
                <a:ea typeface="Calibri" panose="020F0502020204030204" pitchFamily="34" charset="0"/>
                <a:cs typeface="Calibri" panose="020F0502020204030204" pitchFamily="34" charset="0"/>
              </a:rPr>
              <a:t> </a:t>
            </a:r>
            <a:r>
              <a:rPr lang="vi-VN" sz="3000" i="1" spc="0">
                <a:effectLst/>
                <a:latin typeface="Calibri" panose="020F0502020204030204" pitchFamily="34" charset="0"/>
                <a:ea typeface="Calibri" panose="020F0502020204030204" pitchFamily="34" charset="0"/>
                <a:cs typeface="Calibri" panose="020F0502020204030204" pitchFamily="34" charset="0"/>
              </a:rPr>
              <a:t>thế</a:t>
            </a:r>
            <a:r>
              <a:rPr lang="en-US" sz="3000">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bằng</a:t>
            </a:r>
            <a:r>
              <a:rPr lang="vi-VN" sz="3000" i="1" spc="9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thông</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tin</a:t>
            </a:r>
            <a:r>
              <a:rPr lang="vi-VN" sz="3000" i="1" spc="8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về</a:t>
            </a:r>
            <a:r>
              <a:rPr lang="vi-VN" sz="3000" i="1" spc="8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số</a:t>
            </a:r>
            <a:r>
              <a:rPr lang="vi-VN" sz="3000" i="1" spc="8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hộ</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chiếu</a:t>
            </a:r>
            <a:r>
              <a:rPr lang="vi-VN" sz="3000" i="1" spc="9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hoặc</a:t>
            </a:r>
            <a:r>
              <a:rPr lang="vi-VN" sz="3000" i="1" spc="8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giấ</a:t>
            </a:r>
            <a:r>
              <a:rPr lang="en-US" sz="3000" i="1">
                <a:solidFill>
                  <a:srgbClr val="898989"/>
                </a:solidFill>
                <a:latin typeface="Calibri" panose="020F0502020204030204" pitchFamily="34" charset="0"/>
                <a:ea typeface="Calibri" panose="020F0502020204030204" pitchFamily="34" charset="0"/>
                <a:cs typeface="Calibri" panose="020F0502020204030204" pitchFamily="34" charset="0"/>
              </a:rPr>
              <a:t>y</a:t>
            </a:r>
            <a:r>
              <a:rPr lang="vi-VN" sz="3000" spc="200">
                <a:solidFill>
                  <a:srgbClr val="898989"/>
                </a:solidFill>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tờ</a:t>
            </a:r>
            <a:r>
              <a:rPr lang="vi-VN" sz="3000" i="1" spc="8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xuất</a:t>
            </a:r>
            <a:r>
              <a:rPr lang="vi-VN" sz="3000" i="1" spc="7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nhập</a:t>
            </a:r>
            <a:r>
              <a:rPr lang="vi-VN" sz="3000" i="1" spc="9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cảnh</a:t>
            </a:r>
            <a:r>
              <a:rPr lang="vi-VN" sz="3000" i="1" spc="8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và</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quốc</a:t>
            </a:r>
            <a:r>
              <a:rPr lang="vi-VN" sz="3000" i="1" spc="8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tịch</a:t>
            </a:r>
            <a:r>
              <a:rPr lang="vi-VN" sz="3000" i="1" spc="9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của</a:t>
            </a:r>
            <a:r>
              <a:rPr lang="vi-VN" sz="3000" i="1" spc="9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khách</a:t>
            </a:r>
            <a:r>
              <a:rPr lang="vi-VN" sz="3000" i="1" spc="85">
                <a:effectLst/>
                <a:latin typeface="Calibri" panose="020F0502020204030204" pitchFamily="34" charset="0"/>
                <a:ea typeface="Calibri" panose="020F0502020204030204" pitchFamily="34" charset="0"/>
                <a:cs typeface="Calibri" panose="020F0502020204030204" pitchFamily="34" charset="0"/>
              </a:rPr>
              <a:t> </a:t>
            </a:r>
            <a:r>
              <a:rPr lang="vi-VN" sz="3000" i="1" spc="-10">
                <a:effectLst/>
                <a:latin typeface="Calibri" panose="020F0502020204030204" pitchFamily="34" charset="0"/>
                <a:ea typeface="Calibri" panose="020F0502020204030204" pitchFamily="34" charset="0"/>
                <a:cs typeface="Calibri" panose="020F0502020204030204" pitchFamily="34" charset="0"/>
              </a:rPr>
              <a:t>hàng);</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trường</a:t>
            </a:r>
            <a:r>
              <a:rPr lang="vi-VN" sz="3000" b="1" i="1" spc="16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hợp người mua</a:t>
            </a:r>
            <a:r>
              <a:rPr lang="vi-VN" sz="3000" b="1" i="1" spc="14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không</a:t>
            </a:r>
            <a:r>
              <a:rPr lang="vi-VN" sz="3000" b="1" i="1" spc="14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cung</a:t>
            </a:r>
            <a:r>
              <a:rPr lang="vi-VN" sz="3000" b="1" i="1" spc="16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cấp</a:t>
            </a:r>
            <a:r>
              <a:rPr lang="vi-VN" sz="3000" b="1" i="1" spc="14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tên, địa</a:t>
            </a:r>
            <a:r>
              <a:rPr lang="vi-VN" sz="3000" b="1" i="1" spc="14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chỉ, số</a:t>
            </a:r>
            <a:r>
              <a:rPr lang="vi-VN" sz="3000" b="1" i="1" spc="14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định</a:t>
            </a:r>
            <a:r>
              <a:rPr lang="vi-VN" sz="3000" b="1" i="1"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danh</a:t>
            </a:r>
            <a:r>
              <a:rPr lang="vi-VN" sz="3000" b="1" i="1" spc="1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cá</a:t>
            </a:r>
            <a:r>
              <a:rPr lang="vi-VN" sz="3000" b="1" i="1" spc="16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nhân</a:t>
            </a:r>
            <a:r>
              <a:rPr lang="vi-VN" sz="3000" b="1" i="1"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thì</a:t>
            </a:r>
            <a:r>
              <a:rPr lang="vi-VN" sz="3000" b="1" i="1"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trên</a:t>
            </a:r>
            <a:r>
              <a:rPr lang="vi-VN" sz="3000" b="1" i="1" spc="1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hóa đơn thể hiện rõ “Bán cho người tiêu dùng”</a:t>
            </a:r>
            <a:endParaRPr lang="en-US" sz="3000">
              <a:effectLst/>
              <a:latin typeface="Calibri" panose="020F0502020204030204" pitchFamily="34" charset="0"/>
              <a:ea typeface="Calibri" panose="020F0502020204030204" pitchFamily="34" charset="0"/>
              <a:cs typeface="Calibri" panose="020F0502020204030204" pitchFamily="34" charset="0"/>
            </a:endParaRPr>
          </a:p>
          <a:p>
            <a:pPr marL="342900" marR="285115" lvl="0" indent="-342900" algn="just">
              <a:lnSpc>
                <a:spcPct val="105000"/>
              </a:lnSpc>
              <a:spcBef>
                <a:spcPts val="740"/>
              </a:spcBef>
              <a:spcAft>
                <a:spcPts val="0"/>
              </a:spcAft>
              <a:buFont typeface="Wingdings" panose="05000000000000000000" pitchFamily="2" charset="2"/>
              <a:buChar char=""/>
              <a:tabLst>
                <a:tab pos="542290" algn="l"/>
                <a:tab pos="543560" algn="l"/>
              </a:tabLst>
            </a:pPr>
            <a:r>
              <a:rPr lang="vi-VN" sz="3000" i="1" spc="0">
                <a:effectLst/>
                <a:latin typeface="Calibri" panose="020F0502020204030204" pitchFamily="34" charset="0"/>
                <a:ea typeface="Calibri" panose="020F0502020204030204" pitchFamily="34" charset="0"/>
                <a:cs typeface="Calibri" panose="020F0502020204030204" pitchFamily="34" charset="0"/>
              </a:rPr>
              <a:t>Hóa đơn không có thông tin người mua hoặc hóa đơn xuất cho NTD</a:t>
            </a:r>
            <a:r>
              <a:rPr lang="vi-VN" sz="3000" i="1" spc="-20">
                <a:effectLst/>
                <a:latin typeface="Calibri" panose="020F0502020204030204" pitchFamily="34" charset="0"/>
                <a:ea typeface="Calibri" panose="020F0502020204030204" pitchFamily="34" charset="0"/>
                <a:cs typeface="Calibri" panose="020F0502020204030204" pitchFamily="34" charset="0"/>
              </a:rPr>
              <a:t> </a:t>
            </a:r>
            <a:r>
              <a:rPr lang="en-US" sz="3000" i="1">
                <a:latin typeface="Calibri" panose="020F0502020204030204" pitchFamily="34" charset="0"/>
                <a:ea typeface="Calibri" panose="020F0502020204030204" pitchFamily="34" charset="0"/>
                <a:cs typeface="Calibri" panose="020F0502020204030204" pitchFamily="34" charset="0"/>
              </a:rPr>
              <a:t>-&gt;</a:t>
            </a:r>
            <a:r>
              <a:rPr lang="vi-VN" sz="3000" i="1" spc="0">
                <a:effectLst/>
                <a:latin typeface="Calibri" panose="020F0502020204030204" pitchFamily="34" charset="0"/>
                <a:ea typeface="Calibri" panose="020F0502020204030204" pitchFamily="34" charset="0"/>
                <a:cs typeface="Calibri" panose="020F0502020204030204" pitchFamily="34" charset="0"/>
              </a:rPr>
              <a:t>không có giá trị để TCKT, CQ, tổ chức khác, HKD, CNKD sử dụng vào mục đích hạch toán chi phí hoặc quyết toán thuế theo quy định pháp luật về thuế.</a:t>
            </a:r>
            <a:r>
              <a:rPr lang="en-US" sz="3000" i="1" spc="0">
                <a:effectLst/>
                <a:latin typeface="Calibri" panose="020F0502020204030204" pitchFamily="34" charset="0"/>
                <a:ea typeface="Calibri" panose="020F0502020204030204" pitchFamily="34" charset="0"/>
                <a:cs typeface="Calibri" panose="020F0502020204030204" pitchFamily="34" charset="0"/>
              </a:rPr>
              <a:t> </a:t>
            </a:r>
          </a:p>
          <a:p>
            <a:pPr marL="0" marR="285115" lvl="0" indent="0" algn="just">
              <a:lnSpc>
                <a:spcPct val="105000"/>
              </a:lnSpc>
              <a:spcBef>
                <a:spcPts val="740"/>
              </a:spcBef>
              <a:spcAft>
                <a:spcPts val="0"/>
              </a:spcAft>
              <a:tabLst>
                <a:tab pos="542290" algn="l"/>
                <a:tab pos="543560" algn="l"/>
              </a:tabLst>
            </a:pPr>
            <a:r>
              <a:rPr lang="en-US" sz="3000" i="1">
                <a:solidFill>
                  <a:srgbClr val="990033"/>
                </a:solidFill>
                <a:latin typeface="Calibri" panose="020F0502020204030204" pitchFamily="34" charset="0"/>
                <a:ea typeface="Calibri" panose="020F0502020204030204" pitchFamily="34" charset="0"/>
                <a:cs typeface="Calibri" panose="020F0502020204030204" pitchFamily="34" charset="0"/>
              </a:rPr>
              <a:t>(Điều 10)</a:t>
            </a:r>
            <a:endParaRPr lang="en-US" sz="3000" spc="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35934453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819DD-ACAE-4FCB-8488-46DB5920CC1F}"/>
              </a:ext>
            </a:extLst>
          </p:cNvPr>
          <p:cNvSpPr>
            <a:spLocks noGrp="1"/>
          </p:cNvSpPr>
          <p:nvPr>
            <p:ph type="title"/>
          </p:nvPr>
        </p:nvSpPr>
        <p:spPr>
          <a:xfrm>
            <a:off x="914401" y="914401"/>
            <a:ext cx="16456026" cy="730250"/>
          </a:xfrm>
        </p:spPr>
        <p:txBody>
          <a:bodyPr/>
          <a:lstStyle/>
          <a:p>
            <a:r>
              <a:rPr lang="en-US" sz="4000">
                <a:solidFill>
                  <a:schemeClr val="accent6">
                    <a:lumMod val="75000"/>
                  </a:schemeClr>
                </a:solidFill>
                <a:latin typeface="Arial Bold" panose="020B0704020202020204" pitchFamily="34" charset="0"/>
                <a:cs typeface="Arial Bold" panose="020B0704020202020204" pitchFamily="34" charset="0"/>
              </a:rPr>
              <a:t>NỘI DUNG HÓA ĐƠN </a:t>
            </a:r>
          </a:p>
        </p:txBody>
      </p:sp>
      <p:sp>
        <p:nvSpPr>
          <p:cNvPr id="3" name="Content Placeholder 2">
            <a:extLst>
              <a:ext uri="{FF2B5EF4-FFF2-40B4-BE49-F238E27FC236}">
                <a16:creationId xmlns:a16="http://schemas.microsoft.com/office/drawing/2014/main" id="{EA5C5006-6EC3-43AF-9FFD-3D36E016447A}"/>
              </a:ext>
            </a:extLst>
          </p:cNvPr>
          <p:cNvSpPr>
            <a:spLocks noGrp="1"/>
          </p:cNvSpPr>
          <p:nvPr>
            <p:ph idx="1"/>
          </p:nvPr>
        </p:nvSpPr>
        <p:spPr/>
        <p:txBody>
          <a:bodyPr/>
          <a:lstStyle/>
          <a:p>
            <a:pPr marL="0" indent="466725"/>
            <a:r>
              <a:rPr lang="en-US" sz="1800" b="1">
                <a:solidFill>
                  <a:srgbClr val="BF0000"/>
                </a:solidFill>
                <a:effectLst/>
                <a:latin typeface="Times New Roman" panose="02020603050405020304" pitchFamily="18" charset="0"/>
                <a:ea typeface="Times New Roman" panose="02020603050405020304" pitchFamily="18" charset="0"/>
              </a:rPr>
              <a:t> </a:t>
            </a:r>
            <a:r>
              <a:rPr lang="vi-VN" sz="3000" b="1">
                <a:solidFill>
                  <a:srgbClr val="BF0000"/>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6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a:solidFill>
                  <a:srgbClr val="BF0000"/>
                </a:solidFill>
                <a:effectLst/>
                <a:latin typeface="Calibri" panose="020F0502020204030204" pitchFamily="34" charset="0"/>
                <a:ea typeface="Calibri" panose="020F0502020204030204" pitchFamily="34" charset="0"/>
                <a:cs typeface="Calibri" panose="020F0502020204030204" pitchFamily="34" charset="0"/>
              </a:rPr>
              <a:t>sung</a:t>
            </a:r>
            <a:r>
              <a:rPr lang="vi-VN" sz="3000" b="1" spc="2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nội</a:t>
            </a:r>
            <a:r>
              <a:rPr lang="vi-VN" sz="3000" spc="4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dung</a:t>
            </a:r>
            <a:r>
              <a:rPr lang="vi-VN" sz="3000" spc="2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Tên,</a:t>
            </a:r>
            <a:r>
              <a:rPr lang="vi-VN" sz="3000" spc="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đơn</a:t>
            </a:r>
            <a:r>
              <a:rPr lang="vi-VN" sz="3000"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vị</a:t>
            </a:r>
            <a:r>
              <a:rPr lang="vi-VN" sz="3000"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tính,</a:t>
            </a:r>
            <a:r>
              <a:rPr lang="vi-VN" sz="3000"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số</a:t>
            </a:r>
            <a:r>
              <a:rPr lang="vi-VN" sz="3000" spc="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lượng,</a:t>
            </a:r>
            <a:r>
              <a:rPr lang="vi-VN" sz="3000" spc="3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đơn</a:t>
            </a:r>
            <a:r>
              <a:rPr lang="vi-VN" sz="3000"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giá</a:t>
            </a:r>
            <a:r>
              <a:rPr lang="vi-VN" sz="3000" spc="3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hàng</a:t>
            </a:r>
            <a:r>
              <a:rPr lang="vi-VN" sz="3000" spc="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hóa,</a:t>
            </a:r>
            <a:r>
              <a:rPr lang="vi-VN" sz="3000" spc="4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a:solidFill>
                  <a:srgbClr val="BF0000"/>
                </a:solidFill>
                <a:effectLst/>
                <a:latin typeface="Calibri" panose="020F0502020204030204" pitchFamily="34" charset="0"/>
                <a:ea typeface="Calibri" panose="020F0502020204030204" pitchFamily="34" charset="0"/>
                <a:cs typeface="Calibri" panose="020F0502020204030204" pitchFamily="34" charset="0"/>
              </a:rPr>
              <a:t>dịch</a:t>
            </a:r>
            <a:r>
              <a:rPr lang="vi-VN" sz="3000" spc="5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20">
                <a:solidFill>
                  <a:srgbClr val="BF0000"/>
                </a:solidFill>
                <a:effectLst/>
                <a:latin typeface="Calibri" panose="020F0502020204030204" pitchFamily="34" charset="0"/>
                <a:ea typeface="Calibri" panose="020F0502020204030204" pitchFamily="34" charset="0"/>
                <a:cs typeface="Calibri" panose="020F0502020204030204" pitchFamily="34" charset="0"/>
              </a:rPr>
              <a:t>vụ</a:t>
            </a:r>
            <a:r>
              <a:rPr lang="vi-VN" sz="3000" spc="-20">
                <a:effectLst/>
                <a:latin typeface="Calibri" panose="020F0502020204030204" pitchFamily="34" charset="0"/>
                <a:ea typeface="Calibri" panose="020F0502020204030204" pitchFamily="34" charset="0"/>
                <a:cs typeface="Calibri" panose="020F0502020204030204" pitchFamily="34" charset="0"/>
              </a:rPr>
              <a:t>”:</a:t>
            </a:r>
            <a:endParaRPr lang="en-US" sz="3000" spc="-20">
              <a:latin typeface="Calibri" panose="020F0502020204030204" pitchFamily="34" charset="0"/>
              <a:ea typeface="Calibri" panose="020F0502020204030204" pitchFamily="34" charset="0"/>
              <a:cs typeface="Calibri" panose="020F0502020204030204" pitchFamily="34" charset="0"/>
            </a:endParaRPr>
          </a:p>
          <a:p>
            <a:pPr marL="0" indent="466725" algn="just"/>
            <a:r>
              <a:rPr lang="vi-VN" sz="3000" i="1">
                <a:effectLst/>
                <a:latin typeface="Calibri" panose="020F0502020204030204" pitchFamily="34" charset="0"/>
                <a:ea typeface="Calibri" panose="020F0502020204030204" pitchFamily="34" charset="0"/>
                <a:cs typeface="Calibri" panose="020F0502020204030204" pitchFamily="34" charset="0"/>
              </a:rPr>
              <a:t>Tên</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hàng</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hóa,</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dịch</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vụ:</a:t>
            </a:r>
            <a:r>
              <a:rPr lang="vi-VN" sz="3000" i="1" spc="12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Trên</a:t>
            </a:r>
            <a:r>
              <a:rPr lang="vi-VN" sz="3000" i="1" spc="12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hóa</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đơn</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phải</a:t>
            </a:r>
            <a:r>
              <a:rPr lang="vi-VN" sz="3000" i="1" spc="11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thể</a:t>
            </a:r>
            <a:r>
              <a:rPr lang="vi-VN" sz="3000" i="1" spc="12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hiện</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tên</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hàng</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hóa,</a:t>
            </a:r>
            <a:r>
              <a:rPr lang="vi-VN" sz="3000" i="1" spc="10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dịch</a:t>
            </a:r>
            <a:r>
              <a:rPr lang="vi-VN" sz="3000" i="1" spc="12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vụ</a:t>
            </a:r>
            <a:r>
              <a:rPr lang="vi-VN" sz="3000" i="1" spc="110">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được</a:t>
            </a:r>
            <a:r>
              <a:rPr lang="vi-VN" sz="3000" b="1" i="1" spc="9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giao</a:t>
            </a:r>
            <a:r>
              <a:rPr lang="vi-VN" sz="3000" b="1" i="1" spc="105">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dịch bằng tiếng Việt phù hợp với quy định pháp luật</a:t>
            </a:r>
            <a:r>
              <a:rPr lang="vi-VN" sz="3000" i="1">
                <a:effectLst/>
                <a:latin typeface="Calibri" panose="020F0502020204030204" pitchFamily="34" charset="0"/>
                <a:ea typeface="Calibri" panose="020F0502020204030204" pitchFamily="34" charset="0"/>
                <a:cs typeface="Calibri" panose="020F0502020204030204" pitchFamily="34" charset="0"/>
              </a:rPr>
              <a:t>.</a:t>
            </a:r>
            <a:endParaRPr lang="en-US" sz="3000">
              <a:latin typeface="Calibri" panose="020F0502020204030204" pitchFamily="34" charset="0"/>
              <a:ea typeface="Calibri" panose="020F0502020204030204" pitchFamily="34" charset="0"/>
              <a:cs typeface="Calibri" panose="020F0502020204030204" pitchFamily="34" charset="0"/>
            </a:endParaRPr>
          </a:p>
          <a:p>
            <a:pPr marL="0" indent="466725" algn="just"/>
            <a:r>
              <a:rPr lang="vi-VN" sz="3000" i="1">
                <a:effectLst/>
                <a:latin typeface="Calibri" panose="020F0502020204030204" pitchFamily="34" charset="0"/>
                <a:ea typeface="Calibri" panose="020F0502020204030204" pitchFamily="34" charset="0"/>
                <a:cs typeface="Calibri" panose="020F0502020204030204" pitchFamily="34" charset="0"/>
              </a:rPr>
              <a:t>Trường hợp pháp luật có quy định về </a:t>
            </a:r>
            <a:r>
              <a:rPr lang="vi-VN" sz="3000" b="1" i="1">
                <a:solidFill>
                  <a:srgbClr val="BF0000"/>
                </a:solidFill>
                <a:effectLst/>
                <a:latin typeface="Calibri" panose="020F0502020204030204" pitchFamily="34" charset="0"/>
                <a:ea typeface="Calibri" panose="020F0502020204030204" pitchFamily="34" charset="0"/>
                <a:cs typeface="Calibri" panose="020F0502020204030204" pitchFamily="34" charset="0"/>
              </a:rPr>
              <a:t>định danh hàng hóa, dịch vụ </a:t>
            </a:r>
            <a:r>
              <a:rPr lang="vi-VN" sz="3000" i="1">
                <a:effectLst/>
                <a:latin typeface="Calibri" panose="020F0502020204030204" pitchFamily="34" charset="0"/>
                <a:ea typeface="Calibri" panose="020F0502020204030204" pitchFamily="34" charset="0"/>
                <a:cs typeface="Calibri" panose="020F0502020204030204" pitchFamily="34" charset="0"/>
              </a:rPr>
              <a:t>thì người bán thể hiện</a:t>
            </a:r>
            <a:r>
              <a:rPr lang="vi-VN" sz="3000" i="1" spc="40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tên</a:t>
            </a:r>
            <a:r>
              <a:rPr lang="vi-VN" sz="3000" i="1" spc="1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hàng hóa,</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dịch</a:t>
            </a:r>
            <a:r>
              <a:rPr lang="vi-VN" sz="3000" i="1" spc="11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vụ</a:t>
            </a:r>
            <a:r>
              <a:rPr lang="vi-VN" sz="3000" i="1" spc="1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trên</a:t>
            </a:r>
            <a:r>
              <a:rPr lang="vi-VN" sz="3000" i="1" spc="11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hóa</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đơn</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theo</a:t>
            </a:r>
            <a:r>
              <a:rPr lang="vi-VN" sz="3000" i="1" spc="11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quy</a:t>
            </a:r>
            <a:r>
              <a:rPr lang="vi-VN" sz="3000" i="1" spc="10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định</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pháp luật</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về</a:t>
            </a:r>
            <a:r>
              <a:rPr lang="vi-VN" sz="3000" i="1" spc="12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định</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danh h</a:t>
            </a:r>
            <a:r>
              <a:rPr lang="en-US" sz="3000" i="1">
                <a:latin typeface="Calibri" panose="020F0502020204030204" pitchFamily="34" charset="0"/>
                <a:ea typeface="Calibri" panose="020F0502020204030204" pitchFamily="34" charset="0"/>
                <a:cs typeface="Calibri" panose="020F0502020204030204" pitchFamily="34" charset="0"/>
              </a:rPr>
              <a:t>à</a:t>
            </a:r>
            <a:r>
              <a:rPr lang="vi-VN" sz="3000" i="1">
                <a:effectLst/>
                <a:latin typeface="Calibri" panose="020F0502020204030204" pitchFamily="34" charset="0"/>
                <a:ea typeface="Calibri" panose="020F0502020204030204" pitchFamily="34" charset="0"/>
                <a:cs typeface="Calibri" panose="020F0502020204030204" pitchFamily="34" charset="0"/>
              </a:rPr>
              <a:t>ng</a:t>
            </a:r>
            <a:r>
              <a:rPr lang="en-US" sz="3000" i="1" spc="95">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hóa,</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dịch</a:t>
            </a:r>
            <a:r>
              <a:rPr lang="vi-VN" sz="3000" i="1" spc="9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vụ</a:t>
            </a:r>
            <a:endParaRPr lang="en-US" sz="3000">
              <a:effectLst/>
              <a:latin typeface="Calibri" panose="020F0502020204030204" pitchFamily="34" charset="0"/>
              <a:ea typeface="Calibri" panose="020F0502020204030204" pitchFamily="34" charset="0"/>
              <a:cs typeface="Calibri" panose="020F0502020204030204" pitchFamily="34" charset="0"/>
            </a:endParaRPr>
          </a:p>
          <a:p>
            <a:pPr marL="0" indent="466725" algn="just">
              <a:spcBef>
                <a:spcPts val="875"/>
              </a:spcBef>
              <a:spcAft>
                <a:spcPts val="0"/>
              </a:spcAft>
            </a:pPr>
            <a:r>
              <a:rPr lang="vi-VN" sz="3000" i="1">
                <a:effectLst/>
                <a:latin typeface="Calibri" panose="020F0502020204030204" pitchFamily="34" charset="0"/>
                <a:ea typeface="Calibri" panose="020F0502020204030204" pitchFamily="34" charset="0"/>
                <a:cs typeface="Calibri" panose="020F0502020204030204" pitchFamily="34" charset="0"/>
              </a:rPr>
              <a:t>Trường</a:t>
            </a:r>
            <a:r>
              <a:rPr lang="vi-VN" sz="3000" i="1" spc="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hợp</a:t>
            </a:r>
            <a:r>
              <a:rPr lang="vi-VN" sz="3000" i="1" spc="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người</a:t>
            </a:r>
            <a:r>
              <a:rPr lang="vi-VN" sz="3000" i="1" spc="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bán</a:t>
            </a:r>
            <a:r>
              <a:rPr lang="vi-VN" sz="3000" i="1" spc="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ô</a:t>
            </a:r>
            <a:r>
              <a:rPr lang="vi-VN" sz="3000" i="1" spc="5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tô,</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xe</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máy</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lập</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hóa</a:t>
            </a:r>
            <a:r>
              <a:rPr lang="vi-VN" sz="3000" i="1" spc="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đơn</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điện</a:t>
            </a:r>
            <a:r>
              <a:rPr lang="vi-VN" sz="3000" i="1" spc="5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tử</a:t>
            </a:r>
            <a:r>
              <a:rPr lang="vi-VN" sz="3000" i="1" spc="3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có</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đủ</a:t>
            </a:r>
            <a:r>
              <a:rPr lang="vi-VN" sz="3000" i="1" spc="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các</a:t>
            </a:r>
            <a:r>
              <a:rPr lang="vi-VN" sz="3000" i="1" spc="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thông</a:t>
            </a:r>
            <a:r>
              <a:rPr lang="vi-VN" sz="3000" i="1" spc="5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tin</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sau:</a:t>
            </a:r>
            <a:r>
              <a:rPr lang="vi-VN" sz="3000" i="1" spc="4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Họ</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và</a:t>
            </a:r>
            <a:r>
              <a:rPr lang="vi-VN" sz="3000" i="1" spc="35">
                <a:effectLst/>
                <a:latin typeface="Calibri" panose="020F0502020204030204" pitchFamily="34" charset="0"/>
                <a:ea typeface="Calibri" panose="020F0502020204030204" pitchFamily="34" charset="0"/>
                <a:cs typeface="Calibri" panose="020F0502020204030204" pitchFamily="34" charset="0"/>
              </a:rPr>
              <a:t> </a:t>
            </a:r>
            <a:r>
              <a:rPr lang="vi-VN" sz="3000" i="1" spc="-25">
                <a:effectLst/>
                <a:latin typeface="Calibri" panose="020F0502020204030204" pitchFamily="34" charset="0"/>
                <a:ea typeface="Calibri" panose="020F0502020204030204" pitchFamily="34" charset="0"/>
                <a:cs typeface="Calibri" panose="020F0502020204030204" pitchFamily="34" charset="0"/>
              </a:rPr>
              <a:t>tên</a:t>
            </a:r>
            <a:r>
              <a:rPr lang="en-US" sz="3000" spc="-25">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người</a:t>
            </a:r>
            <a:r>
              <a:rPr lang="vi-VN" sz="3000" i="1" spc="6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mua;</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số</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định</a:t>
            </a:r>
            <a:r>
              <a:rPr lang="vi-VN" sz="3000" i="1" spc="4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danh</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cá</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nhân</a:t>
            </a:r>
            <a:r>
              <a:rPr lang="vi-VN" sz="3000" i="1" spc="6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hoặc</a:t>
            </a:r>
            <a:r>
              <a:rPr lang="vi-VN" sz="3000" i="1" spc="50">
                <a:effectLst/>
                <a:latin typeface="Calibri" panose="020F0502020204030204" pitchFamily="34" charset="0"/>
                <a:ea typeface="Calibri" panose="020F0502020204030204" pitchFamily="34" charset="0"/>
                <a:cs typeface="Calibri" panose="020F0502020204030204" pitchFamily="34" charset="0"/>
              </a:rPr>
              <a:t> </a:t>
            </a:r>
            <a:r>
              <a:rPr lang="vi-VN" sz="3000" i="1" spc="55">
                <a:effectLst/>
                <a:latin typeface="Calibri" panose="020F0502020204030204" pitchFamily="34" charset="0"/>
                <a:ea typeface="Calibri" panose="020F0502020204030204" pitchFamily="34" charset="0"/>
                <a:cs typeface="Calibri" panose="020F0502020204030204" pitchFamily="34" charset="0"/>
              </a:rPr>
              <a:t>m</a:t>
            </a:r>
            <a:r>
              <a:rPr lang="en-US" sz="3000" i="1" spc="85">
                <a:solidFill>
                  <a:srgbClr val="898989"/>
                </a:solidFill>
                <a:effectLst/>
                <a:latin typeface="Calibri" panose="020F0502020204030204" pitchFamily="34" charset="0"/>
                <a:ea typeface="Calibri" panose="020F0502020204030204" pitchFamily="34" charset="0"/>
                <a:cs typeface="Calibri" panose="020F0502020204030204" pitchFamily="34" charset="0"/>
              </a:rPr>
              <a:t>ã</a:t>
            </a:r>
            <a:r>
              <a:rPr lang="vi-VN" sz="3000" spc="220">
                <a:solidFill>
                  <a:srgbClr val="898989"/>
                </a:solidFill>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số</a:t>
            </a:r>
            <a:r>
              <a:rPr lang="vi-VN" sz="3000" i="1" spc="4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thuế</a:t>
            </a:r>
            <a:r>
              <a:rPr lang="vi-VN" sz="3000" i="1" spc="5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(đối</a:t>
            </a:r>
            <a:r>
              <a:rPr lang="vi-VN" sz="3000" i="1" spc="6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với</a:t>
            </a:r>
            <a:r>
              <a:rPr lang="vi-VN" sz="3000" i="1" spc="6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tổ</a:t>
            </a:r>
            <a:r>
              <a:rPr lang="vi-VN" sz="3000" i="1" spc="6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ch</a:t>
            </a:r>
            <a:r>
              <a:rPr lang="en-US" sz="3000" i="1">
                <a:effectLst/>
                <a:latin typeface="Calibri" panose="020F0502020204030204" pitchFamily="34" charset="0"/>
                <a:ea typeface="Calibri" panose="020F0502020204030204" pitchFamily="34" charset="0"/>
                <a:cs typeface="Calibri" panose="020F0502020204030204" pitchFamily="34" charset="0"/>
              </a:rPr>
              <a:t>ức) </a:t>
            </a:r>
            <a:r>
              <a:rPr lang="vi-VN" sz="3000" i="1">
                <a:effectLst/>
                <a:latin typeface="Calibri" panose="020F0502020204030204" pitchFamily="34" charset="0"/>
                <a:ea typeface="Calibri" panose="020F0502020204030204" pitchFamily="34" charset="0"/>
                <a:cs typeface="Calibri" panose="020F0502020204030204" pitchFamily="34" charset="0"/>
              </a:rPr>
              <a:t>nhãn</a:t>
            </a:r>
            <a:r>
              <a:rPr lang="en-US" sz="3000" i="1">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hiệu,loạ</a:t>
            </a:r>
            <a:r>
              <a:rPr lang="en-US" sz="3000" i="1">
                <a:effectLst/>
                <a:latin typeface="Calibri" panose="020F0502020204030204" pitchFamily="34" charset="0"/>
                <a:ea typeface="Calibri" panose="020F0502020204030204" pitchFamily="34" charset="0"/>
                <a:cs typeface="Calibri" panose="020F0502020204030204" pitchFamily="34" charset="0"/>
              </a:rPr>
              <a:t>i </a:t>
            </a:r>
            <a:r>
              <a:rPr lang="vi-VN" sz="3000" i="1">
                <a:effectLst/>
                <a:latin typeface="Calibri" panose="020F0502020204030204" pitchFamily="34" charset="0"/>
                <a:ea typeface="Calibri" panose="020F0502020204030204" pitchFamily="34" charset="0"/>
                <a:cs typeface="Calibri" panose="020F0502020204030204" pitchFamily="34" charset="0"/>
              </a:rPr>
              <a:t>xe,</a:t>
            </a:r>
            <a:r>
              <a:rPr lang="vi-VN" sz="3000" i="1" spc="55">
                <a:effectLst/>
                <a:latin typeface="Calibri" panose="020F0502020204030204" pitchFamily="34" charset="0"/>
                <a:ea typeface="Calibri" panose="020F0502020204030204" pitchFamily="34" charset="0"/>
                <a:cs typeface="Calibri" panose="020F0502020204030204" pitchFamily="34" charset="0"/>
              </a:rPr>
              <a:t> </a:t>
            </a:r>
            <a:r>
              <a:rPr lang="vi-VN" sz="3000" i="1" spc="-25">
                <a:effectLst/>
                <a:latin typeface="Calibri" panose="020F0502020204030204" pitchFamily="34" charset="0"/>
                <a:ea typeface="Calibri" panose="020F0502020204030204" pitchFamily="34" charset="0"/>
                <a:cs typeface="Calibri" panose="020F0502020204030204" pitchFamily="34" charset="0"/>
              </a:rPr>
              <a:t>năm</a:t>
            </a:r>
            <a:r>
              <a:rPr lang="en-US" sz="3000" i="1" spc="-2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sản xuất; số khung, số máy; số Giấy chứng nhận chất lượng an toàn kỹ thuật và bảo vệ môi trường (đối với xe nhập khẩu) hoặc số Phiếu kiểm tra chất lượng xuất xưởng (đối với xe sản xuất, lắp ráp trong nước) là căn cứ để cơ quan thuế xác định và thông báo số tiền lệ phí trước</a:t>
            </a:r>
            <a:r>
              <a:rPr lang="vi-VN" sz="3000" i="1" spc="40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bạ phải nộp;</a:t>
            </a:r>
            <a:endParaRPr lang="en-US" sz="3000" i="1">
              <a:latin typeface="Calibri" panose="020F0502020204030204" pitchFamily="34" charset="0"/>
              <a:ea typeface="Calibri" panose="020F0502020204030204" pitchFamily="34" charset="0"/>
              <a:cs typeface="Calibri" panose="020F0502020204030204" pitchFamily="34" charset="0"/>
            </a:endParaRPr>
          </a:p>
          <a:p>
            <a:pPr marL="0" indent="466725" algn="just">
              <a:spcBef>
                <a:spcPts val="875"/>
              </a:spcBef>
              <a:spcAft>
                <a:spcPts val="0"/>
              </a:spcAft>
            </a:pPr>
            <a:r>
              <a:rPr lang="en-US" sz="3000" i="1">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000" i="1">
                <a:solidFill>
                  <a:srgbClr val="990033"/>
                </a:solidFill>
                <a:latin typeface="Calibri" panose="020F0502020204030204" pitchFamily="34" charset="0"/>
                <a:ea typeface="Calibri" panose="020F0502020204030204" pitchFamily="34" charset="0"/>
                <a:cs typeface="Calibri" panose="020F0502020204030204" pitchFamily="34" charset="0"/>
              </a:rPr>
              <a:t>Điều 10)</a:t>
            </a:r>
            <a:endParaRPr lang="en-US" sz="300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12864174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6D28-B760-408D-98D5-3311CBAAC8DF}"/>
              </a:ext>
            </a:extLst>
          </p:cNvPr>
          <p:cNvSpPr>
            <a:spLocks noGrp="1"/>
          </p:cNvSpPr>
          <p:nvPr>
            <p:ph type="title"/>
          </p:nvPr>
        </p:nvSpPr>
        <p:spPr>
          <a:xfrm>
            <a:off x="914401" y="914401"/>
            <a:ext cx="16456026" cy="730250"/>
          </a:xfrm>
        </p:spPr>
        <p:txBody>
          <a:bodyPr/>
          <a:lstStyle/>
          <a:p>
            <a:r>
              <a:rPr lang="en-US" sz="4000">
                <a:solidFill>
                  <a:schemeClr val="accent6">
                    <a:lumMod val="75000"/>
                  </a:schemeClr>
                </a:solidFill>
                <a:latin typeface="Arial Bold" panose="020B0704020202020204" pitchFamily="34" charset="0"/>
                <a:cs typeface="Arial Bold" panose="020B0704020202020204" pitchFamily="34" charset="0"/>
              </a:rPr>
              <a:t>NỘI DUNG HÓA ĐƠN </a:t>
            </a:r>
          </a:p>
        </p:txBody>
      </p:sp>
      <p:sp>
        <p:nvSpPr>
          <p:cNvPr id="3" name="Content Placeholder 2">
            <a:extLst>
              <a:ext uri="{FF2B5EF4-FFF2-40B4-BE49-F238E27FC236}">
                <a16:creationId xmlns:a16="http://schemas.microsoft.com/office/drawing/2014/main" id="{D6086BF8-9630-4331-AA64-9B5122D7EC7E}"/>
              </a:ext>
            </a:extLst>
          </p:cNvPr>
          <p:cNvSpPr>
            <a:spLocks noGrp="1"/>
          </p:cNvSpPr>
          <p:nvPr>
            <p:ph idx="1"/>
          </p:nvPr>
        </p:nvSpPr>
        <p:spPr/>
        <p:txBody>
          <a:bodyPr/>
          <a:lstStyle/>
          <a:p>
            <a:pPr marL="0" indent="0"/>
            <a:r>
              <a:rPr lang="vi-VN" sz="3000" b="1">
                <a:solidFill>
                  <a:srgbClr val="BF0000"/>
                </a:solidFill>
                <a:effectLst/>
                <a:latin typeface="Calibri" panose="020F0502020204030204" pitchFamily="34" charset="0"/>
                <a:ea typeface="Calibri" panose="020F0502020204030204" pitchFamily="34" charset="0"/>
                <a:cs typeface="Calibri" panose="020F0502020204030204" pitchFamily="34" charset="0"/>
              </a:rPr>
              <a:t>Sửa đổi </a:t>
            </a:r>
            <a:r>
              <a:rPr lang="vi-VN" sz="3000">
                <a:effectLst/>
                <a:latin typeface="Calibri" panose="020F0502020204030204" pitchFamily="34" charset="0"/>
                <a:ea typeface="Calibri" panose="020F0502020204030204" pitchFamily="34" charset="0"/>
                <a:cs typeface="Calibri" panose="020F0502020204030204" pitchFamily="34" charset="0"/>
              </a:rPr>
              <a:t>quy định việc thể hiện biển kiểm số trên hóa đơn đối với dịch vụ vận tải đường bộ trong nước và đối với dịch vụ vận tải được thuê theo tuyến cố định thì không cần thể hiện biển</a:t>
            </a:r>
            <a:r>
              <a:rPr lang="vi-VN" sz="3000" spc="400">
                <a:effectLst/>
                <a:latin typeface="Calibri" panose="020F0502020204030204" pitchFamily="34" charset="0"/>
                <a:ea typeface="Calibri" panose="020F0502020204030204" pitchFamily="34" charset="0"/>
                <a:cs typeface="Calibri" panose="020F0502020204030204" pitchFamily="34" charset="0"/>
              </a:rPr>
              <a:t> </a:t>
            </a:r>
            <a:r>
              <a:rPr lang="vi-VN" sz="3000">
                <a:effectLst/>
                <a:latin typeface="Calibri" panose="020F0502020204030204" pitchFamily="34" charset="0"/>
                <a:ea typeface="Calibri" panose="020F0502020204030204" pitchFamily="34" charset="0"/>
                <a:cs typeface="Calibri" panose="020F0502020204030204" pitchFamily="34" charset="0"/>
              </a:rPr>
              <a:t>số phương tiện</a:t>
            </a:r>
            <a:r>
              <a:rPr lang="vi-VN" sz="3000">
                <a:effectLst/>
                <a:latin typeface="Times New Roman" panose="02020603050405020304" pitchFamily="18" charset="0"/>
                <a:ea typeface="Times New Roman" panose="02020603050405020304" pitchFamily="18" charset="0"/>
              </a:rPr>
              <a:t>.</a:t>
            </a:r>
            <a:endParaRPr lang="en-US" sz="3000">
              <a:effectLst/>
              <a:latin typeface="Times New Roman" panose="02020603050405020304" pitchFamily="18" charset="0"/>
              <a:ea typeface="Times New Roman" panose="02020603050405020304" pitchFamily="18" charset="0"/>
            </a:endParaRPr>
          </a:p>
          <a:p>
            <a:endParaRPr lang="en-US" sz="1800">
              <a:effectLst/>
              <a:latin typeface="Times New Roman" panose="02020603050405020304" pitchFamily="18" charset="0"/>
              <a:ea typeface="Times New Roman" panose="02020603050405020304" pitchFamily="18" charset="0"/>
            </a:endParaRPr>
          </a:p>
          <a:p>
            <a:endParaRPr lang="en-US"/>
          </a:p>
        </p:txBody>
      </p:sp>
      <p:graphicFrame>
        <p:nvGraphicFramePr>
          <p:cNvPr id="14" name="Object 13">
            <a:extLst>
              <a:ext uri="{FF2B5EF4-FFF2-40B4-BE49-F238E27FC236}">
                <a16:creationId xmlns:a16="http://schemas.microsoft.com/office/drawing/2014/main" id="{C6A134FF-937D-488A-AF0E-CB5E16EC2E7A}"/>
              </a:ext>
            </a:extLst>
          </p:cNvPr>
          <p:cNvGraphicFramePr>
            <a:graphicFrameLocks noChangeAspect="1"/>
          </p:cNvGraphicFramePr>
          <p:nvPr>
            <p:extLst>
              <p:ext uri="{D42A27DB-BD31-4B8C-83A1-F6EECF244321}">
                <p14:modId xmlns:p14="http://schemas.microsoft.com/office/powerpoint/2010/main" val="1982248244"/>
              </p:ext>
            </p:extLst>
          </p:nvPr>
        </p:nvGraphicFramePr>
        <p:xfrm>
          <a:off x="1219200" y="3086100"/>
          <a:ext cx="15925800" cy="7924800"/>
        </p:xfrm>
        <a:graphic>
          <a:graphicData uri="http://schemas.openxmlformats.org/presentationml/2006/ole">
            <mc:AlternateContent xmlns:mc="http://schemas.openxmlformats.org/markup-compatibility/2006">
              <mc:Choice xmlns:v="urn:schemas-microsoft-com:vml" Requires="v">
                <p:oleObj spid="_x0000_s2121" name="Document" r:id="rId3" imgW="5766133" imgH="2871897" progId="Word.Document.12">
                  <p:embed/>
                </p:oleObj>
              </mc:Choice>
              <mc:Fallback>
                <p:oleObj name="Document" r:id="rId3" imgW="5766133" imgH="2871897" progId="Word.Document.12">
                  <p:embed/>
                  <p:pic>
                    <p:nvPicPr>
                      <p:cNvPr id="0" name=""/>
                      <p:cNvPicPr/>
                      <p:nvPr/>
                    </p:nvPicPr>
                    <p:blipFill>
                      <a:blip r:embed="rId4"/>
                      <a:stretch>
                        <a:fillRect/>
                      </a:stretch>
                    </p:blipFill>
                    <p:spPr>
                      <a:xfrm>
                        <a:off x="1219200" y="3086100"/>
                        <a:ext cx="15925800" cy="7924800"/>
                      </a:xfrm>
                      <a:prstGeom prst="rect">
                        <a:avLst/>
                      </a:prstGeom>
                    </p:spPr>
                  </p:pic>
                </p:oleObj>
              </mc:Fallback>
            </mc:AlternateContent>
          </a:graphicData>
        </a:graphic>
      </p:graphicFrame>
    </p:spTree>
    <p:extLst>
      <p:ext uri="{BB962C8B-B14F-4D97-AF65-F5344CB8AC3E}">
        <p14:creationId xmlns:p14="http://schemas.microsoft.com/office/powerpoint/2010/main" val="23795900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F5FB2-DF02-434B-9561-F5E4BABCBE60}"/>
              </a:ext>
            </a:extLst>
          </p:cNvPr>
          <p:cNvSpPr>
            <a:spLocks noGrp="1"/>
          </p:cNvSpPr>
          <p:nvPr>
            <p:ph type="title"/>
          </p:nvPr>
        </p:nvSpPr>
        <p:spPr>
          <a:xfrm>
            <a:off x="914401" y="914401"/>
            <a:ext cx="16456026" cy="730250"/>
          </a:xfrm>
        </p:spPr>
        <p:txBody>
          <a:bodyPr/>
          <a:lstStyle/>
          <a:p>
            <a:r>
              <a:rPr lang="en-US" sz="4000">
                <a:solidFill>
                  <a:schemeClr val="accent6">
                    <a:lumMod val="75000"/>
                  </a:schemeClr>
                </a:solidFill>
                <a:latin typeface="Arial Bold" panose="020B0704020202020204" pitchFamily="34" charset="0"/>
                <a:cs typeface="Arial Bold" panose="020B0704020202020204" pitchFamily="34" charset="0"/>
              </a:rPr>
              <a:t>NỘI DUNG HÓA ĐƠN </a:t>
            </a:r>
          </a:p>
        </p:txBody>
      </p:sp>
      <p:sp>
        <p:nvSpPr>
          <p:cNvPr id="3" name="Content Placeholder 2">
            <a:extLst>
              <a:ext uri="{FF2B5EF4-FFF2-40B4-BE49-F238E27FC236}">
                <a16:creationId xmlns:a16="http://schemas.microsoft.com/office/drawing/2014/main" id="{2AD2398B-192D-4EF6-964C-8D16E0B24159}"/>
              </a:ext>
            </a:extLst>
          </p:cNvPr>
          <p:cNvSpPr>
            <a:spLocks noGrp="1"/>
          </p:cNvSpPr>
          <p:nvPr>
            <p:ph idx="1"/>
          </p:nvPr>
        </p:nvSpPr>
        <p:spPr/>
        <p:txBody>
          <a:bodyPr/>
          <a:lstStyle/>
          <a:p>
            <a:pPr marL="742950" marR="283210" lvl="1" indent="-285750" algn="just">
              <a:lnSpc>
                <a:spcPct val="150000"/>
              </a:lnSpc>
              <a:spcAft>
                <a:spcPts val="0"/>
              </a:spcAft>
              <a:buFont typeface="Wingdings" panose="05000000000000000000" pitchFamily="2" charset="2"/>
              <a:buChar char=""/>
              <a:tabLst>
                <a:tab pos="583565" algn="l"/>
                <a:tab pos="584835" algn="l"/>
              </a:tabLst>
            </a:pP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a:t>
            </a:r>
            <a:r>
              <a:rPr lang="vi-VN" sz="3000" b="1" spc="20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vi-VN" sz="3000" b="1" spc="0">
                <a:solidFill>
                  <a:srgbClr val="FF0000"/>
                </a:solidFill>
                <a:effectLst/>
                <a:latin typeface="Calibri" panose="020F0502020204030204" pitchFamily="34" charset="0"/>
                <a:ea typeface="Calibri" panose="020F0502020204030204" pitchFamily="34" charset="0"/>
                <a:cs typeface="Calibri" panose="020F0502020204030204" pitchFamily="34" charset="0"/>
              </a:rPr>
              <a:t>sung </a:t>
            </a:r>
            <a:r>
              <a:rPr lang="vi-VN" sz="3000" spc="0">
                <a:effectLst/>
                <a:latin typeface="Calibri" panose="020F0502020204030204" pitchFamily="34" charset="0"/>
                <a:ea typeface="Calibri" panose="020F0502020204030204" pitchFamily="34" charset="0"/>
                <a:cs typeface="Calibri" panose="020F0502020204030204" pitchFamily="34" charset="0"/>
              </a:rPr>
              <a:t>quy định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Chữ ký</a:t>
            </a:r>
            <a:r>
              <a:rPr lang="vi-VN" sz="3000" spc="20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của người bán,</a:t>
            </a:r>
            <a:r>
              <a:rPr lang="vi-VN" sz="3000" spc="20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chữ ký</a:t>
            </a:r>
            <a:r>
              <a:rPr lang="vi-VN" sz="3000" spc="20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của người</a:t>
            </a:r>
            <a:r>
              <a:rPr lang="vi-VN" sz="3000" spc="200">
                <a:solidFill>
                  <a:srgbClr val="BF0000"/>
                </a:solidFill>
                <a:effectLst/>
                <a:latin typeface="Calibri" panose="020F0502020204030204" pitchFamily="34" charset="0"/>
                <a:ea typeface="Calibri" panose="020F0502020204030204" pitchFamily="34" charset="0"/>
                <a:cs typeface="Calibri" panose="020F0502020204030204" pitchFamily="34" charset="0"/>
              </a:rPr>
              <a:t> </a:t>
            </a:r>
            <a:r>
              <a:rPr lang="vi-VN" sz="3000" spc="0">
                <a:solidFill>
                  <a:srgbClr val="BF0000"/>
                </a:solidFill>
                <a:effectLst/>
                <a:latin typeface="Calibri" panose="020F0502020204030204" pitchFamily="34" charset="0"/>
                <a:ea typeface="Calibri" panose="020F0502020204030204" pitchFamily="34" charset="0"/>
                <a:cs typeface="Calibri" panose="020F0502020204030204" pitchFamily="34" charset="0"/>
              </a:rPr>
              <a:t>mua</a:t>
            </a:r>
            <a:r>
              <a:rPr lang="vi-VN" sz="3000" spc="0">
                <a:effectLst/>
                <a:latin typeface="Calibri" panose="020F0502020204030204" pitchFamily="34" charset="0"/>
                <a:ea typeface="Calibri" panose="020F0502020204030204" pitchFamily="34" charset="0"/>
                <a:cs typeface="Calibri" panose="020F0502020204030204" pitchFamily="34" charset="0"/>
              </a:rPr>
              <a:t>”: Trường hợp là nhà cung cấp ở nước ngoài là chữ ký điện tử theo quy định của pháp luật về giao dịch điện tử.</a:t>
            </a:r>
            <a:endParaRPr lang="en-US" sz="3000" spc="0">
              <a:effectLst/>
              <a:latin typeface="Calibri" panose="020F0502020204030204" pitchFamily="34" charset="0"/>
              <a:ea typeface="Calibri" panose="020F0502020204030204" pitchFamily="34" charset="0"/>
              <a:cs typeface="Calibri" panose="020F0502020204030204" pitchFamily="34" charset="0"/>
            </a:endParaRPr>
          </a:p>
          <a:p>
            <a:pPr marL="742950" marR="284480" lvl="1" indent="-285750" algn="just">
              <a:lnSpc>
                <a:spcPct val="150000"/>
              </a:lnSpc>
              <a:spcBef>
                <a:spcPts val="640"/>
              </a:spcBef>
              <a:spcAft>
                <a:spcPts val="0"/>
              </a:spcAft>
              <a:buFont typeface="Wingdings" panose="05000000000000000000" pitchFamily="2" charset="2"/>
              <a:buChar char=""/>
              <a:tabLst>
                <a:tab pos="583565" algn="l"/>
                <a:tab pos="584835" algn="l"/>
              </a:tabLst>
            </a:pPr>
            <a:r>
              <a:rPr lang="vi-VN" sz="3000" b="1" i="0" spc="0">
                <a:solidFill>
                  <a:srgbClr val="FF0000"/>
                </a:solidFill>
                <a:effectLst/>
                <a:latin typeface="Calibri" panose="020F0502020204030204" pitchFamily="34" charset="0"/>
                <a:ea typeface="Calibri" panose="020F0502020204030204" pitchFamily="34" charset="0"/>
                <a:cs typeface="Calibri" panose="020F0502020204030204" pitchFamily="34" charset="0"/>
              </a:rPr>
              <a:t>Bổ sung </a:t>
            </a:r>
            <a:r>
              <a:rPr lang="vi-VN" sz="3000" b="1" i="0" spc="0">
                <a:effectLst/>
                <a:latin typeface="Calibri" panose="020F0502020204030204" pitchFamily="34" charset="0"/>
                <a:ea typeface="Calibri" panose="020F0502020204030204" pitchFamily="34" charset="0"/>
                <a:cs typeface="Calibri" panose="020F0502020204030204" pitchFamily="34" charset="0"/>
              </a:rPr>
              <a:t>quy định: </a:t>
            </a:r>
            <a:r>
              <a:rPr lang="vi-VN" sz="3000" b="1" i="1" spc="0">
                <a:effectLst/>
                <a:latin typeface="Calibri" panose="020F0502020204030204" pitchFamily="34" charset="0"/>
                <a:ea typeface="Calibri" panose="020F0502020204030204" pitchFamily="34" charset="0"/>
                <a:cs typeface="Calibri" panose="020F0502020204030204" pitchFamily="34" charset="0"/>
              </a:rPr>
              <a:t>Đối với hóa đơn bán hàng của HKD, CNKD, </a:t>
            </a:r>
            <a:r>
              <a:rPr lang="vi-VN" sz="3000" b="1" i="1" spc="0">
                <a:solidFill>
                  <a:srgbClr val="BF0000"/>
                </a:solidFill>
                <a:effectLst/>
                <a:latin typeface="Calibri" panose="020F0502020204030204" pitchFamily="34" charset="0"/>
                <a:ea typeface="Calibri" panose="020F0502020204030204" pitchFamily="34" charset="0"/>
                <a:cs typeface="Calibri" panose="020F0502020204030204" pitchFamily="34" charset="0"/>
              </a:rPr>
              <a:t>khuyến khích </a:t>
            </a:r>
            <a:r>
              <a:rPr lang="vi-VN" sz="3000" b="1" i="1" spc="0">
                <a:effectLst/>
                <a:latin typeface="Calibri" panose="020F0502020204030204" pitchFamily="34" charset="0"/>
                <a:ea typeface="Calibri" panose="020F0502020204030204" pitchFamily="34" charset="0"/>
                <a:cs typeface="Calibri" panose="020F0502020204030204" pitchFamily="34" charset="0"/>
              </a:rPr>
              <a:t>người bán thể hiện thông tin nhóm ngành nghề tương ứng với hàng hóa, dịch vụ trên dữ liệu hóa đơn điện tử theo định dạng XML gửi cơ quan</a:t>
            </a:r>
            <a:r>
              <a:rPr lang="en-US" sz="3000" b="1" i="1">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thuế.</a:t>
            </a:r>
            <a:r>
              <a:rPr lang="vi-VN" sz="3000" b="1" i="1" spc="26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Trường</a:t>
            </a:r>
            <a:r>
              <a:rPr lang="vi-VN" sz="3000" b="1" i="1" spc="28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hợp</a:t>
            </a:r>
            <a:r>
              <a:rPr lang="vi-VN" sz="3000" b="1" i="1" spc="26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HHDV</a:t>
            </a:r>
            <a:r>
              <a:rPr lang="vi-VN" sz="3000" b="1" i="1" spc="28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thuộc</a:t>
            </a:r>
            <a:r>
              <a:rPr lang="vi-VN" sz="3000" b="1" i="1" spc="27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đối</a:t>
            </a:r>
            <a:r>
              <a:rPr lang="vi-VN" sz="3000" b="1" i="1" spc="27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tượng</a:t>
            </a:r>
            <a:r>
              <a:rPr lang="vi-VN" sz="3000" b="1" i="1" spc="28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không</a:t>
            </a:r>
            <a:r>
              <a:rPr lang="vi-VN" sz="3000" b="1" i="1" spc="28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chịu</a:t>
            </a:r>
            <a:r>
              <a:rPr lang="vi-VN" sz="3000" b="1" i="1" spc="30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thuế</a:t>
            </a:r>
            <a:r>
              <a:rPr lang="vi-VN" sz="3000" b="1" i="1" spc="275">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thì</a:t>
            </a:r>
            <a:r>
              <a:rPr lang="vi-VN" sz="3000" b="1" i="1" spc="270">
                <a:effectLst/>
                <a:latin typeface="Calibri" panose="020F0502020204030204" pitchFamily="34" charset="0"/>
                <a:ea typeface="Calibri" panose="020F0502020204030204" pitchFamily="34" charset="0"/>
                <a:cs typeface="Calibri" panose="020F0502020204030204" pitchFamily="34" charset="0"/>
              </a:rPr>
              <a:t> </a:t>
            </a:r>
            <a:r>
              <a:rPr lang="vi-VN" sz="3000" b="1" i="1">
                <a:effectLst/>
                <a:latin typeface="Calibri" panose="020F0502020204030204" pitchFamily="34" charset="0"/>
                <a:ea typeface="Calibri" panose="020F0502020204030204" pitchFamily="34" charset="0"/>
                <a:cs typeface="Calibri" panose="020F0502020204030204" pitchFamily="34" charset="0"/>
              </a:rPr>
              <a:t>thể</a:t>
            </a:r>
            <a:r>
              <a:rPr lang="vi-VN" sz="3000" b="1" i="1" spc="280">
                <a:effectLst/>
                <a:latin typeface="Calibri" panose="020F0502020204030204" pitchFamily="34" charset="0"/>
                <a:ea typeface="Calibri" panose="020F0502020204030204" pitchFamily="34" charset="0"/>
                <a:cs typeface="Calibri" panose="020F0502020204030204" pitchFamily="34" charset="0"/>
              </a:rPr>
              <a:t> </a:t>
            </a:r>
            <a:r>
              <a:rPr lang="vi-VN" sz="3000" b="1" i="1" spc="-20">
                <a:effectLst/>
                <a:latin typeface="Calibri" panose="020F0502020204030204" pitchFamily="34" charset="0"/>
                <a:ea typeface="Calibri" panose="020F0502020204030204" pitchFamily="34" charset="0"/>
                <a:cs typeface="Calibri" panose="020F0502020204030204" pitchFamily="34" charset="0"/>
              </a:rPr>
              <a:t>hiện</a:t>
            </a:r>
            <a:r>
              <a:rPr lang="en-US" sz="3000" b="1" i="1" spc="-20">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tương</a:t>
            </a:r>
            <a:r>
              <a:rPr lang="vi-VN" sz="3000" i="1" spc="1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ứng</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trên</a:t>
            </a:r>
            <a:r>
              <a:rPr lang="vi-VN" sz="3000" i="1" spc="15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hóa</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đơn. Thông</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tin</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nhóm</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ngành</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nghề</a:t>
            </a:r>
            <a:r>
              <a:rPr lang="vi-VN" sz="3000" i="1" spc="12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(nếu</a:t>
            </a:r>
            <a:r>
              <a:rPr lang="vi-VN" sz="3000" i="1" spc="140">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có)</a:t>
            </a:r>
            <a:r>
              <a:rPr lang="vi-VN" sz="3000" i="1" spc="13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được</a:t>
            </a:r>
            <a:r>
              <a:rPr lang="vi-VN" sz="3000" i="1" spc="125">
                <a:effectLst/>
                <a:latin typeface="Calibri" panose="020F0502020204030204" pitchFamily="34" charset="0"/>
                <a:ea typeface="Calibri" panose="020F0502020204030204" pitchFamily="34" charset="0"/>
                <a:cs typeface="Calibri" panose="020F0502020204030204" pitchFamily="34" charset="0"/>
              </a:rPr>
              <a:t> </a:t>
            </a:r>
            <a:r>
              <a:rPr lang="vi-VN" sz="3000" i="1">
                <a:effectLst/>
                <a:latin typeface="Calibri" panose="020F0502020204030204" pitchFamily="34" charset="0"/>
                <a:ea typeface="Calibri" panose="020F0502020204030204" pitchFamily="34" charset="0"/>
                <a:cs typeface="Calibri" panose="020F0502020204030204" pitchFamily="34" charset="0"/>
              </a:rPr>
              <a:t>hiển thị trên bản thể hiện hóa đơn điện tử.”</a:t>
            </a:r>
            <a:endParaRPr lang="en-US" sz="3000">
              <a:effectLst/>
              <a:latin typeface="Calibri" panose="020F0502020204030204" pitchFamily="34" charset="0"/>
              <a:ea typeface="Calibri" panose="020F0502020204030204" pitchFamily="34" charset="0"/>
              <a:cs typeface="Calibri" panose="020F0502020204030204" pitchFamily="34" charset="0"/>
            </a:endParaRPr>
          </a:p>
          <a:p>
            <a:r>
              <a:rPr lang="vi-VN" sz="3000" i="1">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000" i="1">
                <a:solidFill>
                  <a:srgbClr val="990033"/>
                </a:solidFill>
                <a:effectLst/>
                <a:latin typeface="Calibri" panose="020F0502020204030204" pitchFamily="34" charset="0"/>
                <a:ea typeface="Calibri" panose="020F0502020204030204" pitchFamily="34" charset="0"/>
                <a:cs typeface="Calibri" panose="020F0502020204030204" pitchFamily="34" charset="0"/>
              </a:rPr>
              <a:t> (Điều 10)</a:t>
            </a:r>
            <a:endParaRPr lang="en-US" sz="3000">
              <a:solidFill>
                <a:srgbClr val="990033"/>
              </a:solidFill>
              <a:effectLst/>
              <a:latin typeface="Calibri" panose="020F0502020204030204" pitchFamily="34" charset="0"/>
              <a:ea typeface="Calibri" panose="020F0502020204030204" pitchFamily="34" charset="0"/>
              <a:cs typeface="Calibri" panose="020F0502020204030204" pitchFamily="34" charset="0"/>
            </a:endParaRPr>
          </a:p>
          <a:p>
            <a:endParaRPr lang="en-US"/>
          </a:p>
        </p:txBody>
      </p:sp>
    </p:spTree>
    <p:extLst>
      <p:ext uri="{BB962C8B-B14F-4D97-AF65-F5344CB8AC3E}">
        <p14:creationId xmlns:p14="http://schemas.microsoft.com/office/powerpoint/2010/main" val="27356383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4526-F9F2-E8E0-8909-86217C205BE1}"/>
              </a:ext>
            </a:extLst>
          </p:cNvPr>
          <p:cNvSpPr>
            <a:spLocks noGrp="1"/>
          </p:cNvSpPr>
          <p:nvPr>
            <p:ph type="title"/>
          </p:nvPr>
        </p:nvSpPr>
        <p:spPr>
          <a:xfrm>
            <a:off x="838200" y="571500"/>
            <a:ext cx="16456026" cy="730250"/>
          </a:xfrm>
        </p:spPr>
        <p:txBody>
          <a:bodyPr/>
          <a:lstStyle/>
          <a:p>
            <a:r>
              <a:rPr lang="en-US" sz="4000" b="1" dirty="0" err="1">
                <a:solidFill>
                  <a:srgbClr val="990033"/>
                </a:solidFill>
                <a:latin typeface="Arial Bold" panose="020B0704020202020204" pitchFamily="34" charset="0"/>
                <a:cs typeface="Arial Bold" panose="020B0704020202020204" pitchFamily="34" charset="0"/>
              </a:rPr>
              <a:t>CHUYỂN</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TIẾP-NNT</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CẦN</a:t>
            </a:r>
            <a:r>
              <a:rPr lang="en-US" sz="4000" b="1" dirty="0">
                <a:solidFill>
                  <a:srgbClr val="990033"/>
                </a:solidFill>
                <a:latin typeface="Arial Bold" panose="020B0704020202020204" pitchFamily="34" charset="0"/>
                <a:cs typeface="Arial Bold" panose="020B0704020202020204" pitchFamily="34" charset="0"/>
              </a:rPr>
              <a:t> </a:t>
            </a:r>
            <a:r>
              <a:rPr lang="en-US" sz="4000" b="1" dirty="0" err="1">
                <a:solidFill>
                  <a:srgbClr val="990033"/>
                </a:solidFill>
                <a:latin typeface="Arial Bold" panose="020B0704020202020204" pitchFamily="34" charset="0"/>
                <a:cs typeface="Arial Bold" panose="020B0704020202020204" pitchFamily="34" charset="0"/>
              </a:rPr>
              <a:t>NHỚ</a:t>
            </a:r>
            <a:endParaRPr lang="en-US" sz="4000" b="1" dirty="0">
              <a:solidFill>
                <a:srgbClr val="990033"/>
              </a:solidFill>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A2D42764-404F-02B1-A87D-DC85ABF16486}"/>
              </a:ext>
            </a:extLst>
          </p:cNvPr>
          <p:cNvSpPr>
            <a:spLocks noGrp="1"/>
          </p:cNvSpPr>
          <p:nvPr>
            <p:ph idx="1"/>
          </p:nvPr>
        </p:nvSpPr>
        <p:spPr>
          <a:xfrm>
            <a:off x="381000" y="1828801"/>
            <a:ext cx="17526000" cy="8458199"/>
          </a:xfrm>
        </p:spPr>
        <p:txBody>
          <a:bodyPr/>
          <a:lstStyle/>
          <a:p>
            <a:pPr marL="0" indent="361950" algn="just">
              <a:spcAft>
                <a:spcPts val="1000"/>
              </a:spcAft>
              <a:defRPr sz="1800"/>
            </a:pPr>
            <a:r>
              <a:rPr lang="vi-VN" sz="3600" dirty="0">
                <a:latin typeface="Calibri" panose="020F0502020204030204" pitchFamily="34" charset="0"/>
                <a:ea typeface="Calibri" panose="020F0502020204030204" pitchFamily="34" charset="0"/>
                <a:cs typeface="Calibri" panose="020F0502020204030204" pitchFamily="34" charset="0"/>
              </a:rPr>
              <a:t>Biên lai giấy tự in, đặt in theo Nghị định 123/2020/NĐ-CP được tiếp tục sử dụng đến hết 31/12/2026 theo nội dung tài liệu.</a:t>
            </a:r>
          </a:p>
          <a:p>
            <a:pPr marL="0" indent="361950" algn="just">
              <a:spcAft>
                <a:spcPts val="1000"/>
              </a:spcAft>
              <a:defRPr sz="1800"/>
            </a:pPr>
            <a:r>
              <a:rPr lang="vi-VN" sz="3600" dirty="0">
                <a:latin typeface="Calibri" panose="020F0502020204030204" pitchFamily="34" charset="0"/>
                <a:ea typeface="Calibri" panose="020F0502020204030204" pitchFamily="34" charset="0"/>
                <a:cs typeface="Calibri" panose="020F0502020204030204" pitchFamily="34" charset="0"/>
              </a:rPr>
              <a:t>Từ 01/01/2027: biên lai giấy chưa sử dụng phải tiêu hủy và chuyển đổi sang biên lai điện tử theo quy định.</a:t>
            </a:r>
          </a:p>
          <a:p>
            <a:pPr marL="0" indent="361950" algn="just">
              <a:spcAft>
                <a:spcPts val="1000"/>
              </a:spcAft>
              <a:defRPr sz="1800"/>
            </a:pPr>
            <a:r>
              <a:rPr lang="vi-VN" sz="3600" dirty="0">
                <a:latin typeface="Calibri" panose="020F0502020204030204" pitchFamily="34" charset="0"/>
                <a:ea typeface="Calibri" panose="020F0502020204030204" pitchFamily="34" charset="0"/>
                <a:cs typeface="Calibri" panose="020F0502020204030204" pitchFamily="34" charset="0"/>
              </a:rPr>
              <a:t>Hóa đơn đặt in của cơ quan thuế hết giá trị sử dụng từ 01/7/2026; số chưa sử dụng phải xử lý theo quy định chuyển tiếp.</a:t>
            </a:r>
          </a:p>
          <a:p>
            <a:pPr marL="0" indent="0" algn="just">
              <a:lnSpc>
                <a:spcPct val="150000"/>
              </a:lnSpc>
              <a:spcBef>
                <a:spcPts val="600"/>
              </a:spcBef>
              <a:spcAft>
                <a:spcPts val="600"/>
              </a:spcAft>
            </a:pP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sz="3600" dirty="0" err="1">
                <a:solidFill>
                  <a:srgbClr val="FF0000"/>
                </a:solidFill>
                <a:latin typeface="Calibri" panose="020F0502020204030204" pitchFamily="34" charset="0"/>
                <a:ea typeface="Calibri" panose="020F0502020204030204" pitchFamily="34" charset="0"/>
                <a:cs typeface="Calibri" panose="020F0502020204030204" pitchFamily="34" charset="0"/>
              </a:rPr>
              <a:t>Điều</a:t>
            </a:r>
            <a:r>
              <a:rPr lang="en-US" sz="3600" dirty="0">
                <a:solidFill>
                  <a:srgbClr val="FF0000"/>
                </a:solidFill>
                <a:latin typeface="Calibri" panose="020F0502020204030204" pitchFamily="34" charset="0"/>
                <a:ea typeface="Calibri" panose="020F0502020204030204" pitchFamily="34" charset="0"/>
                <a:cs typeface="Calibri" panose="020F0502020204030204" pitchFamily="34" charset="0"/>
              </a:rPr>
              <a:t> 44 </a:t>
            </a:r>
            <a:r>
              <a:rPr lang="en-US" sz="3600" dirty="0" err="1">
                <a:solidFill>
                  <a:srgbClr val="FF0000"/>
                </a:solidFill>
                <a:latin typeface="Calibri" panose="020F0502020204030204" pitchFamily="34" charset="0"/>
                <a:ea typeface="Calibri" panose="020F0502020204030204" pitchFamily="34" charset="0"/>
                <a:cs typeface="Calibri" panose="020F0502020204030204" pitchFamily="34" charset="0"/>
              </a:rPr>
              <a:t>Nghị</a:t>
            </a:r>
            <a:r>
              <a:rPr lang="en-US" sz="36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FF0000"/>
                </a:solidFill>
                <a:latin typeface="Calibri" panose="020F0502020204030204" pitchFamily="34" charset="0"/>
                <a:ea typeface="Calibri" panose="020F0502020204030204" pitchFamily="34" charset="0"/>
                <a:cs typeface="Calibri" panose="020F0502020204030204" pitchFamily="34" charset="0"/>
              </a:rPr>
              <a:t>định</a:t>
            </a:r>
            <a:r>
              <a:rPr lang="en-US" sz="3600" dirty="0">
                <a:solidFill>
                  <a:srgbClr val="FF0000"/>
                </a:solidFill>
                <a:latin typeface="Calibri" panose="020F0502020204030204" pitchFamily="34" charset="0"/>
                <a:ea typeface="Calibri" panose="020F0502020204030204" pitchFamily="34" charset="0"/>
                <a:cs typeface="Calibri" panose="020F0502020204030204" pitchFamily="34" charset="0"/>
              </a:rPr>
              <a:t>)</a:t>
            </a:r>
          </a:p>
          <a:p>
            <a:pPr marL="571500" indent="-571500" algn="just">
              <a:lnSpc>
                <a:spcPct val="150000"/>
              </a:lnSpc>
              <a:spcBef>
                <a:spcPts val="600"/>
              </a:spcBef>
              <a:spcAft>
                <a:spcPts val="600"/>
              </a:spcAft>
              <a:buFont typeface="Wingdings" panose="05000000000000000000" pitchFamily="2" charset="2"/>
              <a:buChar char="ü"/>
            </a:pPr>
            <a:endParaRPr lang="en-US" sz="3600" dirty="0">
              <a:solidFill>
                <a:srgbClr val="002060"/>
              </a:solidFill>
              <a:effectLst/>
              <a:latin typeface="+mj-lt"/>
              <a:ea typeface="Times New Roman" panose="02020603050405020304" pitchFamily="18" charset="0"/>
            </a:endParaRPr>
          </a:p>
          <a:p>
            <a:pPr marL="0" indent="0" algn="just">
              <a:lnSpc>
                <a:spcPct val="150000"/>
              </a:lnSpc>
              <a:spcBef>
                <a:spcPts val="600"/>
              </a:spcBef>
              <a:spcAft>
                <a:spcPts val="600"/>
              </a:spcAft>
            </a:pPr>
            <a:endParaRPr lang="en-US" sz="3600" dirty="0">
              <a:solidFill>
                <a:srgbClr val="002060"/>
              </a:solidFill>
              <a:effectLst/>
              <a:latin typeface="+mj-lt"/>
              <a:ea typeface="Times New Roman" panose="02020603050405020304" pitchFamily="18" charset="0"/>
            </a:endParaRPr>
          </a:p>
        </p:txBody>
      </p:sp>
    </p:spTree>
    <p:extLst>
      <p:ext uri="{BB962C8B-B14F-4D97-AF65-F5344CB8AC3E}">
        <p14:creationId xmlns:p14="http://schemas.microsoft.com/office/powerpoint/2010/main" val="25782204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A8CEB0-912B-4516-8987-03A1E7495C95}"/>
              </a:ext>
            </a:extLst>
          </p:cNvPr>
          <p:cNvSpPr txBox="1"/>
          <p:nvPr/>
        </p:nvSpPr>
        <p:spPr>
          <a:xfrm>
            <a:off x="1981200" y="2095500"/>
            <a:ext cx="15011400" cy="5524589"/>
          </a:xfrm>
          <a:prstGeom prst="rect">
            <a:avLst/>
          </a:prstGeom>
          <a:noFill/>
        </p:spPr>
        <p:txBody>
          <a:bodyPr wrap="square" rtlCol="0">
            <a:spAutoFit/>
          </a:bodyPr>
          <a:lstStyle/>
          <a:p>
            <a:pPr marL="0" lvl="8" indent="0" algn="ctr">
              <a:lnSpc>
                <a:spcPct val="150000"/>
              </a:lnSpc>
              <a:spcBef>
                <a:spcPts val="600"/>
              </a:spcBef>
              <a:spcAft>
                <a:spcPts val="600"/>
              </a:spcAft>
            </a:pPr>
            <a:r>
              <a:rPr lang="en-US" sz="4000" dirty="0">
                <a:solidFill>
                  <a:srgbClr val="990033"/>
                </a:solidFill>
                <a:effectLst/>
                <a:latin typeface="Arial Bold" panose="020B0704020202020204" pitchFamily="34" charset="0"/>
                <a:ea typeface="Calibri" panose="020F0502020204030204" pitchFamily="34" charset="0"/>
                <a:cs typeface="Arial Bold" panose="020B0704020202020204" pitchFamily="34" charset="0"/>
              </a:rPr>
              <a:t>PHẦN IV</a:t>
            </a:r>
            <a:endParaRPr lang="en-US" sz="4000" dirty="0">
              <a:solidFill>
                <a:srgbClr val="990033"/>
              </a:solidFill>
              <a:latin typeface="Arial Bold" panose="020B0704020202020204" pitchFamily="34" charset="0"/>
              <a:ea typeface="Calibri" panose="020F0502020204030204" pitchFamily="34" charset="0"/>
              <a:cs typeface="Arial Bold" panose="020B0704020202020204" pitchFamily="34" charset="0"/>
            </a:endParaRPr>
          </a:p>
          <a:p>
            <a:pPr marL="0" lvl="8" indent="0" algn="ctr">
              <a:lnSpc>
                <a:spcPct val="150000"/>
              </a:lnSpc>
              <a:spcBef>
                <a:spcPts val="600"/>
              </a:spcBef>
              <a:spcAft>
                <a:spcPts val="600"/>
              </a:spcAft>
            </a:pPr>
            <a:r>
              <a:rPr lang="en-US" sz="4000" dirty="0">
                <a:solidFill>
                  <a:srgbClr val="990033"/>
                </a:solidFill>
                <a:latin typeface="Arial Bold" panose="020B0704020202020204" pitchFamily="34" charset="0"/>
                <a:ea typeface="Calibri" panose="020F0502020204030204" pitchFamily="34" charset="0"/>
                <a:cs typeface="Arial Bold" panose="020B0704020202020204" pitchFamily="34" charset="0"/>
              </a:rPr>
              <a:t>NGHỊ ĐỊNH 253/2026/NĐ-CP NGÀY 30/06/2026, THÔNG TƯ SỐ </a:t>
            </a:r>
          </a:p>
          <a:p>
            <a:pPr marL="0" lvl="8" indent="0" algn="ctr">
              <a:lnSpc>
                <a:spcPct val="150000"/>
              </a:lnSpc>
              <a:spcBef>
                <a:spcPts val="600"/>
              </a:spcBef>
              <a:spcAft>
                <a:spcPts val="600"/>
              </a:spcAft>
            </a:pPr>
            <a:r>
              <a:rPr lang="en-US" sz="4000" dirty="0">
                <a:solidFill>
                  <a:srgbClr val="990033"/>
                </a:solidFill>
                <a:latin typeface="Arial Bold" panose="020B0704020202020204" pitchFamily="34" charset="0"/>
                <a:ea typeface="Calibri" panose="020F0502020204030204" pitchFamily="34" charset="0"/>
                <a:cs typeface="Arial Bold" panose="020B0704020202020204" pitchFamily="34" charset="0"/>
              </a:rPr>
              <a:t>87/2026/TT-BTC NGÀY  30/06/2026</a:t>
            </a:r>
          </a:p>
          <a:p>
            <a:pPr marL="0" lvl="8" indent="0" algn="ctr">
              <a:lnSpc>
                <a:spcPct val="150000"/>
              </a:lnSpc>
              <a:spcBef>
                <a:spcPts val="600"/>
              </a:spcBef>
              <a:spcAft>
                <a:spcPts val="600"/>
              </a:spcAft>
            </a:pPr>
            <a:r>
              <a:rPr lang="en-US" sz="4000" dirty="0">
                <a:solidFill>
                  <a:srgbClr val="990033"/>
                </a:solidFill>
                <a:latin typeface="Arial Bold" panose="020B0704020202020204" pitchFamily="34" charset="0"/>
                <a:ea typeface="Calibri" panose="020F0502020204030204" pitchFamily="34" charset="0"/>
                <a:cs typeface="Arial Bold" panose="020B0704020202020204" pitchFamily="34" charset="0"/>
              </a:rPr>
              <a:t>QUY ĐỊNH CHI TIẾT MỘT SỐ ĐIỀU VÀ BIỆN PHÁP TỔ CHỨC, HƯỚNG DẪN THI HÀNH LUẬT THUẾ TNCN</a:t>
            </a:r>
          </a:p>
          <a:p>
            <a:endParaRPr lang="en-US" dirty="0"/>
          </a:p>
        </p:txBody>
      </p:sp>
    </p:spTree>
    <p:extLst>
      <p:ext uri="{BB962C8B-B14F-4D97-AF65-F5344CB8AC3E}">
        <p14:creationId xmlns:p14="http://schemas.microsoft.com/office/powerpoint/2010/main" val="36650071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9789D3D-5004-EB54-2307-64C7BF6E73C5}"/>
              </a:ext>
            </a:extLst>
          </p:cNvPr>
          <p:cNvSpPr>
            <a:spLocks noGrp="1" noChangeArrowheads="1"/>
          </p:cNvSpPr>
          <p:nvPr>
            <p:ph type="title"/>
          </p:nvPr>
        </p:nvSpPr>
        <p:spPr>
          <a:xfrm>
            <a:off x="0" y="38100"/>
            <a:ext cx="18059400" cy="1257300"/>
          </a:xfrm>
        </p:spPr>
        <p:txBody>
          <a:bodyPr/>
          <a:lstStyle/>
          <a:p>
            <a:pPr eaLnBrk="1" hangingPunct="1">
              <a:defRPr/>
            </a:pPr>
            <a:r>
              <a:rPr lang="en-US" sz="6600" b="1" dirty="0">
                <a:latin typeface="Times New Roman" pitchFamily="18" charset="0"/>
                <a:cs typeface="Times New Roman" pitchFamily="18" charset="0"/>
              </a:rPr>
              <a:t> </a:t>
            </a:r>
            <a:r>
              <a:rPr lang="en-US" sz="4400" b="1" dirty="0">
                <a:solidFill>
                  <a:srgbClr val="990033"/>
                </a:solidFill>
                <a:effectLst>
                  <a:outerShdw blurRad="38100" dist="38100" dir="2700000" algn="tl">
                    <a:srgbClr val="000000">
                      <a:alpha val="43137"/>
                    </a:srgbClr>
                  </a:outerShdw>
                </a:effectLst>
                <a:cs typeface="Times New Roman" pitchFamily="18" charset="0"/>
              </a:rPr>
              <a:t>	</a:t>
            </a:r>
            <a:r>
              <a:rPr lang="en-US" sz="4000" b="1" dirty="0">
                <a:solidFill>
                  <a:srgbClr val="990033"/>
                </a:solidFill>
                <a:effectLst>
                  <a:outerShdw blurRad="38100" dist="38100" dir="2700000" algn="tl">
                    <a:srgbClr val="000000">
                      <a:alpha val="43137"/>
                    </a:srgbClr>
                  </a:outerShdw>
                </a:effectLst>
                <a:latin typeface="Arial Bold" panose="020B0704020202020204" pitchFamily="34" charset="0"/>
                <a:cs typeface="Arial Bold" panose="020B0704020202020204" pitchFamily="34" charset="0"/>
              </a:rPr>
              <a:t>KẾT CẤU NGHỊ ĐỊNH VÀ THÔNG TƯ</a:t>
            </a:r>
          </a:p>
        </p:txBody>
      </p:sp>
      <p:sp>
        <p:nvSpPr>
          <p:cNvPr id="3078" name="Rectangle 22">
            <a:extLst>
              <a:ext uri="{FF2B5EF4-FFF2-40B4-BE49-F238E27FC236}">
                <a16:creationId xmlns:a16="http://schemas.microsoft.com/office/drawing/2014/main" id="{E222DCB6-C73F-279E-55DF-06C554B602E3}"/>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3079" name="Rectangle 23">
            <a:extLst>
              <a:ext uri="{FF2B5EF4-FFF2-40B4-BE49-F238E27FC236}">
                <a16:creationId xmlns:a16="http://schemas.microsoft.com/office/drawing/2014/main" id="{73517D4C-17B4-EBDE-5D4F-0C18C4EE8CBE}"/>
              </a:ext>
            </a:extLst>
          </p:cNvPr>
          <p:cNvSpPr>
            <a:spLocks noChangeArrowheads="1"/>
          </p:cNvSpPr>
          <p:nvPr/>
        </p:nvSpPr>
        <p:spPr bwMode="auto">
          <a:xfrm>
            <a:off x="8965107" y="4867277"/>
            <a:ext cx="357790" cy="507831"/>
          </a:xfrm>
          <a:prstGeom prst="rect">
            <a:avLst/>
          </a:prstGeom>
          <a:noFill/>
          <a:ln w="9525">
            <a:noFill/>
            <a:miter lim="800000"/>
            <a:headEnd/>
            <a:tailEnd/>
          </a:ln>
        </p:spPr>
        <p:txBody>
          <a:bodyPr wrap="none">
            <a:spAutoFit/>
          </a:bodyPr>
          <a:lstStyle/>
          <a:p>
            <a:pPr algn="ctr" defTabSz="685800" eaLnBrk="0" fontAlgn="base" hangingPunct="0">
              <a:spcBef>
                <a:spcPct val="0"/>
              </a:spcBef>
              <a:spcAft>
                <a:spcPct val="0"/>
              </a:spcAft>
              <a:defRPr/>
            </a:pPr>
            <a:r>
              <a:rPr lang="en-US" sz="2700" b="1">
                <a:solidFill>
                  <a:srgbClr val="FFFFFF"/>
                </a:solidFill>
                <a:latin typeface="Times New Roman" pitchFamily="18" charset="0"/>
                <a:ea typeface="Microsoft YaHei"/>
                <a:cs typeface="Times New Roman" pitchFamily="18" charset="0"/>
              </a:rPr>
              <a:t>2</a:t>
            </a:r>
          </a:p>
        </p:txBody>
      </p:sp>
      <p:sp>
        <p:nvSpPr>
          <p:cNvPr id="14341" name="TextBox 1">
            <a:extLst>
              <a:ext uri="{FF2B5EF4-FFF2-40B4-BE49-F238E27FC236}">
                <a16:creationId xmlns:a16="http://schemas.microsoft.com/office/drawing/2014/main" id="{DB9BD048-7312-6796-1603-60ACDF0E961A}"/>
              </a:ext>
            </a:extLst>
          </p:cNvPr>
          <p:cNvSpPr txBox="1">
            <a:spLocks noChangeArrowheads="1"/>
          </p:cNvSpPr>
          <p:nvPr/>
        </p:nvSpPr>
        <p:spPr bwMode="auto">
          <a:xfrm>
            <a:off x="533400" y="1790701"/>
            <a:ext cx="17373600" cy="6615401"/>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2089150" indent="196850" eaLnBrk="0" fontAlgn="base" hangingPunct="0">
              <a:spcBef>
                <a:spcPct val="0"/>
              </a:spcBef>
              <a:spcAft>
                <a:spcPct val="0"/>
              </a:spcAft>
              <a:defRPr>
                <a:solidFill>
                  <a:schemeClr val="tx1"/>
                </a:solidFill>
                <a:latin typeface="Arial" panose="020B0604020202020204" pitchFamily="34" charset="0"/>
              </a:defRPr>
            </a:lvl6pPr>
            <a:lvl7pPr marL="2546350" indent="196850" eaLnBrk="0" fontAlgn="base" hangingPunct="0">
              <a:spcBef>
                <a:spcPct val="0"/>
              </a:spcBef>
              <a:spcAft>
                <a:spcPct val="0"/>
              </a:spcAft>
              <a:defRPr>
                <a:solidFill>
                  <a:schemeClr val="tx1"/>
                </a:solidFill>
                <a:latin typeface="Arial" panose="020B0604020202020204" pitchFamily="34" charset="0"/>
              </a:defRPr>
            </a:lvl7pPr>
            <a:lvl8pPr marL="3003550" indent="196850" eaLnBrk="0" fontAlgn="base" hangingPunct="0">
              <a:spcBef>
                <a:spcPct val="0"/>
              </a:spcBef>
              <a:spcAft>
                <a:spcPct val="0"/>
              </a:spcAft>
              <a:defRPr>
                <a:solidFill>
                  <a:schemeClr val="tx1"/>
                </a:solidFill>
                <a:latin typeface="Arial" panose="020B0604020202020204" pitchFamily="34" charset="0"/>
              </a:defRPr>
            </a:lvl8pPr>
            <a:lvl9pPr marL="3460750" indent="196850" eaLnBrk="0" fontAlgn="base" hangingPunct="0">
              <a:spcBef>
                <a:spcPct val="0"/>
              </a:spcBef>
              <a:spcAft>
                <a:spcPct val="0"/>
              </a:spcAft>
              <a:defRPr>
                <a:solidFill>
                  <a:schemeClr val="tx1"/>
                </a:solidFill>
                <a:latin typeface="Arial" panose="020B0604020202020204" pitchFamily="34" charset="0"/>
              </a:defRPr>
            </a:lvl9pPr>
          </a:lstStyle>
          <a:p>
            <a:pPr marL="0" indent="0" algn="just">
              <a:lnSpc>
                <a:spcPct val="107000"/>
              </a:lnSpc>
              <a:spcBef>
                <a:spcPts val="900"/>
              </a:spcBef>
              <a:spcAft>
                <a:spcPts val="800"/>
              </a:spcAft>
            </a:pPr>
            <a:r>
              <a:rPr lang="en-US" sz="3600" b="1" dirty="0">
                <a:solidFill>
                  <a:srgbClr val="990033"/>
                </a:solidFill>
                <a:latin typeface="Calibri" panose="020F0502020204030204" pitchFamily="34" charset="0"/>
                <a:ea typeface="Calibri" panose="020F0502020204030204" pitchFamily="34" charset="0"/>
                <a:cs typeface="Calibri" panose="020F0502020204030204" pitchFamily="34" charset="0"/>
              </a:rPr>
              <a:t>1</a:t>
            </a:r>
            <a:r>
              <a:rPr lang="en-US" sz="3600" b="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a:t>
            </a:r>
            <a:r>
              <a:rPr lang="en-US" sz="3600"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Nghị</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253</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/2026/</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NĐ</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-CP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ngày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30/06/2026</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quy</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effectLst/>
                <a:latin typeface="Calibri" panose="020F0502020204030204" pitchFamily="34" charset="0"/>
                <a:ea typeface="Calibri" panose="020F0502020204030204" pitchFamily="34" charset="0"/>
                <a:cs typeface="Calibri" panose="020F0502020204030204" pitchFamily="34" charset="0"/>
              </a:rPr>
              <a:t>định</a:t>
            </a:r>
            <a:r>
              <a:rPr lang="en-US" sz="36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chi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tiết</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một</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số</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điều</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và</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biện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pháp</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để</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tổ</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chức</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hướng</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dẫn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thi</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hành</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Luật</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Thuế</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thu</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nhập</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cá</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rgbClr val="002060"/>
                </a:solidFill>
                <a:latin typeface="Calibri" panose="020F0502020204030204" pitchFamily="34" charset="0"/>
                <a:ea typeface="Calibri" panose="020F0502020204030204" pitchFamily="34" charset="0"/>
                <a:cs typeface="Calibri" panose="020F0502020204030204" pitchFamily="34" charset="0"/>
              </a:rPr>
              <a:t>nhân</a:t>
            </a:r>
            <a:r>
              <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rPr>
              <a:t> </a:t>
            </a:r>
          </a:p>
          <a:p>
            <a:pPr marL="0" indent="0" algn="just">
              <a:lnSpc>
                <a:spcPct val="107000"/>
              </a:lnSpc>
              <a:spcBef>
                <a:spcPts val="900"/>
              </a:spcBef>
              <a:spcAft>
                <a:spcPts val="800"/>
              </a:spcAft>
            </a:pPr>
            <a:r>
              <a:rPr lang="en-US" sz="3600" i="1" dirty="0" err="1">
                <a:solidFill>
                  <a:srgbClr val="990033"/>
                </a:solidFill>
                <a:effectLst/>
                <a:latin typeface="Calibri" panose="020F0502020204030204" pitchFamily="34" charset="0"/>
                <a:ea typeface="Calibri" panose="020F0502020204030204" pitchFamily="34" charset="0"/>
                <a:cs typeface="Calibri" panose="020F0502020204030204" pitchFamily="34" charset="0"/>
              </a:rPr>
              <a:t>Gồm</a:t>
            </a:r>
            <a:r>
              <a:rPr lang="en-US" sz="3600" i="1" dirty="0">
                <a:solidFill>
                  <a:srgbClr val="990033"/>
                </a:solidFill>
                <a:effectLst/>
                <a:latin typeface="Calibri" panose="020F0502020204030204" pitchFamily="34" charset="0"/>
                <a:ea typeface="Calibri" panose="020F0502020204030204" pitchFamily="34" charset="0"/>
                <a:cs typeface="Calibri" panose="020F0502020204030204" pitchFamily="34" charset="0"/>
              </a:rPr>
              <a:t> 7 Chư</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ơng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và</a:t>
            </a:r>
            <a:r>
              <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rPr>
              <a:t> 71 </a:t>
            </a:r>
            <a:r>
              <a:rPr lang="en-US" sz="3600" i="1" dirty="0" err="1">
                <a:solidFill>
                  <a:srgbClr val="990033"/>
                </a:solidFill>
                <a:latin typeface="Calibri" panose="020F0502020204030204" pitchFamily="34" charset="0"/>
                <a:ea typeface="Calibri" panose="020F0502020204030204" pitchFamily="34" charset="0"/>
                <a:cs typeface="Calibri" panose="020F0502020204030204" pitchFamily="34" charset="0"/>
              </a:rPr>
              <a:t>Điều</a:t>
            </a:r>
            <a:endParaRPr lang="en-US" sz="3600" i="1" dirty="0">
              <a:solidFill>
                <a:srgbClr val="990033"/>
              </a:solidFill>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7000"/>
              </a:lnSpc>
              <a:spcBef>
                <a:spcPts val="900"/>
              </a:spcBef>
              <a:spcAft>
                <a:spcPts val="800"/>
              </a:spcAft>
            </a:pPr>
            <a:r>
              <a:rPr lang="en-US" sz="3600" b="1" dirty="0">
                <a:solidFill>
                  <a:srgbClr val="990033"/>
                </a:solidFill>
                <a:latin typeface="Calibri" panose="020F0502020204030204" pitchFamily="34" charset="0"/>
                <a:ea typeface="Calibri" panose="020F0502020204030204" pitchFamily="34" charset="0"/>
                <a:cs typeface="Calibri" panose="020F0502020204030204" pitchFamily="34" charset="0"/>
              </a:rPr>
              <a:t>2</a:t>
            </a:r>
            <a:r>
              <a:rPr lang="en-US" sz="36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Thông</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tư</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87/2026/TT-</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BTC</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ngày</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30/06/2026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quy</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định</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chi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tiết</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một</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số</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điều</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của</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Luật</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Thuế</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thu</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nhập</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cá</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nhân</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và</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Nghị</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định</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số</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253/2026/</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NĐ</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-CP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của</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Chính</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phủ</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quy</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định</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chi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tiết</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một</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số</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điều</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và</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biện</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pháp</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để</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tổ</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chức</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hướng</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dẫn</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thi</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hành</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Luật</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Thuế</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thu</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nhập</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cá</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3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nhân</a:t>
            </a:r>
            <a:r>
              <a:rPr lang="en-US" sz="3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a:t>
            </a:r>
          </a:p>
          <a:p>
            <a:pPr marL="0" indent="0" algn="just">
              <a:lnSpc>
                <a:spcPct val="107000"/>
              </a:lnSpc>
              <a:spcBef>
                <a:spcPts val="900"/>
              </a:spcBef>
              <a:spcAft>
                <a:spcPts val="800"/>
              </a:spcAft>
            </a:pPr>
            <a:endParaRPr lang="en-US" sz="3600"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0" indent="0" algn="just" defTabSz="1828800" eaLnBrk="0" fontAlgn="base" hangingPunct="0">
              <a:lnSpc>
                <a:spcPct val="150000"/>
              </a:lnSpc>
              <a:spcBef>
                <a:spcPts val="600"/>
              </a:spcBef>
              <a:spcAft>
                <a:spcPts val="600"/>
              </a:spcAft>
              <a:defRPr/>
            </a:pPr>
            <a:endParaRPr lang="en-US" altLang="en-US" sz="3200" b="1" dirty="0">
              <a:solidFill>
                <a:srgbClr val="002060"/>
              </a:solidFill>
              <a:latin typeface="+mn-lt"/>
              <a:ea typeface="Microsoft YaHei"/>
            </a:endParaRPr>
          </a:p>
          <a:p>
            <a:pPr marL="0" indent="0" algn="just" defTabSz="1828800" eaLnBrk="0" fontAlgn="base" hangingPunct="0">
              <a:lnSpc>
                <a:spcPct val="150000"/>
              </a:lnSpc>
              <a:spcBef>
                <a:spcPts val="600"/>
              </a:spcBef>
              <a:spcAft>
                <a:spcPts val="600"/>
              </a:spcAft>
              <a:defRPr/>
            </a:pPr>
            <a:endParaRPr lang="en-US" altLang="en-US" sz="3200" b="1" dirty="0">
              <a:solidFill>
                <a:srgbClr val="760427"/>
              </a:solidFill>
              <a:latin typeface="+mn-lt"/>
              <a:ea typeface="Microsoft YaHei"/>
            </a:endParaRPr>
          </a:p>
        </p:txBody>
      </p:sp>
    </p:spTree>
    <p:extLst>
      <p:ext uri="{BB962C8B-B14F-4D97-AF65-F5344CB8AC3E}">
        <p14:creationId xmlns:p14="http://schemas.microsoft.com/office/powerpoint/2010/main" val="852298779"/>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1"/>
            <a:ext cx="16456027" cy="730250"/>
          </a:xfrm>
        </p:spPr>
        <p:txBody>
          <a:bodyPr/>
          <a:lstStyle/>
          <a:p>
            <a:r>
              <a:rPr lang="en-US" sz="4000">
                <a:solidFill>
                  <a:srgbClr val="002060"/>
                </a:solidFill>
                <a:latin typeface="Arial Bold" panose="020B0704020202020204" pitchFamily="34" charset="0"/>
                <a:cs typeface="Arial Bold" panose="020B0704020202020204" pitchFamily="34" charset="0"/>
              </a:rPr>
              <a:t>NỘI DUNG CHÍNH</a:t>
            </a:r>
            <a:endParaRPr lang="en-US" sz="4000" dirty="0">
              <a:solidFill>
                <a:srgbClr val="002060"/>
              </a:solidFill>
              <a:latin typeface="Arial Bold" panose="020B0704020202020204" pitchFamily="34" charset="0"/>
              <a:cs typeface="Arial Bold" panose="020B0704020202020204" pitchFamily="34" charset="0"/>
            </a:endParaRPr>
          </a:p>
        </p:txBody>
      </p:sp>
      <p:sp>
        <p:nvSpPr>
          <p:cNvPr id="3" name="Content Placeholder 2"/>
          <p:cNvSpPr>
            <a:spLocks noGrp="1"/>
          </p:cNvSpPr>
          <p:nvPr>
            <p:ph idx="1"/>
          </p:nvPr>
        </p:nvSpPr>
        <p:spPr/>
        <p:txBody>
          <a:bodyPr/>
          <a:lstStyle/>
          <a:p>
            <a:r>
              <a:rPr lang="en-US" dirty="0">
                <a:sym typeface="Wingdings 2"/>
              </a:rPr>
              <a:t></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Thu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nhập</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chịu</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nhập</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cá</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nhân</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p>
          <a:p>
            <a:r>
              <a:rPr lang="en-US" sz="3600" dirty="0">
                <a:latin typeface="Calibri" panose="020F0502020204030204" pitchFamily="34" charset="0"/>
                <a:ea typeface="Calibri" panose="020F0502020204030204" pitchFamily="34" charset="0"/>
                <a:cs typeface="Calibri" panose="020F0502020204030204" pitchFamily="34" charset="0"/>
                <a:sym typeface="Wingdings 2"/>
              </a:rPr>
              <a:t>Thu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nhập</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được</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miễn</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giảm</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p>
          <a:p>
            <a:r>
              <a:rPr lang="en-US" sz="3600" dirty="0">
                <a:latin typeface="Calibri" panose="020F0502020204030204" pitchFamily="34" charset="0"/>
                <a:ea typeface="Calibri" panose="020F0502020204030204" pitchFamily="34" charset="0"/>
                <a:cs typeface="Calibri" panose="020F0502020204030204" pitchFamily="34" charset="0"/>
                <a:sym typeface="Wingdings 2"/>
              </a:rPr>
              <a:t></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Căn</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cứ</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tính</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đối</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với</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nhập</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của</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cá</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nhân</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cư</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trú</a:t>
            </a:r>
            <a:endParaRPr lang="en-US" sz="3600" dirty="0">
              <a:latin typeface="Calibri" panose="020F0502020204030204" pitchFamily="34" charset="0"/>
              <a:ea typeface="Calibri" panose="020F0502020204030204" pitchFamily="34" charset="0"/>
              <a:cs typeface="Calibri" panose="020F0502020204030204" pitchFamily="34" charset="0"/>
              <a:sym typeface="Wingdings 2"/>
            </a:endParaRPr>
          </a:p>
          <a:p>
            <a:r>
              <a:rPr lang="en-US" sz="3600" dirty="0">
                <a:latin typeface="Calibri" panose="020F0502020204030204" pitchFamily="34" charset="0"/>
                <a:ea typeface="Calibri" panose="020F0502020204030204" pitchFamily="34" charset="0"/>
                <a:cs typeface="Calibri" panose="020F0502020204030204" pitchFamily="34" charset="0"/>
                <a:sym typeface="Wingdings 2"/>
              </a:rPr>
              <a:t></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Căn</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cứ</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tính</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đối</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với</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nhập</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của</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cá</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nhân</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không</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cư</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trú</a:t>
            </a:r>
            <a:endParaRPr lang="en-US" sz="3600" dirty="0">
              <a:latin typeface="Calibri" panose="020F0502020204030204" pitchFamily="34" charset="0"/>
              <a:ea typeface="Calibri" panose="020F0502020204030204" pitchFamily="34" charset="0"/>
              <a:cs typeface="Calibri" panose="020F0502020204030204" pitchFamily="34" charset="0"/>
              <a:sym typeface="Wingdings 2"/>
            </a:endParaRPr>
          </a:p>
          <a:p>
            <a:pPr marL="0" indent="0"/>
            <a:r>
              <a:rPr lang="en-US" sz="3600" dirty="0">
                <a:latin typeface="Calibri" panose="020F0502020204030204" pitchFamily="34" charset="0"/>
                <a:ea typeface="Calibri" panose="020F0502020204030204" pitchFamily="34" charset="0"/>
                <a:cs typeface="Calibri" panose="020F0502020204030204" pitchFamily="34" charset="0"/>
                <a:sym typeface="Wingdings 2"/>
              </a:rPr>
              <a:t></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Kỳ</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tính</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khấu</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trừ</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khai</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thay</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nộp</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thay</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quyết</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toán</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dirty="0" err="1">
                <a:latin typeface="Calibri" panose="020F0502020204030204" pitchFamily="34" charset="0"/>
                <a:ea typeface="Calibri" panose="020F0502020204030204" pitchFamily="34" charset="0"/>
                <a:cs typeface="Calibri" panose="020F0502020204030204" pitchFamily="34" charset="0"/>
                <a:sym typeface="Wingdings 2"/>
              </a:rPr>
              <a:t>thuế</a:t>
            </a:r>
            <a:r>
              <a:rPr lang="en-US" sz="3600" dirty="0">
                <a:latin typeface="Calibri" panose="020F0502020204030204" pitchFamily="34" charset="0"/>
                <a:ea typeface="Calibri" panose="020F0502020204030204" pitchFamily="34" charset="0"/>
                <a:cs typeface="Calibri" panose="020F0502020204030204" pitchFamily="34" charset="0"/>
                <a:sym typeface="Wingdings 2"/>
              </a:rPr>
              <a:t> </a:t>
            </a:r>
            <a:r>
              <a:rPr lang="en-US" sz="3600" err="1">
                <a:latin typeface="Calibri" panose="020F0502020204030204" pitchFamily="34" charset="0"/>
                <a:ea typeface="Calibri" panose="020F0502020204030204" pitchFamily="34" charset="0"/>
                <a:cs typeface="Calibri" panose="020F0502020204030204" pitchFamily="34" charset="0"/>
                <a:sym typeface="Wingdings 2"/>
              </a:rPr>
              <a:t>và</a:t>
            </a:r>
            <a:r>
              <a:rPr lang="en-US" sz="3600">
                <a:latin typeface="Calibri" panose="020F0502020204030204" pitchFamily="34" charset="0"/>
                <a:ea typeface="Calibri" panose="020F0502020204030204" pitchFamily="34" charset="0"/>
                <a:cs typeface="Calibri" panose="020F0502020204030204" pitchFamily="34" charset="0"/>
                <a:sym typeface="Wingdings 2"/>
              </a:rPr>
              <a:t> hoàn thuế</a:t>
            </a:r>
            <a:endParaRPr lang="en-US" sz="3600" dirty="0">
              <a:latin typeface="Calibri" panose="020F0502020204030204" pitchFamily="34" charset="0"/>
              <a:ea typeface="Calibri" panose="020F0502020204030204" pitchFamily="34" charset="0"/>
              <a:cs typeface="Calibri" panose="020F0502020204030204" pitchFamily="34" charset="0"/>
              <a:sym typeface="Wingdings 2"/>
            </a:endParaRPr>
          </a:p>
          <a:p>
            <a:endParaRPr lang="en-US" dirty="0"/>
          </a:p>
        </p:txBody>
      </p:sp>
    </p:spTree>
    <p:extLst>
      <p:ext uri="{BB962C8B-B14F-4D97-AF65-F5344CB8AC3E}">
        <p14:creationId xmlns:p14="http://schemas.microsoft.com/office/powerpoint/2010/main" val="2604623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1"/>
            <a:ext cx="16456027" cy="730250"/>
          </a:xfrm>
        </p:spPr>
        <p:txBody>
          <a:bodyPr/>
          <a:lstStyle/>
          <a:p>
            <a:r>
              <a:rPr lang="en-US" sz="4000">
                <a:solidFill>
                  <a:schemeClr val="accent6">
                    <a:lumMod val="50000"/>
                  </a:schemeClr>
                </a:solidFill>
                <a:latin typeface="Arial Bold" panose="020B0704020202020204" pitchFamily="34" charset="0"/>
                <a:cs typeface="Arial Bold" panose="020B0704020202020204" pitchFamily="34" charset="0"/>
              </a:rPr>
              <a:t>THU NHẬP TỪ TIỀN LƯƠNG, TIỀN CÔNG </a:t>
            </a:r>
            <a:endParaRPr lang="en-US" sz="4000" dirty="0">
              <a:solidFill>
                <a:schemeClr val="accent6">
                  <a:lumMod val="50000"/>
                </a:schemeClr>
              </a:solidFill>
              <a:latin typeface="Arial Bold" panose="020B0704020202020204" pitchFamily="34" charset="0"/>
              <a:cs typeface="Arial Bold" panose="020B0704020202020204" pitchFamily="34" charset="0"/>
            </a:endParaRPr>
          </a:p>
        </p:txBody>
      </p:sp>
      <p:sp>
        <p:nvSpPr>
          <p:cNvPr id="3" name="Content Placeholder 2"/>
          <p:cNvSpPr>
            <a:spLocks noGrp="1"/>
          </p:cNvSpPr>
          <p:nvPr>
            <p:ph idx="1"/>
          </p:nvPr>
        </p:nvSpPr>
        <p:spPr/>
        <p:txBody>
          <a:bodyPr/>
          <a:lstStyle/>
          <a:p>
            <a:pPr marL="95250" indent="361950" algn="just">
              <a:spcAft>
                <a:spcPts val="1000"/>
              </a:spcAft>
              <a:defRPr sz="1900" b="0">
                <a:solidFill>
                  <a:srgbClr val="232323"/>
                </a:solidFill>
                <a:latin typeface="Arial"/>
              </a:defRPr>
            </a:pPr>
            <a:r>
              <a:rPr lang="vi-VN" sz="35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Thuế TNCN của cá nhân cư trú được xác định trên thu nhập tính thuế theo Biểu thuế lũy tiến từng phần của Luật Thuế TNCN.</a:t>
            </a:r>
          </a:p>
          <a:p>
            <a:pPr marL="95250" indent="361950" algn="just">
              <a:spcAft>
                <a:spcPts val="1000"/>
              </a:spcAft>
              <a:defRPr sz="1900" b="0">
                <a:solidFill>
                  <a:srgbClr val="232323"/>
                </a:solidFill>
                <a:latin typeface="Arial"/>
              </a:defRPr>
            </a:pPr>
            <a:r>
              <a:rPr lang="vi-VN" sz="35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 nhập tính thuế được xác định sau khi trừ các khoản giảm trừ và khoản được miễn/không tính thuế theo quy định.</a:t>
            </a:r>
          </a:p>
          <a:p>
            <a:pPr marL="95250" indent="361950" algn="just">
              <a:spcAft>
                <a:spcPts val="1000"/>
              </a:spcAft>
              <a:defRPr sz="1900" b="0">
                <a:solidFill>
                  <a:srgbClr val="232323"/>
                </a:solidFill>
                <a:latin typeface="Arial"/>
              </a:defRPr>
            </a:pPr>
            <a:r>
              <a:rPr lang="vi-VN" sz="35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Đối với cá nhân có nhiều nguồn thu nhập: phải tổng hợp và xác định nghĩa vụ theo đúng kỳ tính thuế.</a:t>
            </a:r>
          </a:p>
          <a:p>
            <a:pPr marL="95250" indent="361950" algn="just">
              <a:spcAft>
                <a:spcPts val="1000"/>
              </a:spcAft>
              <a:defRPr sz="1900" b="0">
                <a:solidFill>
                  <a:srgbClr val="232323"/>
                </a:solidFill>
                <a:latin typeface="Arial"/>
              </a:defRPr>
            </a:pPr>
            <a:r>
              <a:rPr lang="vi-VN" sz="35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Khấu trừ thuế tại nguồn thực hiện theo quy định của Nghị định; trường hợp đủ điều kiện có thể thực hiện quyết toán.</a:t>
            </a:r>
            <a:endParaRPr lang="en-US" sz="35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95250" indent="361950" algn="just">
              <a:spcAft>
                <a:spcPts val="1000"/>
              </a:spcAft>
              <a:defRPr sz="1900" b="0">
                <a:solidFill>
                  <a:srgbClr val="232323"/>
                </a:solidFill>
                <a:latin typeface="Arial"/>
              </a:defRPr>
            </a:pPr>
            <a:r>
              <a:rPr lang="en-US" sz="35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sz="3500" dirty="0" err="1">
                <a:solidFill>
                  <a:srgbClr val="FF0000"/>
                </a:solidFill>
                <a:latin typeface="Calibri" panose="020F0502020204030204" pitchFamily="34" charset="0"/>
                <a:ea typeface="Calibri" panose="020F0502020204030204" pitchFamily="34" charset="0"/>
                <a:cs typeface="Calibri" panose="020F0502020204030204" pitchFamily="34" charset="0"/>
              </a:rPr>
              <a:t>Điều</a:t>
            </a:r>
            <a:r>
              <a:rPr lang="en-US" sz="3500" dirty="0">
                <a:solidFill>
                  <a:srgbClr val="FF0000"/>
                </a:solidFill>
                <a:latin typeface="Calibri" panose="020F0502020204030204" pitchFamily="34" charset="0"/>
                <a:ea typeface="Calibri" panose="020F0502020204030204" pitchFamily="34" charset="0"/>
                <a:cs typeface="Calibri" panose="020F0502020204030204" pitchFamily="34" charset="0"/>
              </a:rPr>
              <a:t> 46 </a:t>
            </a:r>
            <a:r>
              <a:rPr lang="en-US" sz="3500" dirty="0" err="1">
                <a:solidFill>
                  <a:srgbClr val="FF0000"/>
                </a:solidFill>
                <a:latin typeface="Calibri" panose="020F0502020204030204" pitchFamily="34" charset="0"/>
                <a:ea typeface="Calibri" panose="020F0502020204030204" pitchFamily="34" charset="0"/>
                <a:cs typeface="Calibri" panose="020F0502020204030204" pitchFamily="34" charset="0"/>
              </a:rPr>
              <a:t>Nghị</a:t>
            </a:r>
            <a:r>
              <a:rPr lang="en-US" sz="35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3500" dirty="0" err="1">
                <a:solidFill>
                  <a:srgbClr val="FF0000"/>
                </a:solidFill>
                <a:latin typeface="Calibri" panose="020F0502020204030204" pitchFamily="34" charset="0"/>
                <a:ea typeface="Calibri" panose="020F0502020204030204" pitchFamily="34" charset="0"/>
                <a:cs typeface="Calibri" panose="020F0502020204030204" pitchFamily="34" charset="0"/>
              </a:rPr>
              <a:t>định</a:t>
            </a:r>
            <a:r>
              <a:rPr lang="en-US" sz="3500"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vi-VN" sz="35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endParaRPr lang="en-US" sz="3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44025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38DEC-EBB7-4F57-86B5-584E7241D076}"/>
              </a:ext>
            </a:extLst>
          </p:cNvPr>
          <p:cNvSpPr>
            <a:spLocks noGrp="1"/>
          </p:cNvSpPr>
          <p:nvPr>
            <p:ph type="title"/>
          </p:nvPr>
        </p:nvSpPr>
        <p:spPr>
          <a:xfrm>
            <a:off x="914401" y="914401"/>
            <a:ext cx="16456026" cy="730250"/>
          </a:xfrm>
        </p:spPr>
        <p:txBody>
          <a:bodyPr/>
          <a:lstStyle/>
          <a:p>
            <a:r>
              <a:rPr lang="en-US" sz="4000">
                <a:solidFill>
                  <a:srgbClr val="002060"/>
                </a:solidFill>
                <a:latin typeface="Arial Bold" panose="020B0704020202020204" pitchFamily="34" charset="0"/>
                <a:cs typeface="Arial Bold" panose="020B0704020202020204" pitchFamily="34" charset="0"/>
              </a:rPr>
              <a:t>BIỂU THUẾ LŨY TIẾN TỪNG PHẦN </a:t>
            </a:r>
          </a:p>
        </p:txBody>
      </p:sp>
      <p:sp>
        <p:nvSpPr>
          <p:cNvPr id="3" name="Content Placeholder 2">
            <a:extLst>
              <a:ext uri="{FF2B5EF4-FFF2-40B4-BE49-F238E27FC236}">
                <a16:creationId xmlns:a16="http://schemas.microsoft.com/office/drawing/2014/main" id="{082E7B0B-60C0-4B60-AE1D-4851360DB147}"/>
              </a:ext>
            </a:extLst>
          </p:cNvPr>
          <p:cNvSpPr>
            <a:spLocks noGrp="1"/>
          </p:cNvSpPr>
          <p:nvPr>
            <p:ph idx="1"/>
          </p:nvPr>
        </p:nvSpPr>
        <p:spPr/>
        <p:txBody>
          <a:bodyPr/>
          <a:lstStyle/>
          <a:p>
            <a:r>
              <a:rPr lang="en-US" sz="3000">
                <a:effectLst/>
                <a:latin typeface="Calibri" panose="020F0502020204030204" pitchFamily="34" charset="0"/>
                <a:ea typeface="Calibri" panose="020F0502020204030204" pitchFamily="34" charset="0"/>
                <a:cs typeface="Calibri" panose="020F0502020204030204" pitchFamily="34" charset="0"/>
              </a:rPr>
              <a:t>     Biểu thuế luỹ tiến từng phần áp dụng đối với thu nhập tính thuế quy định tại </a:t>
            </a:r>
            <a:r>
              <a:rPr lang="en-US" sz="3000">
                <a:solidFill>
                  <a:srgbClr val="0000FF"/>
                </a:solidFill>
                <a:effectLst/>
                <a:latin typeface="Calibri" panose="020F0502020204030204" pitchFamily="34" charset="0"/>
                <a:ea typeface="Calibri" panose="020F0502020204030204" pitchFamily="34" charset="0"/>
                <a:cs typeface="Calibri" panose="020F0502020204030204" pitchFamily="34" charset="0"/>
              </a:rPr>
              <a:t>khoản 2 Điều 8 của Luật Thuế TNCN:</a:t>
            </a:r>
          </a:p>
          <a:p>
            <a:endParaRPr lang="en-US" sz="3000"/>
          </a:p>
        </p:txBody>
      </p:sp>
      <p:graphicFrame>
        <p:nvGraphicFramePr>
          <p:cNvPr id="7" name="Table 6">
            <a:extLst>
              <a:ext uri="{FF2B5EF4-FFF2-40B4-BE49-F238E27FC236}">
                <a16:creationId xmlns:a16="http://schemas.microsoft.com/office/drawing/2014/main" id="{122C8ECA-BC5F-4599-A297-F905B0DC3ED7}"/>
              </a:ext>
            </a:extLst>
          </p:cNvPr>
          <p:cNvGraphicFramePr>
            <a:graphicFrameLocks noGrp="1"/>
          </p:cNvGraphicFramePr>
          <p:nvPr>
            <p:extLst>
              <p:ext uri="{D42A27DB-BD31-4B8C-83A1-F6EECF244321}">
                <p14:modId xmlns:p14="http://schemas.microsoft.com/office/powerpoint/2010/main" val="4129897905"/>
              </p:ext>
            </p:extLst>
          </p:nvPr>
        </p:nvGraphicFramePr>
        <p:xfrm>
          <a:off x="1447801" y="3086100"/>
          <a:ext cx="15392400" cy="3294126"/>
        </p:xfrm>
        <a:graphic>
          <a:graphicData uri="http://schemas.openxmlformats.org/drawingml/2006/table">
            <a:tbl>
              <a:tblPr firstRow="1" firstCol="1" bandRow="1"/>
              <a:tblGrid>
                <a:gridCol w="2185721">
                  <a:extLst>
                    <a:ext uri="{9D8B030D-6E8A-4147-A177-3AD203B41FA5}">
                      <a16:colId xmlns:a16="http://schemas.microsoft.com/office/drawing/2014/main" val="363506801"/>
                    </a:ext>
                  </a:extLst>
                </a:gridCol>
                <a:gridCol w="5535107">
                  <a:extLst>
                    <a:ext uri="{9D8B030D-6E8A-4147-A177-3AD203B41FA5}">
                      <a16:colId xmlns:a16="http://schemas.microsoft.com/office/drawing/2014/main" val="3530116292"/>
                    </a:ext>
                  </a:extLst>
                </a:gridCol>
                <a:gridCol w="5011766">
                  <a:extLst>
                    <a:ext uri="{9D8B030D-6E8A-4147-A177-3AD203B41FA5}">
                      <a16:colId xmlns:a16="http://schemas.microsoft.com/office/drawing/2014/main" val="375594528"/>
                    </a:ext>
                  </a:extLst>
                </a:gridCol>
                <a:gridCol w="2659806">
                  <a:extLst>
                    <a:ext uri="{9D8B030D-6E8A-4147-A177-3AD203B41FA5}">
                      <a16:colId xmlns:a16="http://schemas.microsoft.com/office/drawing/2014/main" val="3488914557"/>
                    </a:ext>
                  </a:extLst>
                </a:gridCol>
              </a:tblGrid>
              <a:tr h="942222">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Bậc thuế</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Phần thu nhập tính thuế/năm</a:t>
                      </a:r>
                      <a:b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(triệu đồng)</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Phần thu nhập tính thuế/tháng</a:t>
                      </a:r>
                      <a:b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(triệu đồng)</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Thuế suất (%)</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3266296"/>
                  </a:ext>
                </a:extLst>
              </a:tr>
              <a:tr h="454658">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Đến 120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Đến 10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02006813"/>
                  </a:ext>
                </a:extLst>
              </a:tr>
              <a:tr h="454658">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120 đến 360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10 đến 30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10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34045939"/>
                  </a:ext>
                </a:extLst>
              </a:tr>
              <a:tr h="454658">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360 đến 720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30 đến 60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20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96480209"/>
                  </a:ext>
                </a:extLst>
              </a:tr>
              <a:tr h="454658">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720 đến 1.200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60 đến 100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30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63437770"/>
                  </a:ext>
                </a:extLst>
              </a:tr>
              <a:tr h="454658">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1.200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Trên 100</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Bef>
                          <a:spcPts val="600"/>
                        </a:spcBef>
                        <a:spcAft>
                          <a:spcPts val="800"/>
                        </a:spcAft>
                      </a:pPr>
                      <a:r>
                        <a:rPr lang="en-US" sz="3000">
                          <a:solidFill>
                            <a:srgbClr val="000000"/>
                          </a:solidFill>
                          <a:effectLst/>
                          <a:latin typeface="Calibri" panose="020F0502020204030204" pitchFamily="34" charset="0"/>
                          <a:ea typeface="Calibri" panose="020F0502020204030204" pitchFamily="34" charset="0"/>
                          <a:cs typeface="Calibri" panose="020F0502020204030204" pitchFamily="34" charset="0"/>
                        </a:rPr>
                        <a:t>35</a:t>
                      </a:r>
                      <a:endParaRPr lang="en-US" sz="3000">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8491770"/>
                  </a:ext>
                </a:extLst>
              </a:tr>
            </a:tbl>
          </a:graphicData>
        </a:graphic>
      </p:graphicFrame>
    </p:spTree>
    <p:extLst>
      <p:ext uri="{BB962C8B-B14F-4D97-AF65-F5344CB8AC3E}">
        <p14:creationId xmlns:p14="http://schemas.microsoft.com/office/powerpoint/2010/main" val="1224437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914401"/>
            <a:ext cx="15998827" cy="730250"/>
          </a:xfrm>
        </p:spPr>
        <p:txBody>
          <a:bodyPr/>
          <a:lstStyle/>
          <a:p>
            <a:r>
              <a:rPr lang="en-US" sz="4000">
                <a:solidFill>
                  <a:schemeClr val="accent6">
                    <a:lumMod val="50000"/>
                  </a:schemeClr>
                </a:solidFill>
                <a:latin typeface="Arial Bold" panose="020B0704020202020204" pitchFamily="34" charset="0"/>
                <a:cs typeface="Arial Bold" panose="020B0704020202020204" pitchFamily="34" charset="0"/>
              </a:rPr>
              <a:t>GIẢM TRỪ GIA CẢNH </a:t>
            </a:r>
            <a:endParaRPr lang="en-US" sz="4000" dirty="0">
              <a:solidFill>
                <a:schemeClr val="accent6">
                  <a:lumMod val="50000"/>
                </a:schemeClr>
              </a:solidFill>
              <a:latin typeface="Arial Bold" panose="020B0704020202020204" pitchFamily="34" charset="0"/>
              <a:cs typeface="Arial Bold" panose="020B0704020202020204" pitchFamily="34" charset="0"/>
            </a:endParaRPr>
          </a:p>
        </p:txBody>
      </p:sp>
      <p:sp>
        <p:nvSpPr>
          <p:cNvPr id="3" name="Content Placeholder 2"/>
          <p:cNvSpPr>
            <a:spLocks noGrp="1"/>
          </p:cNvSpPr>
          <p:nvPr>
            <p:ph idx="1"/>
          </p:nvPr>
        </p:nvSpPr>
        <p:spPr>
          <a:xfrm>
            <a:off x="1142999" y="1828800"/>
            <a:ext cx="16227427" cy="8458199"/>
          </a:xfrm>
        </p:spPr>
        <p:txBody>
          <a:bodyPr/>
          <a:lstStyle/>
          <a:p>
            <a:pPr marL="0" indent="361950" algn="just">
              <a:spcBef>
                <a:spcPts val="600"/>
              </a:spcBef>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vi-VN"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Mức</a:t>
            </a: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giảm trừ gia </a:t>
            </a:r>
            <a:r>
              <a:rPr lang="vi-VN"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cảnh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đối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với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nhập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từ</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tiền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lương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tiền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công</a:t>
            </a: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cụ thể phải áp dụng theo Luật Thuế TNCN và văn bản hướng dẫn đang có hiệu lực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Khoản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1,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10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Luật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nhập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nhân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Mức</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giảm</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trừ</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NNT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là</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15,5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triệu</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đồng</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tháng</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mức</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giảm</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trừ</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phụ</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thuộc</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là</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6,2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triệu</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đồng</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tháng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trước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theo</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Nghị</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quyết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954/2020/UBTVQH14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là</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11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triệu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đồng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tháng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đối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với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NNT, 4,4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triệu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đồng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tháng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đối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với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phụ</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thuộc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áp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dụng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từ</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ngày</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01/07/2020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đến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31/12/2025)</a:t>
            </a:r>
            <a:endPar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361950" algn="just">
              <a:spcBef>
                <a:spcPts val="600"/>
              </a:spcBef>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vi-VN"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Người</a:t>
            </a: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nộp thuế cần xác định đúng người phụ thuộc, thời điểm đăng ký và hồ sơ </a:t>
            </a:r>
            <a:r>
              <a:rPr lang="vi-VN"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chứng</a:t>
            </a: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minh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p>
          <a:p>
            <a:pPr marL="0" indent="361950" algn="just">
              <a:spcBef>
                <a:spcPts val="600"/>
              </a:spcBef>
              <a:spcAft>
                <a:spcPts val="1000"/>
              </a:spcAft>
              <a:defRPr sz="1900" b="0">
                <a:solidFill>
                  <a:srgbClr val="232323"/>
                </a:solidFill>
                <a:latin typeface="Arial"/>
              </a:defRPr>
            </a:pP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phụ</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thuộc</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gồm</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a:t>
            </a:r>
          </a:p>
          <a:p>
            <a:pPr marL="0" indent="0" algn="just">
              <a:spcBef>
                <a:spcPts val="600"/>
              </a:spcBef>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Con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đẻ</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con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nuôi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con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riêng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của</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vợ</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chồng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dưới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18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tuổi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trên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18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tuổi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mất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năng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lực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hành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vi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dân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sự</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khuyết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tật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không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có</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khả</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năng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lao</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động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p>
          <a:p>
            <a:pPr marL="0" indent="0" algn="just">
              <a:spcBef>
                <a:spcPts val="600"/>
              </a:spcBef>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(ii)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Vợ</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chồng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cha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đẻ</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mẹ</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đẻ</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cha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dượng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mẹ</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cha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nuôi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mẹ</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nuôi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cha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mẹ</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vơ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cha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chồng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mẹ</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chồng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NNT</a:t>
            </a:r>
          </a:p>
          <a:p>
            <a:pPr marL="0" indent="0" algn="just">
              <a:spcBef>
                <a:spcPts val="600"/>
              </a:spcBef>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(iii)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nhân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khác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không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nơi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nương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tựa</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mà</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nộp</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trực</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tiếp</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nuôi</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dưỡng</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sống</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cùng</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nộp</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thuế</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chị</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em</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ruột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ông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nội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bà</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nội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ông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ngoại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bà</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ngoại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cô</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ruột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dì</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ruột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cậu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ruột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chú</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ruột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bác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ruột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cháu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ruột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của</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NNT;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người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phải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trực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tiếp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nuôi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dưỡng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khác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theo</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quy</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của</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pháp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luật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p>
          <a:p>
            <a:pPr marL="0" indent="0" algn="just">
              <a:spcBef>
                <a:spcPts val="600"/>
              </a:spcBef>
              <a:spcAft>
                <a:spcPts val="1000"/>
              </a:spcAft>
              <a:defRPr sz="1900" b="0">
                <a:solidFill>
                  <a:srgbClr val="232323"/>
                </a:solidFill>
                <a:latin typeface="Arial"/>
              </a:defRPr>
            </a:pP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rgbClr val="990033"/>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rgbClr val="990033"/>
                </a:solidFill>
                <a:latin typeface="Calibri" panose="020F0502020204030204" pitchFamily="34" charset="0"/>
                <a:ea typeface="Calibri" panose="020F0502020204030204" pitchFamily="34" charset="0"/>
                <a:cs typeface="Calibri" panose="020F0502020204030204" pitchFamily="34" charset="0"/>
              </a:rPr>
              <a:t> 47)</a:t>
            </a:r>
          </a:p>
        </p:txBody>
      </p:sp>
    </p:spTree>
    <p:extLst>
      <p:ext uri="{BB962C8B-B14F-4D97-AF65-F5344CB8AC3E}">
        <p14:creationId xmlns:p14="http://schemas.microsoft.com/office/powerpoint/2010/main" val="32411363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6B2E-6EB5-4F28-9FC8-9BC9782BDCBF}"/>
              </a:ext>
            </a:extLst>
          </p:cNvPr>
          <p:cNvSpPr>
            <a:spLocks noGrp="1"/>
          </p:cNvSpPr>
          <p:nvPr>
            <p:ph type="title"/>
          </p:nvPr>
        </p:nvSpPr>
        <p:spPr>
          <a:xfrm>
            <a:off x="1447800" y="914401"/>
            <a:ext cx="15922627" cy="730250"/>
          </a:xfrm>
        </p:spPr>
        <p:txBody>
          <a:bodyPr/>
          <a:lstStyle/>
          <a:p>
            <a:r>
              <a:rPr lang="en-US" sz="4000">
                <a:solidFill>
                  <a:schemeClr val="accent6">
                    <a:lumMod val="50000"/>
                  </a:schemeClr>
                </a:solidFill>
                <a:latin typeface="Arial Bold" panose="020B0704020202020204" pitchFamily="34" charset="0"/>
                <a:cs typeface="Arial Bold" panose="020B0704020202020204" pitchFamily="34" charset="0"/>
              </a:rPr>
              <a:t>GIẢM TRỪ GIA CẢNH </a:t>
            </a:r>
            <a:endParaRPr lang="en-US" sz="4000">
              <a:latin typeface="Arial Bold" panose="020B0704020202020204" pitchFamily="34" charset="0"/>
              <a:cs typeface="Arial Bold" panose="020B0704020202020204" pitchFamily="34" charset="0"/>
            </a:endParaRPr>
          </a:p>
        </p:txBody>
      </p:sp>
      <p:sp>
        <p:nvSpPr>
          <p:cNvPr id="3" name="Content Placeholder 2">
            <a:extLst>
              <a:ext uri="{FF2B5EF4-FFF2-40B4-BE49-F238E27FC236}">
                <a16:creationId xmlns:a16="http://schemas.microsoft.com/office/drawing/2014/main" id="{E51EC0DE-5390-4466-A7BA-BA10320CCAFC}"/>
              </a:ext>
            </a:extLst>
          </p:cNvPr>
          <p:cNvSpPr>
            <a:spLocks noGrp="1"/>
          </p:cNvSpPr>
          <p:nvPr>
            <p:ph idx="1"/>
          </p:nvPr>
        </p:nvSpPr>
        <p:spPr>
          <a:xfrm>
            <a:off x="914401" y="1828800"/>
            <a:ext cx="16456026" cy="9105899"/>
          </a:xfrm>
        </p:spPr>
        <p:txBody>
          <a:bodyPr/>
          <a:lstStyle/>
          <a:p>
            <a:pPr marL="0" indent="361950" algn="just">
              <a:spcAft>
                <a:spcPts val="1000"/>
              </a:spcAft>
              <a:defRPr sz="1900" b="0">
                <a:solidFill>
                  <a:srgbClr val="232323"/>
                </a:solidFill>
                <a:latin typeface="Arial"/>
              </a:defRPr>
            </a:pPr>
            <a:r>
              <a:rPr lang="en-US" sz="30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Đối với trường hợp (i) và (ii): người phụ thuộc </a:t>
            </a:r>
            <a:r>
              <a:rPr lang="en-US" sz="3000">
                <a:solidFill>
                  <a:srgbClr val="FF0000"/>
                </a:solidFill>
                <a:latin typeface="Calibri" panose="020F0502020204030204" pitchFamily="34" charset="0"/>
                <a:ea typeface="Calibri" panose="020F0502020204030204" pitchFamily="34" charset="0"/>
                <a:cs typeface="Calibri" panose="020F0502020204030204" pitchFamily="34" charset="0"/>
              </a:rPr>
              <a:t>trong độ tuổi lao động thì phải đáp ứng đồng thời điều kiện</a:t>
            </a:r>
            <a:r>
              <a:rPr lang="en-US" sz="30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không có khả năng lao động (tỷ lệ suy giảm khả năng lao động từ 81% trở lên) , không có thu nhập hoặc có thu nhập bình quân trong năm từ tất cả các nguồn thu nhập không vượt quá mức 3 triệu đồng/tháng; </a:t>
            </a:r>
            <a:r>
              <a:rPr lang="en-US" sz="3000">
                <a:solidFill>
                  <a:srgbClr val="FF0000"/>
                </a:solidFill>
                <a:latin typeface="Calibri" panose="020F0502020204030204" pitchFamily="34" charset="0"/>
                <a:ea typeface="Calibri" panose="020F0502020204030204" pitchFamily="34" charset="0"/>
                <a:cs typeface="Calibri" panose="020F0502020204030204" pitchFamily="34" charset="0"/>
              </a:rPr>
              <a:t>đối với người ngoài độ tuổi lao động: </a:t>
            </a:r>
            <a:r>
              <a:rPr lang="en-US" sz="300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phải không có thu nhập, </a:t>
            </a:r>
            <a:r>
              <a:rPr lang="en-US" sz="30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hoặc có thu nhập bình quân trong năm từ tất cả các nguồn thu nhập không vượt quá mức 3 triệu đồng/tháng)</a:t>
            </a:r>
          </a:p>
          <a:p>
            <a:pPr marL="0" indent="361950" algn="just">
              <a:spcAft>
                <a:spcPts val="1000"/>
              </a:spcAft>
              <a:defRPr sz="1900" b="0">
                <a:solidFill>
                  <a:srgbClr val="232323"/>
                </a:solidFill>
                <a:latin typeface="Arial"/>
              </a:defRPr>
            </a:pPr>
            <a:r>
              <a:rPr lang="en-US" sz="30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Hồ sơ xác định người phụ thuộc được giảm trừ gia cảnh theo quy định của Bộ trưởng Bộ Tài chính.</a:t>
            </a:r>
            <a:endParaRPr lang="vi-VN" sz="30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361950" algn="just">
              <a:spcAft>
                <a:spcPts val="1000"/>
              </a:spcAft>
              <a:defRPr sz="1900" b="0">
                <a:solidFill>
                  <a:srgbClr val="232323"/>
                </a:solidFill>
                <a:latin typeface="Arial"/>
              </a:defRPr>
            </a:pPr>
            <a:r>
              <a:rPr lang="vi-VN" sz="300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Khi quyết toán: rà soát toàn bộ thu nhập, số người phụ thuộc và thời gian được tính giảm trừ.</a:t>
            </a:r>
          </a:p>
          <a:p>
            <a:pPr algn="just"/>
            <a:r>
              <a:rPr lang="en-US" sz="3000">
                <a:solidFill>
                  <a:srgbClr val="990033"/>
                </a:solidFill>
                <a:latin typeface="Calibri" panose="020F0502020204030204" pitchFamily="34" charset="0"/>
                <a:ea typeface="Calibri" panose="020F0502020204030204" pitchFamily="34" charset="0"/>
                <a:cs typeface="Calibri" panose="020F0502020204030204" pitchFamily="34" charset="0"/>
              </a:rPr>
              <a:t>(Điều 47 Nghị Định)</a:t>
            </a:r>
          </a:p>
          <a:p>
            <a:endParaRPr lang="en-US"/>
          </a:p>
        </p:txBody>
      </p:sp>
    </p:spTree>
    <p:extLst>
      <p:ext uri="{BB962C8B-B14F-4D97-AF65-F5344CB8AC3E}">
        <p14:creationId xmlns:p14="http://schemas.microsoft.com/office/powerpoint/2010/main" val="15170440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1"/>
            <a:ext cx="16532227" cy="730250"/>
          </a:xfrm>
        </p:spPr>
        <p:txBody>
          <a:bodyPr/>
          <a:lstStyle/>
          <a:p>
            <a:r>
              <a:rPr lang="en-US" sz="4000">
                <a:solidFill>
                  <a:schemeClr val="accent6">
                    <a:lumMod val="75000"/>
                  </a:schemeClr>
                </a:solidFill>
                <a:latin typeface="Arial Bold" panose="020B0704020202020204" pitchFamily="34" charset="0"/>
                <a:cs typeface="Arial Bold" panose="020B0704020202020204" pitchFamily="34" charset="0"/>
              </a:rPr>
              <a:t>KHẤU TRỪ THUẾ, QUYẾT TOÁN THUẾ </a:t>
            </a:r>
            <a:r>
              <a:rPr lang="en-US" sz="4000" dirty="0" err="1">
                <a:solidFill>
                  <a:schemeClr val="accent6">
                    <a:lumMod val="75000"/>
                  </a:schemeClr>
                </a:solidFill>
                <a:latin typeface="Arial Bold" panose="020B0704020202020204" pitchFamily="34" charset="0"/>
                <a:cs typeface="Arial Bold" panose="020B0704020202020204" pitchFamily="34" charset="0"/>
              </a:rPr>
              <a:t>TNCN</a:t>
            </a:r>
            <a:r>
              <a:rPr lang="en-US" sz="4000" dirty="0">
                <a:solidFill>
                  <a:schemeClr val="accent6">
                    <a:lumMod val="75000"/>
                  </a:schemeClr>
                </a:solidFill>
                <a:latin typeface="Arial Bold" panose="020B0704020202020204" pitchFamily="34" charset="0"/>
                <a:cs typeface="Arial Bold" panose="020B0704020202020204" pitchFamily="34" charset="0"/>
              </a:rPr>
              <a:t> </a:t>
            </a:r>
          </a:p>
        </p:txBody>
      </p:sp>
      <p:sp>
        <p:nvSpPr>
          <p:cNvPr id="3" name="Content Placeholder 2"/>
          <p:cNvSpPr>
            <a:spLocks noGrp="1"/>
          </p:cNvSpPr>
          <p:nvPr>
            <p:ph idx="1"/>
          </p:nvPr>
        </p:nvSpPr>
        <p:spPr/>
        <p:txBody>
          <a:bodyPr/>
          <a:lstStyle/>
          <a:p>
            <a:pPr marL="0" indent="361950" algn="just">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Khấu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trừ</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p>
          <a:p>
            <a:pPr marL="0" indent="361950" algn="just">
              <a:spcAft>
                <a:spcPts val="1000"/>
              </a:spcAft>
              <a:defRPr sz="1900" b="0">
                <a:solidFill>
                  <a:srgbClr val="232323"/>
                </a:solidFill>
                <a:latin typeface="Arial"/>
              </a:defRPr>
            </a:pP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Tổ chức, cá nhân trả thu nhập có trách nhiệm khấu trừ thuế trong các trường hợp pháp luật quy định.</a:t>
            </a:r>
          </a:p>
          <a:p>
            <a:pPr marL="0" indent="361950" algn="just">
              <a:spcAft>
                <a:spcPts val="1000"/>
              </a:spcAft>
              <a:defRPr sz="1900" b="0">
                <a:solidFill>
                  <a:srgbClr val="232323"/>
                </a:solidFill>
                <a:latin typeface="Arial"/>
              </a:defRPr>
            </a:pP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Đối với một số khoản thu nhập không tính theo biểu lũy tiến, thuế được khấu trừ theo tỷ lệ tương ứng.</a:t>
            </a:r>
          </a:p>
          <a:p>
            <a:pPr marL="0" indent="361950" algn="just">
              <a:spcAft>
                <a:spcPts val="1000"/>
              </a:spcAft>
              <a:defRPr sz="1900" b="0">
                <a:solidFill>
                  <a:srgbClr val="232323"/>
                </a:solidFill>
                <a:latin typeface="Arial"/>
              </a:defRPr>
            </a:pP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Chứng từ khấu trừ là căn cứ quan trọng khi cá nhân quyết toán hoặc đề nghị hoàn thuế.</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 50, </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NĐ</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vi-VN" sz="3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0" indent="361950" algn="just">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Quyết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toán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TNCN</a:t>
            </a:r>
            <a:endPar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361950" algn="just">
              <a:spcAft>
                <a:spcPts val="1000"/>
              </a:spcAft>
              <a:defRPr sz="1900" b="0">
                <a:solidFill>
                  <a:srgbClr val="232323"/>
                </a:solidFill>
                <a:latin typeface="Arial"/>
              </a:defRPr>
            </a:pP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Tổ chức, cá nhân trả thu nhập và cá nhân cư trú có thu nhập từ tiền lương, tiền công thực hiện quyết toán theo năm theo quy </a:t>
            </a:r>
            <a:r>
              <a:rPr lang="vi-VN"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định</a:t>
            </a: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endPar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361950" algn="just">
              <a:spcAft>
                <a:spcPts val="1000"/>
              </a:spcAft>
              <a:defRPr sz="1900" b="0">
                <a:solidFill>
                  <a:srgbClr val="232323"/>
                </a:solidFill>
                <a:latin typeface="Arial"/>
              </a:defRPr>
            </a:pP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Lưu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ý: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Tại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Điểm</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đ,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khoản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3,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6,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Nghị</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252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quy</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p>
          <a:p>
            <a:pPr marL="0" indent="361950" algn="just">
              <a:spcAft>
                <a:spcPts val="1000"/>
              </a:spcAft>
              <a:defRPr sz="1900" b="0">
                <a:solidFill>
                  <a:srgbClr val="232323"/>
                </a:solidFill>
                <a:latin typeface="Arial"/>
              </a:defRPr>
            </a:pPr>
            <a:r>
              <a:rPr lang="id-ID" sz="2000" dirty="0">
                <a:solidFill>
                  <a:srgbClr val="FF0000"/>
                </a:solidFill>
                <a:effectLst/>
                <a:latin typeface="Times New Roman" panose="02020603050405020304" pitchFamily="18" charset="0"/>
                <a:ea typeface="Times New Roman" panose="02020603050405020304" pitchFamily="18" charset="0"/>
              </a:rPr>
              <a:t>đ) Tổ chức, cá nhân chi trả thu nhập có trách nhiệm đăng ký thuế lần đầu thay cho cá nhân có thu nhập chậm nhất là ngày cuối cùng của thời hạn nộp hồ sơ khai thuế thu nhập cá nhân của kỳ đầu tiên phát sinh việc chi trả thu nhập cho cá nhân trong trường hợp cá nhân chưa đăng ký thuế; đăng ký thuế lần đầu thay cho người phụ thuộc của cá nhân chậm nhất là ngày 31 tháng 12 của năm tính thuế;</a:t>
            </a:r>
            <a:endParaRPr lang="en-US" sz="2000" dirty="0">
              <a:solidFill>
                <a:srgbClr val="FF0000"/>
              </a:solidFill>
              <a:effectLst/>
              <a:latin typeface="Times New Roman" panose="02020603050405020304" pitchFamily="18" charset="0"/>
              <a:ea typeface="Times New Roman" panose="02020603050405020304" pitchFamily="18" charset="0"/>
            </a:endParaRPr>
          </a:p>
          <a:p>
            <a:pPr marL="0" indent="361950" algn="just">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endPar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361950" algn="just">
              <a:spcAft>
                <a:spcPts val="1000"/>
              </a:spcAft>
              <a:defRPr sz="1900" b="0">
                <a:solidFill>
                  <a:srgbClr val="232323"/>
                </a:solidFill>
                <a:latin typeface="Arial"/>
              </a:defRPr>
            </a:pPr>
            <a:endPar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82208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1"/>
            <a:ext cx="16456027" cy="730250"/>
          </a:xfrm>
        </p:spPr>
        <p:txBody>
          <a:bodyPr/>
          <a:lstStyle/>
          <a:p>
            <a:r>
              <a:rPr lang="en-US" sz="4000">
                <a:solidFill>
                  <a:schemeClr val="accent6">
                    <a:lumMod val="75000"/>
                  </a:schemeClr>
                </a:solidFill>
                <a:latin typeface="Arial Bold" panose="020B0704020202020204" pitchFamily="34" charset="0"/>
                <a:cs typeface="Arial Bold" panose="020B0704020202020204" pitchFamily="34" charset="0"/>
              </a:rPr>
              <a:t>THU NHẬP TỪ ĐẦU TƯ VỐN, THU NHẬP TỪ ĐẦU TƯ KINH DOANH</a:t>
            </a:r>
            <a:endParaRPr lang="en-US" sz="4000" dirty="0">
              <a:solidFill>
                <a:schemeClr val="accent6">
                  <a:lumMod val="75000"/>
                </a:schemeClr>
              </a:solidFill>
              <a:latin typeface="Arial Bold" panose="020B0704020202020204" pitchFamily="34" charset="0"/>
              <a:cs typeface="Arial Bold" panose="020B0704020202020204" pitchFamily="34" charset="0"/>
            </a:endParaRPr>
          </a:p>
        </p:txBody>
      </p:sp>
      <p:sp>
        <p:nvSpPr>
          <p:cNvPr id="3" name="Content Placeholder 2"/>
          <p:cNvSpPr>
            <a:spLocks noGrp="1"/>
          </p:cNvSpPr>
          <p:nvPr>
            <p:ph idx="1"/>
          </p:nvPr>
        </p:nvSpPr>
        <p:spPr/>
        <p:txBody>
          <a:bodyPr/>
          <a:lstStyle/>
          <a:p>
            <a:pPr>
              <a:spcAft>
                <a:spcPts val="1000"/>
              </a:spcAft>
              <a:defRPr sz="1900" b="0">
                <a:solidFill>
                  <a:srgbClr val="232323"/>
                </a:solidFill>
                <a:latin typeface="Arial"/>
              </a:defRPr>
            </a:pPr>
            <a:endParaRPr lang="en-US" dirty="0"/>
          </a:p>
          <a:p>
            <a:pPr marL="0" indent="266700" algn="just">
              <a:spcAft>
                <a:spcPts val="1000"/>
              </a:spcAft>
              <a:defRPr sz="1900" b="0">
                <a:solidFill>
                  <a:srgbClr val="232323"/>
                </a:solidFill>
                <a:latin typeface="Arial"/>
              </a:defRPr>
            </a:pP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Thu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nhập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từ</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đầu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tư</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vốn</a:t>
            </a:r>
            <a:endPar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266700" algn="just">
              <a:spcAft>
                <a:spcPts val="1000"/>
              </a:spcAft>
              <a:defRPr sz="1900" b="0">
                <a:solidFill>
                  <a:srgbClr val="232323"/>
                </a:solidFill>
                <a:latin typeface="Arial"/>
              </a:defRPr>
            </a:pP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Thuế TNCN của cá nhân cư trú đối với thu nhập từ đầu tư vốn: thu nhập tính thuế × 5%.</a:t>
            </a:r>
          </a:p>
          <a:p>
            <a:pPr marL="0" indent="266700" algn="just">
              <a:spcAft>
                <a:spcPts val="1000"/>
              </a:spcAft>
              <a:defRPr sz="1900" b="0">
                <a:solidFill>
                  <a:srgbClr val="232323"/>
                </a:solidFill>
                <a:latin typeface="Arial"/>
              </a:defRPr>
            </a:pP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Thu nhập tính thuế là khoản thu nhập chịu thuế từ đầu tư vốn nhận được theo từng lần phá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 </a:t>
            </a:r>
            <a:r>
              <a:rPr lang="vi-VN"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sinh.</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Điều</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 52, </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Nghị</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rPr>
              <a:t>định</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vi-VN" sz="3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 Thu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nhập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từ</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đầu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tư</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kinh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doanh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p>
          <a:p>
            <a:pPr marL="0" indent="361950" algn="just"/>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nhân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cư</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trú</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có</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hoạt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động</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sản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xuất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kinh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doanh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thực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hiện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nộp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theo</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quy</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định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tại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Điều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7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của</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Luật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nhập</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nhân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Nghị</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định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68/2026/</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NĐ</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-CP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quy</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định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về</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chính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sách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và</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quản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lý</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đối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với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hộ</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kinh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doanh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cá</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nhân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kinh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doanh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và</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các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văn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bản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sữa</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đổi</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bổ</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sung.</a:t>
            </a:r>
          </a:p>
          <a:p>
            <a:pPr marL="0" indent="361950" algn="just"/>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suất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tính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trên</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doanh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tính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thuế</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được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quy</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định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chi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tiết</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theo</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danh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mục</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ngành</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nghề</a:t>
            </a:r>
            <a:r>
              <a:rPr lang="en-US" sz="3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sym typeface="Wingdings 2"/>
              </a:rPr>
              <a:t>(</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sym typeface="Wingdings 2"/>
              </a:rPr>
              <a:t>Điều</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sym typeface="Wingdings 2"/>
              </a:rPr>
              <a:t> 45, </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sym typeface="Wingdings 2"/>
              </a:rPr>
              <a:t>Nghị</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sym typeface="Wingdings 2"/>
              </a:rPr>
              <a:t> </a:t>
            </a:r>
            <a:r>
              <a:rPr lang="en-US" sz="3000" dirty="0" err="1">
                <a:solidFill>
                  <a:srgbClr val="FF0000"/>
                </a:solidFill>
                <a:latin typeface="Calibri" panose="020F0502020204030204" pitchFamily="34" charset="0"/>
                <a:ea typeface="Calibri" panose="020F0502020204030204" pitchFamily="34" charset="0"/>
                <a:cs typeface="Calibri" panose="020F0502020204030204" pitchFamily="34" charset="0"/>
                <a:sym typeface="Wingdings 2"/>
              </a:rPr>
              <a:t>định</a:t>
            </a:r>
            <a:r>
              <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sym typeface="Wingdings 2"/>
              </a:rPr>
              <a:t>)</a:t>
            </a:r>
            <a:endParaRPr lang="en-US" sz="3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3410859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225290A1-544B-466D-9425-8D13F001C6FD}"/>
              </a:ext>
            </a:extLst>
          </p:cNvPr>
          <p:cNvGraphicFramePr>
            <a:graphicFrameLocks noChangeAspect="1"/>
          </p:cNvGraphicFramePr>
          <p:nvPr>
            <p:extLst>
              <p:ext uri="{D42A27DB-BD31-4B8C-83A1-F6EECF244321}">
                <p14:modId xmlns:p14="http://schemas.microsoft.com/office/powerpoint/2010/main" val="3384767779"/>
              </p:ext>
            </p:extLst>
          </p:nvPr>
        </p:nvGraphicFramePr>
        <p:xfrm>
          <a:off x="2743200" y="571500"/>
          <a:ext cx="11353800" cy="9715500"/>
        </p:xfrm>
        <a:graphic>
          <a:graphicData uri="http://schemas.openxmlformats.org/presentationml/2006/ole">
            <mc:AlternateContent xmlns:mc="http://schemas.openxmlformats.org/markup-compatibility/2006">
              <mc:Choice xmlns:v="urn:schemas-microsoft-com:vml" Requires="v">
                <p:oleObj spid="_x0000_s5158" name="Acrobat Document" r:id="rId3" imgW="5695687" imgH="8048342" progId="Acrobat.Document.DC">
                  <p:embed/>
                </p:oleObj>
              </mc:Choice>
              <mc:Fallback>
                <p:oleObj name="Acrobat Document" r:id="rId3" imgW="5695687" imgH="8048342" progId="Acrobat.Document.DC">
                  <p:embed/>
                  <p:pic>
                    <p:nvPicPr>
                      <p:cNvPr id="0" name=""/>
                      <p:cNvPicPr/>
                      <p:nvPr/>
                    </p:nvPicPr>
                    <p:blipFill>
                      <a:blip r:embed="rId4"/>
                      <a:stretch>
                        <a:fillRect/>
                      </a:stretch>
                    </p:blipFill>
                    <p:spPr>
                      <a:xfrm>
                        <a:off x="2743200" y="571500"/>
                        <a:ext cx="11353800" cy="9715500"/>
                      </a:xfrm>
                      <a:prstGeom prst="rect">
                        <a:avLst/>
                      </a:prstGeom>
                    </p:spPr>
                  </p:pic>
                </p:oleObj>
              </mc:Fallback>
            </mc:AlternateContent>
          </a:graphicData>
        </a:graphic>
      </p:graphicFrame>
    </p:spTree>
    <p:extLst>
      <p:ext uri="{BB962C8B-B14F-4D97-AF65-F5344CB8AC3E}">
        <p14:creationId xmlns:p14="http://schemas.microsoft.com/office/powerpoint/2010/main" val="30710152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9736D276-6141-40E3-AE31-A3D1470647B6}"/>
              </a:ext>
            </a:extLst>
          </p:cNvPr>
          <p:cNvGraphicFramePr>
            <a:graphicFrameLocks noChangeAspect="1"/>
          </p:cNvGraphicFramePr>
          <p:nvPr>
            <p:extLst>
              <p:ext uri="{D42A27DB-BD31-4B8C-83A1-F6EECF244321}">
                <p14:modId xmlns:p14="http://schemas.microsoft.com/office/powerpoint/2010/main" val="4230082475"/>
              </p:ext>
            </p:extLst>
          </p:nvPr>
        </p:nvGraphicFramePr>
        <p:xfrm>
          <a:off x="3124200" y="495300"/>
          <a:ext cx="11506200" cy="9791700"/>
        </p:xfrm>
        <a:graphic>
          <a:graphicData uri="http://schemas.openxmlformats.org/presentationml/2006/ole">
            <mc:AlternateContent xmlns:mc="http://schemas.openxmlformats.org/markup-compatibility/2006">
              <mc:Choice xmlns:v="urn:schemas-microsoft-com:vml" Requires="v">
                <p:oleObj spid="_x0000_s6182" name="Acrobat Document" r:id="rId3" imgW="5695687" imgH="8048342" progId="Acrobat.Document.DC">
                  <p:embed/>
                </p:oleObj>
              </mc:Choice>
              <mc:Fallback>
                <p:oleObj name="Acrobat Document" r:id="rId3" imgW="5695687" imgH="8048342" progId="Acrobat.Document.DC">
                  <p:embed/>
                  <p:pic>
                    <p:nvPicPr>
                      <p:cNvPr id="0" name=""/>
                      <p:cNvPicPr/>
                      <p:nvPr/>
                    </p:nvPicPr>
                    <p:blipFill>
                      <a:blip r:embed="rId4"/>
                      <a:stretch>
                        <a:fillRect/>
                      </a:stretch>
                    </p:blipFill>
                    <p:spPr>
                      <a:xfrm>
                        <a:off x="3124200" y="495300"/>
                        <a:ext cx="11506200" cy="9791700"/>
                      </a:xfrm>
                      <a:prstGeom prst="rect">
                        <a:avLst/>
                      </a:prstGeom>
                    </p:spPr>
                  </p:pic>
                </p:oleObj>
              </mc:Fallback>
            </mc:AlternateContent>
          </a:graphicData>
        </a:graphic>
      </p:graphicFrame>
    </p:spTree>
    <p:extLst>
      <p:ext uri="{BB962C8B-B14F-4D97-AF65-F5344CB8AC3E}">
        <p14:creationId xmlns:p14="http://schemas.microsoft.com/office/powerpoint/2010/main" val="33971720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45000863-D258-42EB-854D-2FD6FF2DC9E6}"/>
              </a:ext>
            </a:extLst>
          </p:cNvPr>
          <p:cNvGraphicFramePr>
            <a:graphicFrameLocks noChangeAspect="1"/>
          </p:cNvGraphicFramePr>
          <p:nvPr>
            <p:extLst>
              <p:ext uri="{D42A27DB-BD31-4B8C-83A1-F6EECF244321}">
                <p14:modId xmlns:p14="http://schemas.microsoft.com/office/powerpoint/2010/main" val="493990497"/>
              </p:ext>
            </p:extLst>
          </p:nvPr>
        </p:nvGraphicFramePr>
        <p:xfrm>
          <a:off x="3200400" y="342900"/>
          <a:ext cx="12039600" cy="9753600"/>
        </p:xfrm>
        <a:graphic>
          <a:graphicData uri="http://schemas.openxmlformats.org/presentationml/2006/ole">
            <mc:AlternateContent xmlns:mc="http://schemas.openxmlformats.org/markup-compatibility/2006">
              <mc:Choice xmlns:v="urn:schemas-microsoft-com:vml" Requires="v">
                <p:oleObj spid="_x0000_s7206" name="Acrobat Document" r:id="rId3" imgW="5686206" imgH="8048342" progId="Acrobat.Document.DC">
                  <p:embed/>
                </p:oleObj>
              </mc:Choice>
              <mc:Fallback>
                <p:oleObj name="Acrobat Document" r:id="rId3" imgW="5686206" imgH="8048342" progId="Acrobat.Document.DC">
                  <p:embed/>
                  <p:pic>
                    <p:nvPicPr>
                      <p:cNvPr id="0" name=""/>
                      <p:cNvPicPr/>
                      <p:nvPr/>
                    </p:nvPicPr>
                    <p:blipFill>
                      <a:blip r:embed="rId4"/>
                      <a:stretch>
                        <a:fillRect/>
                      </a:stretch>
                    </p:blipFill>
                    <p:spPr>
                      <a:xfrm>
                        <a:off x="3200400" y="342900"/>
                        <a:ext cx="12039600" cy="9753600"/>
                      </a:xfrm>
                      <a:prstGeom prst="rect">
                        <a:avLst/>
                      </a:prstGeom>
                    </p:spPr>
                  </p:pic>
                </p:oleObj>
              </mc:Fallback>
            </mc:AlternateContent>
          </a:graphicData>
        </a:graphic>
      </p:graphicFrame>
    </p:spTree>
    <p:extLst>
      <p:ext uri="{BB962C8B-B14F-4D97-AF65-F5344CB8AC3E}">
        <p14:creationId xmlns:p14="http://schemas.microsoft.com/office/powerpoint/2010/main" val="3237673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1"/>
            <a:ext cx="16456027" cy="730250"/>
          </a:xfrm>
        </p:spPr>
        <p:txBody>
          <a:bodyPr/>
          <a:lstStyle/>
          <a:p>
            <a:r>
              <a:rPr lang="en-US" sz="4000" dirty="0" err="1">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MỘT</a:t>
            </a:r>
            <a:r>
              <a:rPr lang="en-US" sz="4000" dirty="0">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 </a:t>
            </a:r>
            <a:r>
              <a:rPr lang="en-US" sz="4000" dirty="0" err="1">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SỐ</a:t>
            </a:r>
            <a:r>
              <a:rPr lang="en-US" sz="4000" dirty="0">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 </a:t>
            </a:r>
            <a:r>
              <a:rPr lang="en-US" sz="4000" dirty="0" err="1">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NHÓM</a:t>
            </a:r>
            <a:r>
              <a:rPr lang="en-US" sz="4000" dirty="0">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 THU </a:t>
            </a:r>
            <a:r>
              <a:rPr lang="en-US" sz="4000" dirty="0" err="1">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NHẬP</a:t>
            </a:r>
            <a:r>
              <a:rPr lang="en-US" sz="4000" dirty="0">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 </a:t>
            </a:r>
            <a:r>
              <a:rPr lang="en-US" sz="4000" dirty="0" err="1">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KHÁC</a:t>
            </a:r>
            <a:r>
              <a:rPr lang="en-US" sz="4000" dirty="0">
                <a:solidFill>
                  <a:schemeClr val="accent6">
                    <a:lumMod val="50000"/>
                  </a:schemeClr>
                </a:solidFill>
                <a:latin typeface="Arial Bold" panose="020B0704020202020204" pitchFamily="34" charset="0"/>
                <a:ea typeface="Calibri" panose="020F0502020204030204" pitchFamily="34" charset="0"/>
                <a:cs typeface="Arial Bold" panose="020B0704020202020204" pitchFamily="34" charset="0"/>
              </a:rPr>
              <a:t> </a:t>
            </a:r>
          </a:p>
        </p:txBody>
      </p:sp>
      <p:sp>
        <p:nvSpPr>
          <p:cNvPr id="3" name="Content Placeholder 2"/>
          <p:cNvSpPr>
            <a:spLocks noGrp="1"/>
          </p:cNvSpPr>
          <p:nvPr>
            <p:ph idx="1"/>
          </p:nvPr>
        </p:nvSpPr>
        <p:spPr/>
        <p:txBody>
          <a:bodyPr/>
          <a:lstStyle/>
          <a:p>
            <a:pPr marL="0" indent="361950" algn="just">
              <a:spcAft>
                <a:spcPts val="1000"/>
              </a:spcAft>
              <a:defRPr sz="1900" b="0">
                <a:solidFill>
                  <a:srgbClr val="232323"/>
                </a:solidFill>
                <a:latin typeface="Arial"/>
              </a:defRPr>
            </a:pPr>
            <a:r>
              <a:rPr lang="vi-VN" sz="35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Thu nhập từ chuyển nhượng vốn, chứng khoán và các khoản thu nhập khác được quy định theo từng nhóm.</a:t>
            </a:r>
          </a:p>
          <a:p>
            <a:pPr marL="0" indent="361950" algn="just">
              <a:spcAft>
                <a:spcPts val="1000"/>
              </a:spcAft>
              <a:defRPr sz="1900" b="0">
                <a:solidFill>
                  <a:srgbClr val="232323"/>
                </a:solidFill>
                <a:latin typeface="Arial"/>
              </a:defRPr>
            </a:pPr>
            <a:r>
              <a:rPr lang="vi-VN" sz="35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Thu nhập từ trúng thưởng, bản quyền, nhượng quyền, thừa kế, quà tặng… có cách tính và ngưỡng chịu thuế riêng.</a:t>
            </a:r>
          </a:p>
          <a:p>
            <a:pPr marL="0" indent="361950" algn="just">
              <a:spcAft>
                <a:spcPts val="1000"/>
              </a:spcAft>
              <a:defRPr sz="1900" b="0">
                <a:solidFill>
                  <a:srgbClr val="232323"/>
                </a:solidFill>
                <a:latin typeface="Arial"/>
              </a:defRPr>
            </a:pPr>
            <a:r>
              <a:rPr lang="vi-VN" sz="35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Nguyên tắc chung: xác định đúng loại thu nhập → xác định thu nhập tính thuế → áp dụng đúng thuế suất → xác định thời điểm/kỳ tính thuế.</a:t>
            </a:r>
          </a:p>
          <a:p>
            <a:endParaRPr lang="en-US" dirty="0"/>
          </a:p>
        </p:txBody>
      </p:sp>
    </p:spTree>
    <p:extLst>
      <p:ext uri="{BB962C8B-B14F-4D97-AF65-F5344CB8AC3E}">
        <p14:creationId xmlns:p14="http://schemas.microsoft.com/office/powerpoint/2010/main" val="24465868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lIns="137160" tIns="68580" rIns="137160" bIns="68580" rtlCol="0" anchor="ctr"/>
          <a:lstStyle/>
          <a:p>
            <a:pPr algn="ctr"/>
            <a:endParaRPr/>
          </a:p>
        </p:txBody>
      </p:sp>
      <p:sp>
        <p:nvSpPr>
          <p:cNvPr id="3" name="TextBox 2"/>
          <p:cNvSpPr txBox="1"/>
          <p:nvPr/>
        </p:nvSpPr>
        <p:spPr>
          <a:xfrm>
            <a:off x="891540" y="480060"/>
            <a:ext cx="10476907" cy="769441"/>
          </a:xfrm>
          <a:prstGeom prst="rect">
            <a:avLst/>
          </a:prstGeom>
          <a:noFill/>
        </p:spPr>
        <p:txBody>
          <a:bodyPr wrap="none" lIns="137160" tIns="68580" rIns="137160" bIns="68580">
            <a:spAutoFit/>
          </a:bodyPr>
          <a:lstStyle/>
          <a:p>
            <a:r>
              <a:rPr sz="4100" b="1" dirty="0">
                <a:solidFill>
                  <a:srgbClr val="14375A"/>
                </a:solidFill>
                <a:latin typeface="Arial"/>
              </a:rPr>
              <a:t>12. </a:t>
            </a:r>
            <a:r>
              <a:rPr sz="4100" b="1" dirty="0" err="1">
                <a:solidFill>
                  <a:srgbClr val="14375A"/>
                </a:solidFill>
                <a:latin typeface="Arial"/>
              </a:rPr>
              <a:t>Quy</a:t>
            </a:r>
            <a:r>
              <a:rPr sz="4100" b="1" dirty="0">
                <a:solidFill>
                  <a:srgbClr val="14375A"/>
                </a:solidFill>
                <a:latin typeface="Arial"/>
              </a:rPr>
              <a:t> </a:t>
            </a:r>
            <a:r>
              <a:rPr sz="4100" b="1" dirty="0" err="1">
                <a:solidFill>
                  <a:srgbClr val="14375A"/>
                </a:solidFill>
                <a:latin typeface="Calibri" panose="020F0502020204030204" pitchFamily="34" charset="0"/>
                <a:ea typeface="Calibri" panose="020F0502020204030204" pitchFamily="34" charset="0"/>
                <a:cs typeface="Calibri" panose="020F0502020204030204" pitchFamily="34" charset="0"/>
              </a:rPr>
              <a:t>trình</a:t>
            </a:r>
            <a:r>
              <a:rPr sz="4100" b="1" dirty="0">
                <a:solidFill>
                  <a:srgbClr val="14375A"/>
                </a:solidFill>
                <a:latin typeface="Arial"/>
              </a:rPr>
              <a:t> </a:t>
            </a:r>
            <a:r>
              <a:rPr sz="4100" b="1" dirty="0" err="1">
                <a:solidFill>
                  <a:srgbClr val="14375A"/>
                </a:solidFill>
                <a:latin typeface="Arial"/>
              </a:rPr>
              <a:t>hướng</a:t>
            </a:r>
            <a:r>
              <a:rPr sz="4100" b="1" dirty="0">
                <a:solidFill>
                  <a:srgbClr val="14375A"/>
                </a:solidFill>
                <a:latin typeface="Arial"/>
              </a:rPr>
              <a:t> </a:t>
            </a:r>
            <a:r>
              <a:rPr sz="4100" b="1" dirty="0" err="1">
                <a:solidFill>
                  <a:srgbClr val="14375A"/>
                </a:solidFill>
                <a:latin typeface="Arial"/>
              </a:rPr>
              <a:t>dẫn</a:t>
            </a:r>
            <a:r>
              <a:rPr sz="4100" b="1" dirty="0">
                <a:solidFill>
                  <a:srgbClr val="14375A"/>
                </a:solidFill>
                <a:latin typeface="Arial"/>
              </a:rPr>
              <a:t> </a:t>
            </a:r>
            <a:r>
              <a:rPr sz="4100" b="1" dirty="0" err="1">
                <a:solidFill>
                  <a:srgbClr val="14375A"/>
                </a:solidFill>
                <a:latin typeface="Arial"/>
              </a:rPr>
              <a:t>người</a:t>
            </a:r>
            <a:r>
              <a:rPr sz="4100" b="1" dirty="0">
                <a:solidFill>
                  <a:srgbClr val="14375A"/>
                </a:solidFill>
                <a:latin typeface="Arial"/>
              </a:rPr>
              <a:t> </a:t>
            </a:r>
            <a:r>
              <a:rPr sz="4100" b="1" dirty="0" err="1">
                <a:solidFill>
                  <a:srgbClr val="14375A"/>
                </a:solidFill>
                <a:latin typeface="Arial"/>
              </a:rPr>
              <a:t>nộp</a:t>
            </a:r>
            <a:r>
              <a:rPr sz="4100" b="1" dirty="0">
                <a:solidFill>
                  <a:srgbClr val="14375A"/>
                </a:solidFill>
                <a:latin typeface="Arial"/>
              </a:rPr>
              <a:t> </a:t>
            </a:r>
            <a:r>
              <a:rPr sz="4100" b="1" dirty="0" err="1">
                <a:solidFill>
                  <a:srgbClr val="14375A"/>
                </a:solidFill>
                <a:latin typeface="Arial"/>
              </a:rPr>
              <a:t>thuế</a:t>
            </a:r>
            <a:endParaRPr sz="4100" b="1" dirty="0">
              <a:solidFill>
                <a:srgbClr val="14375A"/>
              </a:solidFill>
              <a:latin typeface="Arial"/>
            </a:endParaRPr>
          </a:p>
        </p:txBody>
      </p:sp>
      <p:sp>
        <p:nvSpPr>
          <p:cNvPr id="4" name="Rounded Rectangle 3"/>
          <p:cNvSpPr/>
          <p:nvPr/>
        </p:nvSpPr>
        <p:spPr>
          <a:xfrm>
            <a:off x="1097280" y="1988820"/>
            <a:ext cx="7475220" cy="1508760"/>
          </a:xfrm>
          <a:prstGeom prst="roundRect">
            <a:avLst/>
          </a:prstGeom>
          <a:solidFill>
            <a:srgbClr val="F4F7FA"/>
          </a:solidFill>
          <a:ln>
            <a:solidFill>
              <a:srgbClr val="2A6591"/>
            </a:solidFill>
          </a:ln>
        </p:spPr>
        <p:style>
          <a:lnRef idx="1">
            <a:schemeClr val="accent1"/>
          </a:lnRef>
          <a:fillRef idx="3">
            <a:schemeClr val="accent1"/>
          </a:fillRef>
          <a:effectRef idx="2">
            <a:schemeClr val="accent1"/>
          </a:effectRef>
          <a:fontRef idx="minor">
            <a:schemeClr val="lt1"/>
          </a:fontRef>
        </p:style>
        <p:txBody>
          <a:bodyPr lIns="137160" tIns="68580" rIns="137160" bIns="68580" rtlCol="0" anchor="ctr"/>
          <a:lstStyle/>
          <a:p>
            <a:pPr algn="ctr"/>
            <a:endParaRPr/>
          </a:p>
        </p:txBody>
      </p:sp>
      <p:sp>
        <p:nvSpPr>
          <p:cNvPr id="5" name="TextBox 4"/>
          <p:cNvSpPr txBox="1"/>
          <p:nvPr/>
        </p:nvSpPr>
        <p:spPr>
          <a:xfrm>
            <a:off x="1371600" y="2331720"/>
            <a:ext cx="2651047" cy="415498"/>
          </a:xfrm>
          <a:prstGeom prst="rect">
            <a:avLst/>
          </a:prstGeom>
          <a:noFill/>
        </p:spPr>
        <p:txBody>
          <a:bodyPr wrap="none" lIns="137160" tIns="68580" rIns="137160" bIns="68580">
            <a:spAutoFit/>
          </a:bodyPr>
          <a:lstStyle/>
          <a:p>
            <a:pPr>
              <a:defRPr sz="1800" b="1">
                <a:solidFill>
                  <a:srgbClr val="14375A"/>
                </a:solidFill>
                <a:latin typeface="Arial"/>
              </a:defRPr>
            </a:pPr>
            <a:r>
              <a:rPr>
                <a:latin typeface="Calibri" panose="020F0502020204030204" pitchFamily="34" charset="0"/>
                <a:ea typeface="Calibri" panose="020F0502020204030204" pitchFamily="34" charset="0"/>
                <a:cs typeface="Calibri" panose="020F0502020204030204" pitchFamily="34" charset="0"/>
              </a:rPr>
              <a:t>1. Xác định loại thu nhập</a:t>
            </a:r>
          </a:p>
        </p:txBody>
      </p:sp>
      <p:sp>
        <p:nvSpPr>
          <p:cNvPr id="6" name="Rounded Rectangle 5"/>
          <p:cNvSpPr/>
          <p:nvPr/>
        </p:nvSpPr>
        <p:spPr>
          <a:xfrm>
            <a:off x="9464039" y="1988820"/>
            <a:ext cx="7475220" cy="1508760"/>
          </a:xfrm>
          <a:prstGeom prst="roundRect">
            <a:avLst/>
          </a:prstGeom>
          <a:solidFill>
            <a:srgbClr val="F4F7FA"/>
          </a:solidFill>
          <a:ln>
            <a:solidFill>
              <a:srgbClr val="2A6591"/>
            </a:solidFill>
          </a:ln>
        </p:spPr>
        <p:style>
          <a:lnRef idx="1">
            <a:schemeClr val="accent1"/>
          </a:lnRef>
          <a:fillRef idx="3">
            <a:schemeClr val="accent1"/>
          </a:fillRef>
          <a:effectRef idx="2">
            <a:schemeClr val="accent1"/>
          </a:effectRef>
          <a:fontRef idx="minor">
            <a:schemeClr val="lt1"/>
          </a:fontRef>
        </p:style>
        <p:txBody>
          <a:bodyPr lIns="137160" tIns="68580" rIns="137160" bIns="68580" rtlCol="0" anchor="ctr"/>
          <a:lstStyle/>
          <a:p>
            <a:pPr algn="ctr"/>
            <a:endParaRPr/>
          </a:p>
        </p:txBody>
      </p:sp>
      <p:sp>
        <p:nvSpPr>
          <p:cNvPr id="7" name="TextBox 6"/>
          <p:cNvSpPr txBox="1"/>
          <p:nvPr/>
        </p:nvSpPr>
        <p:spPr>
          <a:xfrm>
            <a:off x="9738360" y="2331720"/>
            <a:ext cx="4103624" cy="415498"/>
          </a:xfrm>
          <a:prstGeom prst="rect">
            <a:avLst/>
          </a:prstGeom>
          <a:noFill/>
        </p:spPr>
        <p:txBody>
          <a:bodyPr wrap="none" lIns="137160" tIns="68580" rIns="137160" bIns="68580">
            <a:spAutoFit/>
          </a:bodyPr>
          <a:lstStyle/>
          <a:p>
            <a:pPr>
              <a:defRPr sz="1800" b="1">
                <a:solidFill>
                  <a:srgbClr val="14375A"/>
                </a:solidFill>
                <a:latin typeface="Arial"/>
              </a:defRPr>
            </a:pPr>
            <a:r>
              <a:t>2</a:t>
            </a:r>
            <a:r>
              <a:rPr>
                <a:latin typeface="Calibri" panose="020F0502020204030204" pitchFamily="34" charset="0"/>
                <a:ea typeface="Calibri" panose="020F0502020204030204" pitchFamily="34" charset="0"/>
                <a:cs typeface="Calibri" panose="020F0502020204030204" pitchFamily="34" charset="0"/>
              </a:rPr>
              <a:t>. Xác định cá nhân cư trú/không cư trú</a:t>
            </a:r>
          </a:p>
        </p:txBody>
      </p:sp>
      <p:sp>
        <p:nvSpPr>
          <p:cNvPr id="8" name="Rounded Rectangle 7"/>
          <p:cNvSpPr/>
          <p:nvPr/>
        </p:nvSpPr>
        <p:spPr>
          <a:xfrm>
            <a:off x="1097280" y="4251959"/>
            <a:ext cx="7475220" cy="1508760"/>
          </a:xfrm>
          <a:prstGeom prst="roundRect">
            <a:avLst/>
          </a:prstGeom>
          <a:solidFill>
            <a:srgbClr val="F4F7FA"/>
          </a:solidFill>
          <a:ln>
            <a:solidFill>
              <a:srgbClr val="2A6591"/>
            </a:solidFill>
          </a:ln>
        </p:spPr>
        <p:style>
          <a:lnRef idx="1">
            <a:schemeClr val="accent1"/>
          </a:lnRef>
          <a:fillRef idx="3">
            <a:schemeClr val="accent1"/>
          </a:fillRef>
          <a:effectRef idx="2">
            <a:schemeClr val="accent1"/>
          </a:effectRef>
          <a:fontRef idx="minor">
            <a:schemeClr val="lt1"/>
          </a:fontRef>
        </p:style>
        <p:txBody>
          <a:bodyPr lIns="137160" tIns="68580" rIns="137160" bIns="68580" rtlCol="0" anchor="ctr"/>
          <a:lstStyle/>
          <a:p>
            <a:pPr algn="ctr"/>
            <a:endParaRPr/>
          </a:p>
        </p:txBody>
      </p:sp>
      <p:sp>
        <p:nvSpPr>
          <p:cNvPr id="9" name="TextBox 8"/>
          <p:cNvSpPr txBox="1"/>
          <p:nvPr/>
        </p:nvSpPr>
        <p:spPr>
          <a:xfrm>
            <a:off x="1371600" y="4594859"/>
            <a:ext cx="5226880" cy="415498"/>
          </a:xfrm>
          <a:prstGeom prst="rect">
            <a:avLst/>
          </a:prstGeom>
          <a:noFill/>
        </p:spPr>
        <p:txBody>
          <a:bodyPr wrap="none" lIns="137160" tIns="68580" rIns="137160" bIns="68580">
            <a:spAutoFit/>
          </a:bodyPr>
          <a:lstStyle/>
          <a:p>
            <a:pPr>
              <a:defRPr sz="1800" b="1">
                <a:solidFill>
                  <a:srgbClr val="14375A"/>
                </a:solidFill>
                <a:latin typeface="Arial"/>
              </a:defRPr>
            </a:pPr>
            <a:r>
              <a:rPr>
                <a:latin typeface="Calibri" panose="020F0502020204030204" pitchFamily="34" charset="0"/>
                <a:ea typeface="Calibri" panose="020F0502020204030204" pitchFamily="34" charset="0"/>
                <a:cs typeface="Calibri" panose="020F0502020204030204" pitchFamily="34" charset="0"/>
              </a:rPr>
              <a:t>3. Xác định thu nhập chịu thuế và khoản được miễn</a:t>
            </a:r>
          </a:p>
        </p:txBody>
      </p:sp>
      <p:sp>
        <p:nvSpPr>
          <p:cNvPr id="10" name="Rounded Rectangle 9"/>
          <p:cNvSpPr/>
          <p:nvPr/>
        </p:nvSpPr>
        <p:spPr>
          <a:xfrm>
            <a:off x="9464039" y="4251959"/>
            <a:ext cx="7475220" cy="1508760"/>
          </a:xfrm>
          <a:prstGeom prst="roundRect">
            <a:avLst/>
          </a:prstGeom>
          <a:solidFill>
            <a:srgbClr val="F4F7FA"/>
          </a:solidFill>
          <a:ln>
            <a:solidFill>
              <a:srgbClr val="2A6591"/>
            </a:solidFill>
          </a:ln>
        </p:spPr>
        <p:style>
          <a:lnRef idx="1">
            <a:schemeClr val="accent1"/>
          </a:lnRef>
          <a:fillRef idx="3">
            <a:schemeClr val="accent1"/>
          </a:fillRef>
          <a:effectRef idx="2">
            <a:schemeClr val="accent1"/>
          </a:effectRef>
          <a:fontRef idx="minor">
            <a:schemeClr val="lt1"/>
          </a:fontRef>
        </p:style>
        <p:txBody>
          <a:bodyPr lIns="137160" tIns="68580" rIns="137160" bIns="68580" rtlCol="0" anchor="ctr"/>
          <a:lstStyle/>
          <a:p>
            <a:pPr algn="ctr"/>
            <a:endParaRPr/>
          </a:p>
        </p:txBody>
      </p:sp>
      <p:sp>
        <p:nvSpPr>
          <p:cNvPr id="11" name="TextBox 10"/>
          <p:cNvSpPr txBox="1"/>
          <p:nvPr/>
        </p:nvSpPr>
        <p:spPr>
          <a:xfrm>
            <a:off x="9738360" y="4594859"/>
            <a:ext cx="4739640" cy="415498"/>
          </a:xfrm>
          <a:prstGeom prst="rect">
            <a:avLst/>
          </a:prstGeom>
          <a:noFill/>
        </p:spPr>
        <p:txBody>
          <a:bodyPr wrap="square" lIns="137160" tIns="68580" rIns="137160" bIns="68580">
            <a:spAutoFit/>
          </a:bodyPr>
          <a:lstStyle/>
          <a:p>
            <a:pPr>
              <a:defRPr sz="1800" b="1">
                <a:solidFill>
                  <a:srgbClr val="14375A"/>
                </a:solidFill>
                <a:latin typeface="Arial"/>
              </a:defRPr>
            </a:pPr>
            <a:r>
              <a:rPr>
                <a:latin typeface="Calibri" panose="020F0502020204030204" pitchFamily="34" charset="0"/>
                <a:ea typeface="Calibri" panose="020F0502020204030204" pitchFamily="34" charset="0"/>
                <a:cs typeface="Calibri" panose="020F0502020204030204" pitchFamily="34" charset="0"/>
              </a:rPr>
              <a:t>4. Xác định giảm trừ/thu nhập tính thuế</a:t>
            </a:r>
          </a:p>
        </p:txBody>
      </p:sp>
      <p:sp>
        <p:nvSpPr>
          <p:cNvPr id="12" name="Rounded Rectangle 11"/>
          <p:cNvSpPr/>
          <p:nvPr/>
        </p:nvSpPr>
        <p:spPr>
          <a:xfrm>
            <a:off x="1097280" y="6515100"/>
            <a:ext cx="7475220" cy="1508760"/>
          </a:xfrm>
          <a:prstGeom prst="roundRect">
            <a:avLst/>
          </a:prstGeom>
          <a:solidFill>
            <a:srgbClr val="F4F7FA"/>
          </a:solidFill>
          <a:ln>
            <a:solidFill>
              <a:srgbClr val="2A6591"/>
            </a:solidFill>
          </a:ln>
        </p:spPr>
        <p:style>
          <a:lnRef idx="1">
            <a:schemeClr val="accent1"/>
          </a:lnRef>
          <a:fillRef idx="3">
            <a:schemeClr val="accent1"/>
          </a:fillRef>
          <a:effectRef idx="2">
            <a:schemeClr val="accent1"/>
          </a:effectRef>
          <a:fontRef idx="minor">
            <a:schemeClr val="lt1"/>
          </a:fontRef>
        </p:style>
        <p:txBody>
          <a:bodyPr lIns="137160" tIns="68580" rIns="137160" bIns="68580" rtlCol="0" anchor="ctr"/>
          <a:lstStyle/>
          <a:p>
            <a:pPr algn="ctr"/>
            <a:endParaRPr/>
          </a:p>
        </p:txBody>
      </p:sp>
      <p:sp>
        <p:nvSpPr>
          <p:cNvPr id="13" name="TextBox 12"/>
          <p:cNvSpPr txBox="1"/>
          <p:nvPr/>
        </p:nvSpPr>
        <p:spPr>
          <a:xfrm>
            <a:off x="1371600" y="6858000"/>
            <a:ext cx="4117281" cy="415498"/>
          </a:xfrm>
          <a:prstGeom prst="rect">
            <a:avLst/>
          </a:prstGeom>
          <a:noFill/>
        </p:spPr>
        <p:txBody>
          <a:bodyPr wrap="none" lIns="137160" tIns="68580" rIns="137160" bIns="68580">
            <a:spAutoFit/>
          </a:bodyPr>
          <a:lstStyle/>
          <a:p>
            <a:pPr>
              <a:defRPr sz="1800" b="1">
                <a:solidFill>
                  <a:srgbClr val="14375A"/>
                </a:solidFill>
                <a:latin typeface="Arial"/>
              </a:defRPr>
            </a:pPr>
            <a:r>
              <a:rPr>
                <a:latin typeface="Calibri" panose="020F0502020204030204" pitchFamily="34" charset="0"/>
                <a:ea typeface="Calibri" panose="020F0502020204030204" pitchFamily="34" charset="0"/>
                <a:cs typeface="Calibri" panose="020F0502020204030204" pitchFamily="34" charset="0"/>
              </a:rPr>
              <a:t>5. Áp dụng thuế suất, phương pháp tính</a:t>
            </a:r>
          </a:p>
        </p:txBody>
      </p:sp>
      <p:sp>
        <p:nvSpPr>
          <p:cNvPr id="14" name="Rounded Rectangle 13"/>
          <p:cNvSpPr/>
          <p:nvPr/>
        </p:nvSpPr>
        <p:spPr>
          <a:xfrm>
            <a:off x="9464039" y="6515100"/>
            <a:ext cx="7475220" cy="1508760"/>
          </a:xfrm>
          <a:prstGeom prst="roundRect">
            <a:avLst/>
          </a:prstGeom>
          <a:solidFill>
            <a:srgbClr val="F4F7FA"/>
          </a:solidFill>
          <a:ln>
            <a:solidFill>
              <a:srgbClr val="2A6591"/>
            </a:solidFill>
          </a:ln>
        </p:spPr>
        <p:style>
          <a:lnRef idx="1">
            <a:schemeClr val="accent1"/>
          </a:lnRef>
          <a:fillRef idx="3">
            <a:schemeClr val="accent1"/>
          </a:fillRef>
          <a:effectRef idx="2">
            <a:schemeClr val="accent1"/>
          </a:effectRef>
          <a:fontRef idx="minor">
            <a:schemeClr val="lt1"/>
          </a:fontRef>
        </p:style>
        <p:txBody>
          <a:bodyPr lIns="137160" tIns="68580" rIns="137160" bIns="68580" rtlCol="0" anchor="ctr"/>
          <a:lstStyle/>
          <a:p>
            <a:pPr algn="ctr"/>
            <a:endParaRPr/>
          </a:p>
        </p:txBody>
      </p:sp>
      <p:sp>
        <p:nvSpPr>
          <p:cNvPr id="15" name="TextBox 14"/>
          <p:cNvSpPr txBox="1"/>
          <p:nvPr/>
        </p:nvSpPr>
        <p:spPr>
          <a:xfrm>
            <a:off x="9738360" y="6858000"/>
            <a:ext cx="3835665" cy="415498"/>
          </a:xfrm>
          <a:prstGeom prst="rect">
            <a:avLst/>
          </a:prstGeom>
          <a:noFill/>
        </p:spPr>
        <p:txBody>
          <a:bodyPr wrap="none" lIns="137160" tIns="68580" rIns="137160" bIns="68580">
            <a:spAutoFit/>
          </a:bodyPr>
          <a:lstStyle/>
          <a:p>
            <a:pPr>
              <a:defRPr sz="1800" b="1">
                <a:solidFill>
                  <a:srgbClr val="14375A"/>
                </a:solidFill>
                <a:latin typeface="Arial"/>
              </a:defRPr>
            </a:pPr>
            <a:r>
              <a:rPr>
                <a:latin typeface="Calibri" panose="020F0502020204030204" pitchFamily="34" charset="0"/>
                <a:ea typeface="Calibri" panose="020F0502020204030204" pitchFamily="34" charset="0"/>
                <a:cs typeface="Calibri" panose="020F0502020204030204" pitchFamily="34" charset="0"/>
              </a:rPr>
              <a:t>6. Khấu trừ – khai – nộp – quyết toán</a:t>
            </a:r>
          </a:p>
        </p:txBody>
      </p:sp>
      <p:sp>
        <p:nvSpPr>
          <p:cNvPr id="16" name="TextBox 15"/>
          <p:cNvSpPr txBox="1"/>
          <p:nvPr/>
        </p:nvSpPr>
        <p:spPr>
          <a:xfrm>
            <a:off x="13972280" y="9669780"/>
            <a:ext cx="3309880" cy="276999"/>
          </a:xfrm>
          <a:prstGeom prst="rect">
            <a:avLst/>
          </a:prstGeom>
          <a:noFill/>
        </p:spPr>
        <p:txBody>
          <a:bodyPr wrap="none" lIns="137160" tIns="68580" rIns="137160" bIns="68580">
            <a:spAutoFit/>
          </a:bodyPr>
          <a:lstStyle/>
          <a:p>
            <a:pPr algn="r">
              <a:defRPr sz="900">
                <a:solidFill>
                  <a:srgbClr val="69737D"/>
                </a:solidFill>
                <a:latin typeface="Arial"/>
              </a:defRPr>
            </a:pPr>
            <a:r>
              <a:t>Nguồn: Nghị định 253/2026/NĐ-CP; Cổng TTĐT Chính phủ</a:t>
            </a:r>
          </a:p>
        </p:txBody>
      </p:sp>
    </p:spTree>
    <p:extLst>
      <p:ext uri="{BB962C8B-B14F-4D97-AF65-F5344CB8AC3E}">
        <p14:creationId xmlns:p14="http://schemas.microsoft.com/office/powerpoint/2010/main" val="17361709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36B25-12FE-405F-8B58-902BE3ED3A71}"/>
              </a:ext>
            </a:extLst>
          </p:cNvPr>
          <p:cNvSpPr>
            <a:spLocks noGrp="1"/>
          </p:cNvSpPr>
          <p:nvPr>
            <p:ph idx="1"/>
          </p:nvPr>
        </p:nvSpPr>
        <p:spPr/>
        <p:txBody>
          <a:bodyPr/>
          <a:lstStyle/>
          <a:p>
            <a:r>
              <a:rPr lang="en-US"/>
              <a:t>						</a:t>
            </a:r>
          </a:p>
          <a:p>
            <a:endParaRPr lang="en-US"/>
          </a:p>
          <a:p>
            <a:r>
              <a:rPr lang="en-US"/>
              <a:t>							</a:t>
            </a:r>
          </a:p>
        </p:txBody>
      </p:sp>
      <p:sp>
        <p:nvSpPr>
          <p:cNvPr id="4" name="TextBox 3">
            <a:extLst>
              <a:ext uri="{FF2B5EF4-FFF2-40B4-BE49-F238E27FC236}">
                <a16:creationId xmlns:a16="http://schemas.microsoft.com/office/drawing/2014/main" id="{2E45BAE4-24B6-4E76-97A1-88CA875CFC97}"/>
              </a:ext>
            </a:extLst>
          </p:cNvPr>
          <p:cNvSpPr txBox="1"/>
          <p:nvPr/>
        </p:nvSpPr>
        <p:spPr>
          <a:xfrm>
            <a:off x="1598614" y="3878854"/>
            <a:ext cx="15087600" cy="2554545"/>
          </a:xfrm>
          <a:prstGeom prst="rect">
            <a:avLst/>
          </a:prstGeom>
          <a:noFill/>
        </p:spPr>
        <p:txBody>
          <a:bodyPr wrap="square" rtlCol="0">
            <a:spAutoFit/>
          </a:bodyPr>
          <a:lstStyle/>
          <a:p>
            <a:pPr algn="ctr"/>
            <a:r>
              <a:rPr lang="en-US" sz="4000">
                <a:solidFill>
                  <a:srgbClr val="990033"/>
                </a:solidFill>
                <a:latin typeface="Arial Bold" panose="020B0704020202020204" pitchFamily="34" charset="0"/>
                <a:cs typeface="Arial Bold" panose="020B0704020202020204" pitchFamily="34" charset="0"/>
              </a:rPr>
              <a:t>PHẦN V</a:t>
            </a:r>
          </a:p>
          <a:p>
            <a:pPr algn="ctr"/>
            <a:r>
              <a:rPr lang="en-US" sz="4000">
                <a:solidFill>
                  <a:srgbClr val="990033"/>
                </a:solidFill>
                <a:latin typeface="Arial Bold" panose="020B0704020202020204" pitchFamily="34" charset="0"/>
                <a:cs typeface="Arial Bold" panose="020B0704020202020204" pitchFamily="34" charset="0"/>
              </a:rPr>
              <a:t>NGHỊ QUYẾT SỐ 43/2026/QH16 </a:t>
            </a:r>
          </a:p>
          <a:p>
            <a:pPr algn="ctr"/>
            <a:r>
              <a:rPr lang="en-US" sz="4000">
                <a:solidFill>
                  <a:srgbClr val="990033"/>
                </a:solidFill>
                <a:latin typeface="Arial Bold" panose="020B0704020202020204" pitchFamily="34" charset="0"/>
                <a:cs typeface="Arial Bold" panose="020B0704020202020204" pitchFamily="34" charset="0"/>
              </a:rPr>
              <a:t>VỀ GIẢM THUẾ THU NHẬP CÁ NHÂN, THUẾ THU NHẬP DOANH NGHIỆP ĐỐI VỚI CÁ NHÂN VÀ DOANH NGHIỆP</a:t>
            </a:r>
          </a:p>
        </p:txBody>
      </p:sp>
    </p:spTree>
    <p:extLst>
      <p:ext uri="{BB962C8B-B14F-4D97-AF65-F5344CB8AC3E}">
        <p14:creationId xmlns:p14="http://schemas.microsoft.com/office/powerpoint/2010/main" val="22180008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A4710-BD01-4C81-A8FB-F53C4C01711C}"/>
              </a:ext>
            </a:extLst>
          </p:cNvPr>
          <p:cNvSpPr>
            <a:spLocks noGrp="1"/>
          </p:cNvSpPr>
          <p:nvPr>
            <p:ph type="title"/>
          </p:nvPr>
        </p:nvSpPr>
        <p:spPr>
          <a:xfrm>
            <a:off x="914401" y="914401"/>
            <a:ext cx="16456026" cy="730250"/>
          </a:xfrm>
        </p:spPr>
        <p:txBody>
          <a:bodyPr/>
          <a:lstStyle/>
          <a:p>
            <a:r>
              <a:rPr lang="en-US" sz="4000">
                <a:solidFill>
                  <a:schemeClr val="accent6"/>
                </a:solidFill>
                <a:latin typeface="Arial Bold" panose="020B0704020202020204" pitchFamily="34" charset="0"/>
                <a:cs typeface="Arial Bold" panose="020B0704020202020204" pitchFamily="34" charset="0"/>
              </a:rPr>
              <a:t>NỘI DUNG NGHỊ QUYẾT </a:t>
            </a:r>
          </a:p>
        </p:txBody>
      </p:sp>
      <p:sp>
        <p:nvSpPr>
          <p:cNvPr id="3" name="Content Placeholder 2">
            <a:extLst>
              <a:ext uri="{FF2B5EF4-FFF2-40B4-BE49-F238E27FC236}">
                <a16:creationId xmlns:a16="http://schemas.microsoft.com/office/drawing/2014/main" id="{838061DD-CA4C-429D-9AB3-08B58125C1B2}"/>
              </a:ext>
            </a:extLst>
          </p:cNvPr>
          <p:cNvSpPr>
            <a:spLocks noGrp="1"/>
          </p:cNvSpPr>
          <p:nvPr>
            <p:ph idx="1"/>
          </p:nvPr>
        </p:nvSpPr>
        <p:spPr/>
        <p:txBody>
          <a:bodyPr/>
          <a:lstStyle/>
          <a:p>
            <a:pPr marL="0" indent="466725"/>
            <a:r>
              <a:rPr lang="en-US">
                <a:sym typeface="Wingdings 2"/>
              </a:rPr>
              <a:t>  </a:t>
            </a:r>
            <a:r>
              <a:rPr lang="en-US" sz="3500">
                <a:latin typeface="Calibri" panose="020F0502020204030204" pitchFamily="34" charset="0"/>
                <a:ea typeface="Calibri" panose="020F0502020204030204" pitchFamily="34" charset="0"/>
                <a:cs typeface="Calibri" panose="020F0502020204030204" pitchFamily="34" charset="0"/>
                <a:sym typeface="Wingdings 2"/>
              </a:rPr>
              <a:t>Điều 1</a:t>
            </a:r>
            <a:r>
              <a:rPr lang="en-US">
                <a:latin typeface="Calibri" panose="020F0502020204030204" pitchFamily="34" charset="0"/>
                <a:ea typeface="Calibri" panose="020F0502020204030204" pitchFamily="34" charset="0"/>
                <a:cs typeface="Calibri" panose="020F0502020204030204" pitchFamily="34" charset="0"/>
                <a:sym typeface="Wingdings 2"/>
              </a:rPr>
              <a:t>: </a:t>
            </a:r>
            <a:r>
              <a:rPr lang="en-US" sz="3500">
                <a:latin typeface="Calibri" panose="020F0502020204030204" pitchFamily="34" charset="0"/>
                <a:ea typeface="Calibri" panose="020F0502020204030204" pitchFamily="34" charset="0"/>
                <a:cs typeface="Calibri" panose="020F0502020204030204" pitchFamily="34" charset="0"/>
              </a:rPr>
              <a:t>Giảm thuế thu nhập cá nhân, giảm thuế thu nhập doanh nghiệp :</a:t>
            </a:r>
          </a:p>
          <a:p>
            <a:pPr marL="0" indent="466725" algn="just"/>
            <a:r>
              <a:rPr lang="en-US" sz="3500">
                <a:latin typeface="Calibri" panose="020F0502020204030204" pitchFamily="34" charset="0"/>
                <a:ea typeface="Calibri" panose="020F0502020204030204" pitchFamily="34" charset="0"/>
                <a:cs typeface="Calibri" panose="020F0502020204030204" pitchFamily="34" charset="0"/>
              </a:rPr>
              <a:t>   - Giảm 30% số thuế TNCN phải nộp của kỳ tính thuế năm 2026 và năm 2027 đối với thu nhập từ kinh doanh của cá nhân có doanh thu hằng năm 2026, 2027 không quá 10 tỷ đồng.</a:t>
            </a:r>
          </a:p>
          <a:p>
            <a:pPr marL="0" indent="466725" algn="just"/>
            <a:r>
              <a:rPr lang="en-US" sz="3500">
                <a:latin typeface="Calibri" panose="020F0502020204030204" pitchFamily="34" charset="0"/>
                <a:ea typeface="Calibri" panose="020F0502020204030204" pitchFamily="34" charset="0"/>
                <a:cs typeface="Calibri" panose="020F0502020204030204" pitchFamily="34" charset="0"/>
              </a:rPr>
              <a:t>   - Giảm 30% số thuế thu nhập doanh nghiệp phải nộp của kỳ tính thuế năm 2026, 2027 đối với thu nhập của doanh nghiệp, tổ chức được thành lập theo quy định có mức doanh thu hàng năm 2026, 2027 không quá 10 tỷ đồng.</a:t>
            </a:r>
          </a:p>
          <a:p>
            <a:pPr marL="0" indent="466725" algn="just"/>
            <a:r>
              <a:rPr lang="en-US" sz="3500">
                <a:latin typeface="Calibri" panose="020F0502020204030204" pitchFamily="34" charset="0"/>
                <a:ea typeface="Calibri" panose="020F0502020204030204" pitchFamily="34" charset="0"/>
                <a:cs typeface="Calibri" panose="020F0502020204030204" pitchFamily="34" charset="0"/>
              </a:rPr>
              <a:t>   Điều 2: Hiệu lực thi hành ngày 24/08/2026 </a:t>
            </a:r>
          </a:p>
        </p:txBody>
      </p:sp>
    </p:spTree>
    <p:extLst>
      <p:ext uri="{BB962C8B-B14F-4D97-AF65-F5344CB8AC3E}">
        <p14:creationId xmlns:p14="http://schemas.microsoft.com/office/powerpoint/2010/main" val="6196789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7A00B-3094-4334-800A-9319B3A67ED1}"/>
              </a:ext>
            </a:extLst>
          </p:cNvPr>
          <p:cNvSpPr>
            <a:spLocks noGrp="1"/>
          </p:cNvSpPr>
          <p:nvPr>
            <p:ph type="title"/>
          </p:nvPr>
        </p:nvSpPr>
        <p:spPr>
          <a:xfrm>
            <a:off x="609600" y="914401"/>
            <a:ext cx="16760827" cy="730250"/>
          </a:xfrm>
        </p:spPr>
        <p:txBody>
          <a:bodyPr/>
          <a:lstStyle/>
          <a:p>
            <a:r>
              <a:rPr lang="en-US" sz="4000">
                <a:solidFill>
                  <a:srgbClr val="002060"/>
                </a:solidFill>
                <a:latin typeface="Arial Bold" panose="020B0704020202020204" pitchFamily="34" charset="0"/>
                <a:cs typeface="Arial Bold" panose="020B0704020202020204" pitchFamily="34" charset="0"/>
              </a:rPr>
              <a:t>NGHỊ QUYẾT 43/2026/QH16</a:t>
            </a:r>
          </a:p>
        </p:txBody>
      </p:sp>
      <p:pic>
        <p:nvPicPr>
          <p:cNvPr id="5" name="Content Placeholder 4">
            <a:extLst>
              <a:ext uri="{FF2B5EF4-FFF2-40B4-BE49-F238E27FC236}">
                <a16:creationId xmlns:a16="http://schemas.microsoft.com/office/drawing/2014/main" id="{43D1907D-E5DD-45B2-B587-F44399F8F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000" y="1943100"/>
            <a:ext cx="5500707" cy="7654925"/>
          </a:xfrm>
        </p:spPr>
      </p:pic>
      <p:pic>
        <p:nvPicPr>
          <p:cNvPr id="7" name="Picture 6">
            <a:extLst>
              <a:ext uri="{FF2B5EF4-FFF2-40B4-BE49-F238E27FC236}">
                <a16:creationId xmlns:a16="http://schemas.microsoft.com/office/drawing/2014/main" id="{0F5FBFD9-7B4B-4CDF-838B-1CD8D5956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7400" y="1790700"/>
            <a:ext cx="6116512" cy="8496300"/>
          </a:xfrm>
          <a:prstGeom prst="rect">
            <a:avLst/>
          </a:prstGeom>
        </p:spPr>
      </p:pic>
    </p:spTree>
    <p:extLst>
      <p:ext uri="{BB962C8B-B14F-4D97-AF65-F5344CB8AC3E}">
        <p14:creationId xmlns:p14="http://schemas.microsoft.com/office/powerpoint/2010/main" val="1089230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2">
            <a:extLst>
              <a:ext uri="{FF2B5EF4-FFF2-40B4-BE49-F238E27FC236}">
                <a16:creationId xmlns:a16="http://schemas.microsoft.com/office/drawing/2014/main" id="{76ABE0A9-9501-DE14-02EB-43C2AF447F74}"/>
              </a:ext>
            </a:extLst>
          </p:cNvPr>
          <p:cNvGrpSpPr/>
          <p:nvPr/>
        </p:nvGrpSpPr>
        <p:grpSpPr>
          <a:xfrm>
            <a:off x="1028700" y="4800600"/>
            <a:ext cx="14820900" cy="2628899"/>
            <a:chOff x="0" y="0"/>
            <a:chExt cx="14325600" cy="5642571"/>
          </a:xfrm>
        </p:grpSpPr>
        <p:sp>
          <p:nvSpPr>
            <p:cNvPr id="16" name="Freeform 3">
              <a:extLst>
                <a:ext uri="{FF2B5EF4-FFF2-40B4-BE49-F238E27FC236}">
                  <a16:creationId xmlns:a16="http://schemas.microsoft.com/office/drawing/2014/main" id="{3B20EF32-8AA9-B8B4-BC92-ADBAA9E0D402}"/>
                </a:ext>
              </a:extLst>
            </p:cNvPr>
            <p:cNvSpPr/>
            <p:nvPr/>
          </p:nvSpPr>
          <p:spPr>
            <a:xfrm>
              <a:off x="0" y="0"/>
              <a:ext cx="14325600" cy="5642571"/>
            </a:xfrm>
            <a:custGeom>
              <a:avLst/>
              <a:gdLst/>
              <a:ahLst/>
              <a:cxnLst/>
              <a:rect l="l" t="t" r="r" b="b"/>
              <a:pathLst>
                <a:path w="14325600" h="5642571">
                  <a:moveTo>
                    <a:pt x="0" y="0"/>
                  </a:moveTo>
                  <a:lnTo>
                    <a:pt x="14325600" y="0"/>
                  </a:lnTo>
                  <a:lnTo>
                    <a:pt x="14325600" y="5642571"/>
                  </a:lnTo>
                  <a:lnTo>
                    <a:pt x="0" y="5642571"/>
                  </a:lnTo>
                  <a:close/>
                </a:path>
              </a:pathLst>
            </a:custGeom>
            <a:solidFill>
              <a:srgbClr val="000000">
                <a:alpha val="0"/>
              </a:srgbClr>
            </a:solidFill>
          </p:spPr>
          <p:txBody>
            <a:bodyPr/>
            <a:lstStyle/>
            <a:p>
              <a:pPr algn="ctr"/>
              <a:endParaRPr lang="x-none"/>
            </a:p>
          </p:txBody>
        </p:sp>
        <p:sp>
          <p:nvSpPr>
            <p:cNvPr id="17" name="TextBox 4">
              <a:extLst>
                <a:ext uri="{FF2B5EF4-FFF2-40B4-BE49-F238E27FC236}">
                  <a16:creationId xmlns:a16="http://schemas.microsoft.com/office/drawing/2014/main" id="{925CFB01-E89D-155A-19A0-E2940515A1B9}"/>
                </a:ext>
              </a:extLst>
            </p:cNvPr>
            <p:cNvSpPr txBox="1"/>
            <p:nvPr/>
          </p:nvSpPr>
          <p:spPr>
            <a:xfrm>
              <a:off x="0" y="-628650"/>
              <a:ext cx="14325600" cy="6271221"/>
            </a:xfrm>
            <a:prstGeom prst="rect">
              <a:avLst/>
            </a:prstGeom>
          </p:spPr>
          <p:txBody>
            <a:bodyPr lIns="0" tIns="0" rIns="0" bIns="0" rtlCol="0" anchor="t"/>
            <a:lstStyle/>
            <a:p>
              <a:pPr algn="ctr">
                <a:lnSpc>
                  <a:spcPts val="16513"/>
                </a:lnSpc>
              </a:pPr>
              <a:r>
                <a:rPr lang="en-US" sz="8000" spc="-749" dirty="0">
                  <a:solidFill>
                    <a:srgbClr val="C00000"/>
                  </a:solidFill>
                  <a:latin typeface="Arial Bold" panose="020B0704020202020204" pitchFamily="34" charset="0"/>
                  <a:ea typeface="Arial"/>
                  <a:cs typeface="Arial Bold" panose="020B0704020202020204" pitchFamily="34" charset="0"/>
                  <a:sym typeface="Arial"/>
                </a:rPr>
                <a:t>TRÂN TRỌNG CẢM ƠN!</a:t>
              </a:r>
            </a:p>
          </p:txBody>
        </p:sp>
      </p:grpSp>
      <p:grpSp>
        <p:nvGrpSpPr>
          <p:cNvPr id="18" name="Group 5">
            <a:extLst>
              <a:ext uri="{FF2B5EF4-FFF2-40B4-BE49-F238E27FC236}">
                <a16:creationId xmlns:a16="http://schemas.microsoft.com/office/drawing/2014/main" id="{2E0DD37E-D518-8575-B536-121B9199D322}"/>
              </a:ext>
            </a:extLst>
          </p:cNvPr>
          <p:cNvGrpSpPr/>
          <p:nvPr/>
        </p:nvGrpSpPr>
        <p:grpSpPr>
          <a:xfrm>
            <a:off x="9624824" y="571500"/>
            <a:ext cx="7651041" cy="3879384"/>
            <a:chOff x="0" y="0"/>
            <a:chExt cx="10201388" cy="5172512"/>
          </a:xfrm>
        </p:grpSpPr>
        <p:sp>
          <p:nvSpPr>
            <p:cNvPr id="19" name="Freeform 6">
              <a:extLst>
                <a:ext uri="{FF2B5EF4-FFF2-40B4-BE49-F238E27FC236}">
                  <a16:creationId xmlns:a16="http://schemas.microsoft.com/office/drawing/2014/main" id="{22EBA9B6-9796-B5F3-F4CD-4BE0098D9852}"/>
                </a:ext>
              </a:extLst>
            </p:cNvPr>
            <p:cNvSpPr/>
            <p:nvPr/>
          </p:nvSpPr>
          <p:spPr>
            <a:xfrm>
              <a:off x="0" y="0"/>
              <a:ext cx="10201402" cy="5172456"/>
            </a:xfrm>
            <a:custGeom>
              <a:avLst/>
              <a:gdLst/>
              <a:ahLst/>
              <a:cxnLst/>
              <a:rect l="l" t="t" r="r" b="b"/>
              <a:pathLst>
                <a:path w="10201402" h="5172456">
                  <a:moveTo>
                    <a:pt x="870839" y="0"/>
                  </a:moveTo>
                  <a:lnTo>
                    <a:pt x="9330563" y="0"/>
                  </a:lnTo>
                  <a:cubicBezTo>
                    <a:pt x="9811512" y="0"/>
                    <a:pt x="10201402" y="389890"/>
                    <a:pt x="10201402" y="870839"/>
                  </a:cubicBezTo>
                  <a:lnTo>
                    <a:pt x="10201402" y="4301617"/>
                  </a:lnTo>
                  <a:cubicBezTo>
                    <a:pt x="10201402" y="4782566"/>
                    <a:pt x="9811512" y="5172456"/>
                    <a:pt x="9330563" y="5172456"/>
                  </a:cubicBezTo>
                  <a:lnTo>
                    <a:pt x="870839" y="5172456"/>
                  </a:lnTo>
                  <a:cubicBezTo>
                    <a:pt x="389890" y="5172456"/>
                    <a:pt x="0" y="4782566"/>
                    <a:pt x="0" y="4301617"/>
                  </a:cubicBezTo>
                  <a:lnTo>
                    <a:pt x="0" y="870839"/>
                  </a:lnTo>
                  <a:cubicBezTo>
                    <a:pt x="0" y="389890"/>
                    <a:pt x="389890" y="0"/>
                    <a:pt x="870839" y="0"/>
                  </a:cubicBezTo>
                  <a:close/>
                </a:path>
              </a:pathLst>
            </a:custGeom>
            <a:blipFill>
              <a:blip r:embed="rId2"/>
              <a:stretch>
                <a:fillRect t="-23959" b="-23959"/>
              </a:stretch>
            </a:blipFill>
          </p:spPr>
          <p:txBody>
            <a:bodyPr/>
            <a:lstStyle/>
            <a:p>
              <a:endParaRPr lang="x-none"/>
            </a:p>
          </p:txBody>
        </p:sp>
      </p:grpSp>
      <p:grpSp>
        <p:nvGrpSpPr>
          <p:cNvPr id="20" name="Group 7">
            <a:extLst>
              <a:ext uri="{FF2B5EF4-FFF2-40B4-BE49-F238E27FC236}">
                <a16:creationId xmlns:a16="http://schemas.microsoft.com/office/drawing/2014/main" id="{AFF90DA5-A354-93E8-E4F1-EBCE30D2CC5E}"/>
              </a:ext>
            </a:extLst>
          </p:cNvPr>
          <p:cNvGrpSpPr/>
          <p:nvPr/>
        </p:nvGrpSpPr>
        <p:grpSpPr>
          <a:xfrm>
            <a:off x="1009650" y="9258300"/>
            <a:ext cx="16268700" cy="38100"/>
            <a:chOff x="0" y="0"/>
            <a:chExt cx="21691600" cy="50800"/>
          </a:xfrm>
        </p:grpSpPr>
        <p:sp>
          <p:nvSpPr>
            <p:cNvPr id="21" name="Freeform 8">
              <a:extLst>
                <a:ext uri="{FF2B5EF4-FFF2-40B4-BE49-F238E27FC236}">
                  <a16:creationId xmlns:a16="http://schemas.microsoft.com/office/drawing/2014/main" id="{696AED43-CCA2-A7A3-84E5-0546BE446C3A}"/>
                </a:ext>
              </a:extLst>
            </p:cNvPr>
            <p:cNvSpPr/>
            <p:nvPr/>
          </p:nvSpPr>
          <p:spPr>
            <a:xfrm>
              <a:off x="25400" y="0"/>
              <a:ext cx="21640800" cy="50800"/>
            </a:xfrm>
            <a:custGeom>
              <a:avLst/>
              <a:gdLst/>
              <a:ahLst/>
              <a:cxnLst/>
              <a:rect l="l" t="t" r="r" b="b"/>
              <a:pathLst>
                <a:path w="21640800" h="50800">
                  <a:moveTo>
                    <a:pt x="0" y="0"/>
                  </a:moveTo>
                  <a:lnTo>
                    <a:pt x="21640800" y="0"/>
                  </a:lnTo>
                  <a:lnTo>
                    <a:pt x="21640800" y="50800"/>
                  </a:lnTo>
                  <a:lnTo>
                    <a:pt x="0" y="50800"/>
                  </a:lnTo>
                  <a:close/>
                </a:path>
              </a:pathLst>
            </a:custGeom>
            <a:solidFill>
              <a:srgbClr val="990000"/>
            </a:solidFill>
          </p:spPr>
          <p:txBody>
            <a:bodyPr/>
            <a:lstStyle/>
            <a:p>
              <a:endParaRPr lang="x-none"/>
            </a:p>
          </p:txBody>
        </p:sp>
      </p:grpSp>
      <p:grpSp>
        <p:nvGrpSpPr>
          <p:cNvPr id="22" name="Group 9">
            <a:extLst>
              <a:ext uri="{FF2B5EF4-FFF2-40B4-BE49-F238E27FC236}">
                <a16:creationId xmlns:a16="http://schemas.microsoft.com/office/drawing/2014/main" id="{1B85D508-5DCF-CDCB-9419-0EDA48B6AE74}"/>
              </a:ext>
            </a:extLst>
          </p:cNvPr>
          <p:cNvGrpSpPr/>
          <p:nvPr/>
        </p:nvGrpSpPr>
        <p:grpSpPr>
          <a:xfrm>
            <a:off x="1009650" y="1028700"/>
            <a:ext cx="7012763" cy="38100"/>
            <a:chOff x="0" y="0"/>
            <a:chExt cx="9350351" cy="50800"/>
          </a:xfrm>
        </p:grpSpPr>
        <p:sp>
          <p:nvSpPr>
            <p:cNvPr id="23" name="Freeform 10">
              <a:extLst>
                <a:ext uri="{FF2B5EF4-FFF2-40B4-BE49-F238E27FC236}">
                  <a16:creationId xmlns:a16="http://schemas.microsoft.com/office/drawing/2014/main" id="{E4F60F2E-8B3B-09E3-7205-72D659B5CE9D}"/>
                </a:ext>
              </a:extLst>
            </p:cNvPr>
            <p:cNvSpPr/>
            <p:nvPr/>
          </p:nvSpPr>
          <p:spPr>
            <a:xfrm>
              <a:off x="25400" y="0"/>
              <a:ext cx="9299575" cy="50800"/>
            </a:xfrm>
            <a:custGeom>
              <a:avLst/>
              <a:gdLst/>
              <a:ahLst/>
              <a:cxnLst/>
              <a:rect l="l" t="t" r="r" b="b"/>
              <a:pathLst>
                <a:path w="9299575" h="50800">
                  <a:moveTo>
                    <a:pt x="0" y="0"/>
                  </a:moveTo>
                  <a:lnTo>
                    <a:pt x="9299575" y="0"/>
                  </a:lnTo>
                  <a:lnTo>
                    <a:pt x="9299575" y="50800"/>
                  </a:lnTo>
                  <a:lnTo>
                    <a:pt x="0" y="50800"/>
                  </a:lnTo>
                  <a:close/>
                </a:path>
              </a:pathLst>
            </a:custGeom>
            <a:solidFill>
              <a:srgbClr val="990000"/>
            </a:solidFill>
          </p:spPr>
          <p:txBody>
            <a:bodyPr/>
            <a:lstStyle/>
            <a:p>
              <a:endParaRPr lang="x-none"/>
            </a:p>
          </p:txBody>
        </p:sp>
      </p:grpSp>
      <p:sp>
        <p:nvSpPr>
          <p:cNvPr id="24" name="Freeform 11">
            <a:extLst>
              <a:ext uri="{FF2B5EF4-FFF2-40B4-BE49-F238E27FC236}">
                <a16:creationId xmlns:a16="http://schemas.microsoft.com/office/drawing/2014/main" id="{CFFC73CD-2048-5C72-F8F8-7CA136167735}"/>
              </a:ext>
            </a:extLst>
          </p:cNvPr>
          <p:cNvSpPr/>
          <p:nvPr/>
        </p:nvSpPr>
        <p:spPr>
          <a:xfrm>
            <a:off x="2282286" y="6456925"/>
            <a:ext cx="2161684" cy="2161684"/>
          </a:xfrm>
          <a:custGeom>
            <a:avLst/>
            <a:gdLst/>
            <a:ahLst/>
            <a:cxnLst/>
            <a:rect l="l" t="t" r="r" b="b"/>
            <a:pathLst>
              <a:path w="2161684" h="2161684">
                <a:moveTo>
                  <a:pt x="0" y="0"/>
                </a:moveTo>
                <a:lnTo>
                  <a:pt x="2161684" y="0"/>
                </a:lnTo>
                <a:lnTo>
                  <a:pt x="2161684" y="2161684"/>
                </a:lnTo>
                <a:lnTo>
                  <a:pt x="0" y="21616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x-none"/>
          </a:p>
        </p:txBody>
      </p:sp>
      <p:sp>
        <p:nvSpPr>
          <p:cNvPr id="25" name="Freeform 12">
            <a:extLst>
              <a:ext uri="{FF2B5EF4-FFF2-40B4-BE49-F238E27FC236}">
                <a16:creationId xmlns:a16="http://schemas.microsoft.com/office/drawing/2014/main" id="{F67081D4-862C-090A-4ADD-AA5F6EC06569}"/>
              </a:ext>
            </a:extLst>
          </p:cNvPr>
          <p:cNvSpPr/>
          <p:nvPr/>
        </p:nvSpPr>
        <p:spPr>
          <a:xfrm flipV="1">
            <a:off x="2986950" y="7161589"/>
            <a:ext cx="752356" cy="752356"/>
          </a:xfrm>
          <a:custGeom>
            <a:avLst/>
            <a:gdLst/>
            <a:ahLst/>
            <a:cxnLst/>
            <a:rect l="l" t="t" r="r" b="b"/>
            <a:pathLst>
              <a:path w="752356" h="752356">
                <a:moveTo>
                  <a:pt x="0" y="752356"/>
                </a:moveTo>
                <a:lnTo>
                  <a:pt x="752356" y="752356"/>
                </a:lnTo>
                <a:lnTo>
                  <a:pt x="752356" y="0"/>
                </a:lnTo>
                <a:lnTo>
                  <a:pt x="0" y="0"/>
                </a:lnTo>
                <a:lnTo>
                  <a:pt x="0" y="752356"/>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x-none"/>
          </a:p>
        </p:txBody>
      </p:sp>
      <p:sp>
        <p:nvSpPr>
          <p:cNvPr id="26" name="Freeform 13">
            <a:extLst>
              <a:ext uri="{FF2B5EF4-FFF2-40B4-BE49-F238E27FC236}">
                <a16:creationId xmlns:a16="http://schemas.microsoft.com/office/drawing/2014/main" id="{E88E8FBD-8958-0547-BA82-FA6134DA6EE3}"/>
              </a:ext>
            </a:extLst>
          </p:cNvPr>
          <p:cNvSpPr/>
          <p:nvPr/>
        </p:nvSpPr>
        <p:spPr>
          <a:xfrm>
            <a:off x="4074358" y="6456925"/>
            <a:ext cx="2161684" cy="2161684"/>
          </a:xfrm>
          <a:custGeom>
            <a:avLst/>
            <a:gdLst/>
            <a:ahLst/>
            <a:cxnLst/>
            <a:rect l="l" t="t" r="r" b="b"/>
            <a:pathLst>
              <a:path w="2161684" h="2161684">
                <a:moveTo>
                  <a:pt x="0" y="0"/>
                </a:moveTo>
                <a:lnTo>
                  <a:pt x="2161684" y="0"/>
                </a:lnTo>
                <a:lnTo>
                  <a:pt x="2161684" y="2161684"/>
                </a:lnTo>
                <a:lnTo>
                  <a:pt x="0" y="21616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x-none"/>
          </a:p>
        </p:txBody>
      </p:sp>
      <p:sp>
        <p:nvSpPr>
          <p:cNvPr id="27" name="Freeform 14">
            <a:extLst>
              <a:ext uri="{FF2B5EF4-FFF2-40B4-BE49-F238E27FC236}">
                <a16:creationId xmlns:a16="http://schemas.microsoft.com/office/drawing/2014/main" id="{56F6460A-36AE-520E-0D5E-4E0E9457C663}"/>
              </a:ext>
            </a:extLst>
          </p:cNvPr>
          <p:cNvSpPr/>
          <p:nvPr/>
        </p:nvSpPr>
        <p:spPr>
          <a:xfrm>
            <a:off x="5866430" y="6456925"/>
            <a:ext cx="2161684" cy="2161684"/>
          </a:xfrm>
          <a:custGeom>
            <a:avLst/>
            <a:gdLst/>
            <a:ahLst/>
            <a:cxnLst/>
            <a:rect l="l" t="t" r="r" b="b"/>
            <a:pathLst>
              <a:path w="2161684" h="2161684">
                <a:moveTo>
                  <a:pt x="0" y="0"/>
                </a:moveTo>
                <a:lnTo>
                  <a:pt x="2161684" y="0"/>
                </a:lnTo>
                <a:lnTo>
                  <a:pt x="2161684" y="2161684"/>
                </a:lnTo>
                <a:lnTo>
                  <a:pt x="0" y="21616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x-none"/>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6265</TotalTime>
  <Words>9951</Words>
  <Application>Microsoft Office PowerPoint</Application>
  <PresentationFormat>Custom</PresentationFormat>
  <Paragraphs>452</Paragraphs>
  <Slides>70</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3</vt:i4>
      </vt:variant>
      <vt:variant>
        <vt:lpstr>Slide Titles</vt:lpstr>
      </vt:variant>
      <vt:variant>
        <vt:i4>70</vt:i4>
      </vt:variant>
    </vt:vector>
  </HeadingPairs>
  <TitlesOfParts>
    <vt:vector size="82" baseType="lpstr">
      <vt:lpstr>Courier New</vt:lpstr>
      <vt:lpstr>Wingdings 2</vt:lpstr>
      <vt:lpstr>Calibri</vt:lpstr>
      <vt:lpstr>Wingdings</vt:lpstr>
      <vt:lpstr>Arial</vt:lpstr>
      <vt:lpstr>Arial Bold</vt:lpstr>
      <vt:lpstr>Times New Roman</vt:lpstr>
      <vt:lpstr>1_Office Theme</vt:lpstr>
      <vt:lpstr>2_Office Theme</vt:lpstr>
      <vt:lpstr>Worksheet</vt:lpstr>
      <vt:lpstr>Document</vt:lpstr>
      <vt:lpstr>Acrobat Document</vt:lpstr>
      <vt:lpstr>  HỘI NGHỊ            GIỚI THIỆU MỘT SỐ NGHỊ ĐỊNH VÀ THÔNG TƯ HƯỚNG DẪN VỀ CHÍNH SÁCH THUẾ CÓ HIỆU LỰC TỪ 01/01/2026 </vt:lpstr>
      <vt:lpstr>PowerPoint Presentation</vt:lpstr>
      <vt:lpstr> VĂN BẢN MỚI VỀ CHÍNH SÁCH THUẾ </vt:lpstr>
      <vt:lpstr>VĂN BẢN MỚI VỀ CHÍNH SÁCH THUẾ </vt:lpstr>
      <vt:lpstr>VĂN BẢN MỚI VỀ CHÍNH SÁCH THUẾ </vt:lpstr>
      <vt:lpstr>VĂN BẢN MỚI VỀ CHÍNH SÁCH THUẾ  </vt:lpstr>
      <vt:lpstr>VĂN BẢN MỚI VỀ CHÍNH SÁCH THUẾ  </vt:lpstr>
      <vt:lpstr>VĂN BẢN MỚI VỀ CHÍNH SÁCH THUẾ </vt:lpstr>
      <vt:lpstr>PowerPoint Presentation</vt:lpstr>
      <vt:lpstr>PowerPoint Presentation</vt:lpstr>
      <vt:lpstr>  CĂN CỨ PHÁP LÝ BAN HÀNH</vt:lpstr>
      <vt:lpstr>  KẾT CẤU NGHỊ ĐỊNH VÀ THÔNG TƯ</vt:lpstr>
      <vt:lpstr>  PHẠM VI ÁP DỤNG</vt:lpstr>
      <vt:lpstr>  ĐỐI TƯỢNG ÁP DỤNG</vt:lpstr>
      <vt:lpstr>PowerPoint Presentation</vt:lpstr>
      <vt:lpstr> CHÍNH SÁCH THUẾ (khoản 2 Điều 3 NĐ và khoản 3 Điều 7 Luật Thuế TNCN số 109/2025/QH15</vt:lpstr>
      <vt:lpstr>  XÁC ĐỊNH MỨC TRỪ 1 TỶ ĐỐI VỚI CNKD  K3 ĐIỀU 7 LUẬT THUẾ TNCN</vt:lpstr>
      <vt:lpstr>  PHƯƠNG PHÁP TÍNH THUẾ THU NHẬP CÁ NHÂN (khoản 5 Điều 4 NĐ)</vt:lpstr>
      <vt:lpstr>  DOANH THU XÁC ĐỊNH THUẾ TNCN</vt:lpstr>
      <vt:lpstr>CÁC KHOẢN CHI ĐƯỢC TRỪ KHI XÁC ĐỊNH THUẾ TNCN ĐỐI VỚI PHƯƠNG PHÁP TNTT x THUẾ SUẤT (khoản 1 Điều 6 NĐ)</vt:lpstr>
      <vt:lpstr>CÁC KHOẢN CHI KHÔNG ĐƯỢC TRỪ KHI XÁC ĐỊNH THUẾ TNCN ĐỐI VỚI PHƯƠNG PHÁP TNTT x THUẾ SUẤT (khoản 2 Điều 6 NĐ)</vt:lpstr>
      <vt:lpstr>KHAI, NỘP THUẾ</vt:lpstr>
      <vt:lpstr>KHAI, NỘP THUẾ</vt:lpstr>
      <vt:lpstr>KHAI, NỘP THUẾ</vt:lpstr>
      <vt:lpstr>KHAI, NỘP THUẾ</vt:lpstr>
      <vt:lpstr>ĐỊA ĐIỂM KHAI THUẾ, NỘP THUẾ</vt:lpstr>
      <vt:lpstr>THÔNG BÁO ĐỊA ĐIỂM KINH DOANH</vt:lpstr>
      <vt:lpstr>KHAI, NỘP THUẾ ĐỐI VỚI HKD, CNKD MỚI RA KINH DOANH</vt:lpstr>
      <vt:lpstr>SỬ DỤNG HÓA ĐƠN ĐIỆN TỬ</vt:lpstr>
      <vt:lpstr>SỬ DỤNG HÓA ĐƠN ĐIỆN TỬ</vt:lpstr>
      <vt:lpstr>XỬ LÝ TIỀN THUẾ, TIỀN CHẬM NỘP, TIỀN PHẠT NỘP THỪA</vt:lpstr>
      <vt:lpstr>XỬ LÝ TIỀN THUẾ, TIỀN CHẬM NỘP, TIỀN PHẠT NỘP THỪA</vt:lpstr>
      <vt:lpstr>QUYỀN VÀ TRÁCH NHIỆM CỦA HKD, CNKD</vt:lpstr>
      <vt:lpstr>PowerPoint Presentation</vt:lpstr>
      <vt:lpstr>PowerPoint Presentation</vt:lpstr>
      <vt:lpstr>  CĂN CỨ PHÁP LÝ BAN HÀNH</vt:lpstr>
      <vt:lpstr>  KẾT CẤU NGHỊ ĐỊNH VÀ THÔNG TƯ</vt:lpstr>
      <vt:lpstr>ĐỐI TƯỢNG SỬ DỤNG HÓA ĐƠN ĐIỆN TỬ </vt:lpstr>
      <vt:lpstr>ĐỐI TƯỢNG SỬ DỤNG HÓA ĐƠN ĐIỆN TỬ </vt:lpstr>
      <vt:lpstr>ĐỐI TƯỢNG SỬ DỤNG HÓA ĐƠN ĐIỆN TỬ </vt:lpstr>
      <vt:lpstr>TRƯỜNG HỢP KHÔNG PHẢI SỬ DỤNG HÓA ĐƠN ĐIỆN TỬ </vt:lpstr>
      <vt:lpstr>TRƯỜNG HỢP KHÔNG PHẢI SỬ DỤNG HÓA ĐƠN ĐIỆN TỬ </vt:lpstr>
      <vt:lpstr>THỜI ĐIỂM LẬP HÓA ĐƠN</vt:lpstr>
      <vt:lpstr>THỜI ĐIỂM LẬP HÓA ĐƠN </vt:lpstr>
      <vt:lpstr>THỜI ĐIỂM LẬP HÓA ĐƠN </vt:lpstr>
      <vt:lpstr>THỜI ĐIỂM LẬP HÓA ĐƠN </vt:lpstr>
      <vt:lpstr> NỘI DUNG HÓA ĐƠN</vt:lpstr>
      <vt:lpstr>NỘI DUNG HÓA ĐƠN </vt:lpstr>
      <vt:lpstr>NỘI DUNG HÓA ĐƠN </vt:lpstr>
      <vt:lpstr>NỘI DUNG HÓA ĐƠN </vt:lpstr>
      <vt:lpstr>NỘI DUNG HÓA ĐƠN </vt:lpstr>
      <vt:lpstr>CHUYỂN TIẾP-NNT CẦN NHỚ</vt:lpstr>
      <vt:lpstr>PowerPoint Presentation</vt:lpstr>
      <vt:lpstr>  KẾT CẤU NGHỊ ĐỊNH VÀ THÔNG TƯ</vt:lpstr>
      <vt:lpstr>NỘI DUNG CHÍNH</vt:lpstr>
      <vt:lpstr>THU NHẬP TỪ TIỀN LƯƠNG, TIỀN CÔNG </vt:lpstr>
      <vt:lpstr>BIỂU THUẾ LŨY TIẾN TỪNG PHẦN </vt:lpstr>
      <vt:lpstr>GIẢM TRỪ GIA CẢNH </vt:lpstr>
      <vt:lpstr>GIẢM TRỪ GIA CẢNH </vt:lpstr>
      <vt:lpstr>KHẤU TRỪ THUẾ, QUYẾT TOÁN THUẾ TNCN </vt:lpstr>
      <vt:lpstr>THU NHẬP TỪ ĐẦU TƯ VỐN, THU NHẬP TỪ ĐẦU TƯ KINH DOANH</vt:lpstr>
      <vt:lpstr>PowerPoint Presentation</vt:lpstr>
      <vt:lpstr>PowerPoint Presentation</vt:lpstr>
      <vt:lpstr>PowerPoint Presentation</vt:lpstr>
      <vt:lpstr>MỘT SỐ NHÓM THU NHẬP KHÁC </vt:lpstr>
      <vt:lpstr>PowerPoint Presentation</vt:lpstr>
      <vt:lpstr>PowerPoint Presentation</vt:lpstr>
      <vt:lpstr>NỘI DUNG NGHỊ QUYẾT </vt:lpstr>
      <vt:lpstr>NGHỊ QUYẾT 43/2026/QH16</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Điểm mới NĐ70 (10.04.pptx</dc:title>
  <dc:creator>ADMIN</dc:creator>
  <cp:lastModifiedBy>Ly, Le Thi Thanh Ly (TAN-BDU)</cp:lastModifiedBy>
  <cp:revision>329</cp:revision>
  <cp:lastPrinted>2026-09-07T07:52:32Z</cp:lastPrinted>
  <dcterms:created xsi:type="dcterms:W3CDTF">2006-08-16T00:00:00Z</dcterms:created>
  <dcterms:modified xsi:type="dcterms:W3CDTF">2026-09-10T02:09:00Z</dcterms:modified>
  <dc:identifier>DAGkPWih6G8</dc:identifier>
</cp:coreProperties>
</file>